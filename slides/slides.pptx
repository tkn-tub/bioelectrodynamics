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6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7" r:id="rId4"/>
    <p:sldId id="265" r:id="rId5"/>
    <p:sldId id="266" r:id="rId6"/>
    <p:sldId id="267" r:id="rId7"/>
    <p:sldId id="264" r:id="rId8"/>
    <p:sldId id="268" r:id="rId9"/>
    <p:sldId id="269" r:id="rId10"/>
    <p:sldId id="270" r:id="rId11"/>
    <p:sldId id="272" r:id="rId12"/>
    <p:sldId id="261" r:id="rId13"/>
    <p:sldId id="260" r:id="rId14"/>
    <p:sldId id="263" r:id="rId15"/>
    <p:sldId id="259" r:id="rId1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8B3A"/>
    <a:srgbClr val="0070C0"/>
    <a:srgbClr val="FFFFFF"/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0313" autoAdjust="0"/>
  </p:normalViewPr>
  <p:slideViewPr>
    <p:cSldViewPr snapToGrid="0">
      <p:cViewPr>
        <p:scale>
          <a:sx n="100" d="100"/>
          <a:sy n="100" d="100"/>
        </p:scale>
        <p:origin x="156" y="-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27:22.1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23930,'995'148'0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27:34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24575,'0'444'-1365,"0"-424"-5461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27:22.1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23930,'995'148'0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27:34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24575,'0'444'-1365,"0"-424"-5461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8C523-BA59-612A-6488-2506B40A4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B2B2A-B54B-A0E3-8C52-E1FF90292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D71D4-62D5-E625-3D10-708FEFCC06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D71D4-62D5-E625-3D10-708FEFCC06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A91E3-E0D6-AEB7-CF9F-1322CB518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672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BEA9E-9443-C3AB-A8E5-EE997ACDD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F2E51-D1D5-04FA-DBDA-045303106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4C0D6-5DE8-B6D6-B365-B39BBCCEA2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4C0D6-5DE8-B6D6-B365-B39BBCCEA2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A601F-F388-3C4D-9698-2BCC29B09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3982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A8CCB-0F89-5E6C-2B3A-F0B41842D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DD812-1F22-A757-0517-006322AE5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6BF823A-0A14-CA6A-4388-129C5A04365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6BF823A-0A14-CA6A-4388-129C5A04365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40BE0-4EFB-442F-35E3-FCBED9FC7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35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821F6-12C9-547B-75B1-5C5F90C97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75459E-BC74-323B-C617-72532C415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B6F0692A-8BF8-2144-03E5-5192C227B2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B6F0692A-8BF8-2144-03E5-5192C227B2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2563-413A-7AAD-D905-9B3D156943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900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E7C20-BBE2-FDB2-5DC8-D8F44D96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E56B8-09EF-3D77-53D9-7BC66F86B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F3C47A7-494D-5C09-D262-FD2978AA83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F3C47A7-494D-5C09-D262-FD2978AA83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72C31-FC2C-A3E8-0A41-B160BEC69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99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choose this combination for E3, as it relates with the metabolites of the highest concentration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456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2234B-9D30-E288-DD98-966E75B17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9F8EF-038B-3C3E-A0C3-9DE8710C6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AEE57BA-2CAF-A4D5-3C9B-F1A4D626CD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AEE57BA-2CAF-A4D5-3C9B-F1A4D626CD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969D6-C267-71A3-B4D8-D3242C796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6606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10.png"/><Relationship Id="rId7" Type="http://schemas.openxmlformats.org/officeDocument/2006/relationships/image" Target="../media/image6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1.png"/><Relationship Id="rId5" Type="http://schemas.openxmlformats.org/officeDocument/2006/relationships/image" Target="../media/image11.png"/><Relationship Id="rId4" Type="http://schemas.openxmlformats.org/officeDocument/2006/relationships/image" Target="../media/image3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12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image" Target="../media/image108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10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Relationship Id="rId27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33.png"/><Relationship Id="rId21" Type="http://schemas.openxmlformats.org/officeDocument/2006/relationships/image" Target="../media/image25.png"/><Relationship Id="rId7" Type="http://schemas.openxmlformats.org/officeDocument/2006/relationships/image" Target="../media/image35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15.png"/><Relationship Id="rId24" Type="http://schemas.openxmlformats.org/officeDocument/2006/relationships/image" Target="../media/image28.png"/><Relationship Id="rId5" Type="http://schemas.openxmlformats.org/officeDocument/2006/relationships/image" Target="../media/image331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12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33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image" Target="../media/image48.png"/><Relationship Id="rId21" Type="http://schemas.openxmlformats.org/officeDocument/2006/relationships/image" Target="../media/image261.png"/><Relationship Id="rId12" Type="http://schemas.openxmlformats.org/officeDocument/2006/relationships/image" Target="../media/image170.png"/><Relationship Id="rId17" Type="http://schemas.openxmlformats.org/officeDocument/2006/relationships/image" Target="../media/image56.png"/><Relationship Id="rId25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5.png"/><Relationship Id="rId20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60.png"/><Relationship Id="rId24" Type="http://schemas.openxmlformats.org/officeDocument/2006/relationships/image" Target="../media/image59.png"/><Relationship Id="rId15" Type="http://schemas.openxmlformats.org/officeDocument/2006/relationships/image" Target="../media/image54.png"/><Relationship Id="rId23" Type="http://schemas.openxmlformats.org/officeDocument/2006/relationships/image" Target="../media/image281.png"/><Relationship Id="rId10" Type="http://schemas.openxmlformats.org/officeDocument/2006/relationships/image" Target="../media/image150.png"/><Relationship Id="rId19" Type="http://schemas.openxmlformats.org/officeDocument/2006/relationships/image" Target="../media/image58.png"/><Relationship Id="rId4" Type="http://schemas.openxmlformats.org/officeDocument/2006/relationships/image" Target="../media/image810.png"/><Relationship Id="rId9" Type="http://schemas.openxmlformats.org/officeDocument/2006/relationships/image" Target="../media/image140.png"/><Relationship Id="rId14" Type="http://schemas.openxmlformats.org/officeDocument/2006/relationships/image" Target="../media/image53.png"/><Relationship Id="rId22" Type="http://schemas.openxmlformats.org/officeDocument/2006/relationships/image" Target="../media/image271.png"/><Relationship Id="rId27" Type="http://schemas.openxmlformats.org/officeDocument/2006/relationships/image" Target="../media/image6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hyperlink" Target="https://enzyme.expasy.org/EC/3.1.2.2" TargetMode="External"/><Relationship Id="rId3" Type="http://schemas.openxmlformats.org/officeDocument/2006/relationships/image" Target="../media/image50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hyperlink" Target="https://enzyme.expasy.org/EC/6.2.1.3" TargetMode="External"/><Relationship Id="rId10" Type="http://schemas.openxmlformats.org/officeDocument/2006/relationships/image" Target="../media/image68.png"/><Relationship Id="rId4" Type="http://schemas.openxmlformats.org/officeDocument/2006/relationships/image" Target="../media/image51.png"/><Relationship Id="rId9" Type="http://schemas.openxmlformats.org/officeDocument/2006/relationships/image" Target="../media/image67.png"/><Relationship Id="rId14" Type="http://schemas.openxmlformats.org/officeDocument/2006/relationships/hyperlink" Target="https://enzyme.expasy.org/EC/2.3.1.16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3" Type="http://schemas.openxmlformats.org/officeDocument/2006/relationships/image" Target="../media/image50.sv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51.emf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18" Type="http://schemas.openxmlformats.org/officeDocument/2006/relationships/customXml" Target="../ink/ink2.xml"/><Relationship Id="rId3" Type="http://schemas.openxmlformats.org/officeDocument/2006/relationships/image" Target="../media/image50.sv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95.png"/><Relationship Id="rId2" Type="http://schemas.openxmlformats.org/officeDocument/2006/relationships/image" Target="../media/image49.png"/><Relationship Id="rId16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82.png"/><Relationship Id="rId10" Type="http://schemas.openxmlformats.org/officeDocument/2006/relationships/image" Target="../media/image89.png"/><Relationship Id="rId19" Type="http://schemas.openxmlformats.org/officeDocument/2006/relationships/image" Target="../media/image96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13" Type="http://schemas.openxmlformats.org/officeDocument/2006/relationships/image" Target="../media/image104.png"/><Relationship Id="rId18" Type="http://schemas.openxmlformats.org/officeDocument/2006/relationships/image" Target="../media/image107.png"/><Relationship Id="rId3" Type="http://schemas.openxmlformats.org/officeDocument/2006/relationships/image" Target="../media/image49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17" Type="http://schemas.openxmlformats.org/officeDocument/2006/relationships/customXml" Target="../ink/ink3.xml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2.png"/><Relationship Id="rId20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4.png"/><Relationship Id="rId15" Type="http://schemas.openxmlformats.org/officeDocument/2006/relationships/image" Target="../media/image106.png"/><Relationship Id="rId10" Type="http://schemas.openxmlformats.org/officeDocument/2006/relationships/image" Target="../media/image101.png"/><Relationship Id="rId19" Type="http://schemas.openxmlformats.org/officeDocument/2006/relationships/customXml" Target="../ink/ink4.xml"/><Relationship Id="rId4" Type="http://schemas.openxmlformats.org/officeDocument/2006/relationships/image" Target="../media/image50.svg"/><Relationship Id="rId9" Type="http://schemas.openxmlformats.org/officeDocument/2006/relationships/image" Target="../media/image100.png"/><Relationship Id="rId14" Type="http://schemas.openxmlformats.org/officeDocument/2006/relationships/image" Target="../media/image10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hyperlink" Target="https://www.yeastgenome.org/locus/S000006135" TargetMode="External"/><Relationship Id="rId18" Type="http://schemas.openxmlformats.org/officeDocument/2006/relationships/hyperlink" Target="https://www.yeastgenome.org/locus/S000002238" TargetMode="External"/><Relationship Id="rId3" Type="http://schemas.openxmlformats.org/officeDocument/2006/relationships/image" Target="../media/image112.png"/><Relationship Id="rId21" Type="http://schemas.openxmlformats.org/officeDocument/2006/relationships/hyperlink" Target="https://www.yeastgenome.org/locus/S000005429" TargetMode="External"/><Relationship Id="rId7" Type="http://schemas.openxmlformats.org/officeDocument/2006/relationships/image" Target="../media/image700.png"/><Relationship Id="rId12" Type="http://schemas.openxmlformats.org/officeDocument/2006/relationships/image" Target="../media/image113.png"/><Relationship Id="rId17" Type="http://schemas.openxmlformats.org/officeDocument/2006/relationships/image" Target="../media/image115.png"/><Relationship Id="rId2" Type="http://schemas.openxmlformats.org/officeDocument/2006/relationships/image" Target="../media/image111.png"/><Relationship Id="rId16" Type="http://schemas.openxmlformats.org/officeDocument/2006/relationships/hyperlink" Target="https://www.yeastgenome.org/locus/S000000444" TargetMode="External"/><Relationship Id="rId20" Type="http://schemas.openxmlformats.org/officeDocument/2006/relationships/hyperlink" Target="https://www.yeastgenome.org/locus/S000002488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0.png"/><Relationship Id="rId5" Type="http://schemas.openxmlformats.org/officeDocument/2006/relationships/image" Target="../media/image680.png"/><Relationship Id="rId15" Type="http://schemas.openxmlformats.org/officeDocument/2006/relationships/image" Target="../media/image114.png"/><Relationship Id="rId10" Type="http://schemas.openxmlformats.org/officeDocument/2006/relationships/image" Target="../media/image730.png"/><Relationship Id="rId19" Type="http://schemas.openxmlformats.org/officeDocument/2006/relationships/image" Target="../media/image116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hyperlink" Target="https://www.yeastgenome.org/locus/S000003376" TargetMode="External"/><Relationship Id="rId22" Type="http://schemas.openxmlformats.org/officeDocument/2006/relationships/hyperlink" Target="https://www.yeastgenome.org/locus/S000002200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13" Type="http://schemas.openxmlformats.org/officeDocument/2006/relationships/image" Target="../media/image118.png"/><Relationship Id="rId3" Type="http://schemas.openxmlformats.org/officeDocument/2006/relationships/image" Target="../media/image790.png"/><Relationship Id="rId7" Type="http://schemas.openxmlformats.org/officeDocument/2006/relationships/image" Target="../media/image830.png"/><Relationship Id="rId12" Type="http://schemas.openxmlformats.org/officeDocument/2006/relationships/hyperlink" Target="https://www.yeastgenome.org/locus/S000000444" TargetMode="External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0.png"/><Relationship Id="rId11" Type="http://schemas.openxmlformats.org/officeDocument/2006/relationships/image" Target="../media/image117.png"/><Relationship Id="rId5" Type="http://schemas.openxmlformats.org/officeDocument/2006/relationships/image" Target="../media/image811.png"/><Relationship Id="rId10" Type="http://schemas.openxmlformats.org/officeDocument/2006/relationships/image" Target="../media/image860.png"/><Relationship Id="rId4" Type="http://schemas.openxmlformats.org/officeDocument/2006/relationships/image" Target="../media/image800.png"/><Relationship Id="rId9" Type="http://schemas.openxmlformats.org/officeDocument/2006/relationships/image" Target="../media/image117.png"/><Relationship Id="rId14" Type="http://schemas.openxmlformats.org/officeDocument/2006/relationships/image" Target="../media/image1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430.png"/><Relationship Id="rId18" Type="http://schemas.openxmlformats.org/officeDocument/2006/relationships/image" Target="../media/image120.png"/><Relationship Id="rId3" Type="http://schemas.openxmlformats.org/officeDocument/2006/relationships/image" Target="../media/image330.png"/><Relationship Id="rId21" Type="http://schemas.openxmlformats.org/officeDocument/2006/relationships/image" Target="../media/image510.png"/><Relationship Id="rId7" Type="http://schemas.openxmlformats.org/officeDocument/2006/relationships/image" Target="../media/image370.png"/><Relationship Id="rId12" Type="http://schemas.openxmlformats.org/officeDocument/2006/relationships/image" Target="../media/image420.png"/><Relationship Id="rId17" Type="http://schemas.openxmlformats.org/officeDocument/2006/relationships/image" Target="../media/image47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60.png"/><Relationship Id="rId20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11" Type="http://schemas.openxmlformats.org/officeDocument/2006/relationships/image" Target="../media/image410.png"/><Relationship Id="rId5" Type="http://schemas.openxmlformats.org/officeDocument/2006/relationships/image" Target="../media/image350.png"/><Relationship Id="rId15" Type="http://schemas.openxmlformats.org/officeDocument/2006/relationships/image" Target="../media/image450.png"/><Relationship Id="rId10" Type="http://schemas.openxmlformats.org/officeDocument/2006/relationships/image" Target="../media/image400.png"/><Relationship Id="rId19" Type="http://schemas.openxmlformats.org/officeDocument/2006/relationships/image" Target="../media/image490.png"/><Relationship Id="rId4" Type="http://schemas.openxmlformats.org/officeDocument/2006/relationships/image" Target="../media/image340.png"/><Relationship Id="rId9" Type="http://schemas.openxmlformats.org/officeDocument/2006/relationships/image" Target="../media/image390.png"/><Relationship Id="rId14" Type="http://schemas.openxmlformats.org/officeDocument/2006/relationships/image" Target="../media/image4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121.png"/><Relationship Id="rId7" Type="http://schemas.openxmlformats.org/officeDocument/2006/relationships/image" Target="../media/image260.png"/><Relationship Id="rId12" Type="http://schemas.openxmlformats.org/officeDocument/2006/relationships/image" Target="../media/image3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113.png"/><Relationship Id="rId9" Type="http://schemas.openxmlformats.org/officeDocument/2006/relationships/image" Target="../media/image2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1D5993F-CB27-1FE8-1BE9-19655D02D072}"/>
              </a:ext>
            </a:extLst>
          </p:cNvPr>
          <p:cNvGrpSpPr>
            <a:grpSpLocks noChangeAspect="1"/>
          </p:cNvGrpSpPr>
          <p:nvPr/>
        </p:nvGrpSpPr>
        <p:grpSpPr>
          <a:xfrm>
            <a:off x="7248156" y="220928"/>
            <a:ext cx="4542410" cy="6416143"/>
            <a:chOff x="4279038" y="2021951"/>
            <a:chExt cx="1992287" cy="28140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CC775CC-B45D-DD79-6897-047344E8C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7360" y="4099364"/>
              <a:ext cx="736685" cy="73668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B7F8C3-6773-F347-6EDD-CCBDF5CE8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5538" t="6542" r="31911" b="10234"/>
            <a:stretch>
              <a:fillRect/>
            </a:stretch>
          </p:blipFill>
          <p:spPr>
            <a:xfrm rot="9842333">
              <a:off x="5170067" y="2287547"/>
              <a:ext cx="155635" cy="20293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EDD0860-2DA6-31CD-AA8B-2102F1F8AC79}"/>
                    </a:ext>
                  </a:extLst>
                </p:cNvPr>
                <p:cNvSpPr txBox="1"/>
                <p:nvPr/>
              </p:nvSpPr>
              <p:spPr>
                <a:xfrm>
                  <a:off x="5217723" y="3752261"/>
                  <a:ext cx="777598" cy="20903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d>
                                              <m:dPr>
                                                <m:begChr m:val="⟨"/>
                                                <m:endChr m:val="⟩"/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𝐸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𝑡𝑜𝑡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𝑠𝑠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sub>
                                        </m:s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den>
                                    </m:f>
                                  </m:e>
                                </m:d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EDD0860-2DA6-31CD-AA8B-2102F1F8AC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7723" y="3752261"/>
                  <a:ext cx="777598" cy="209037"/>
                </a:xfrm>
                <a:prstGeom prst="rect">
                  <a:avLst/>
                </a:prstGeom>
                <a:blipFill>
                  <a:blip r:embed="rId4"/>
                  <a:stretch>
                    <a:fillRect l="-1718" t="-1266" b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162E86-1FFD-57EC-D041-AAFA2EA4B6CA}"/>
                </a:ext>
              </a:extLst>
            </p:cNvPr>
            <p:cNvSpPr txBox="1"/>
            <p:nvPr/>
          </p:nvSpPr>
          <p:spPr>
            <a:xfrm>
              <a:off x="5196341" y="3655906"/>
              <a:ext cx="1018892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●  </a:t>
              </a:r>
              <a:r>
                <a:rPr lang="en-US" sz="12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Enzyme unfolding probability</a:t>
              </a:r>
              <a:endPara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3251E1C-61C2-A4FC-B5AB-ABBD77B7A781}"/>
                </a:ext>
              </a:extLst>
            </p:cNvPr>
            <p:cNvSpPr/>
            <p:nvPr/>
          </p:nvSpPr>
          <p:spPr>
            <a:xfrm rot="3269968" flipV="1">
              <a:off x="5347159" y="2635928"/>
              <a:ext cx="455416" cy="33421"/>
            </a:xfrm>
            <a:custGeom>
              <a:avLst/>
              <a:gdLst>
                <a:gd name="connsiteX0" fmla="*/ 0 w 4991100"/>
                <a:gd name="connsiteY0" fmla="*/ 914404 h 914418"/>
                <a:gd name="connsiteX1" fmla="*/ 901700 w 4991100"/>
                <a:gd name="connsiteY1" fmla="*/ 25404 h 914418"/>
                <a:gd name="connsiteX2" fmla="*/ 1816100 w 4991100"/>
                <a:gd name="connsiteY2" fmla="*/ 914404 h 914418"/>
                <a:gd name="connsiteX3" fmla="*/ 2717800 w 4991100"/>
                <a:gd name="connsiteY3" fmla="*/ 4 h 914418"/>
                <a:gd name="connsiteX4" fmla="*/ 3644900 w 4991100"/>
                <a:gd name="connsiteY4" fmla="*/ 901704 h 914418"/>
                <a:gd name="connsiteX5" fmla="*/ 4533900 w 4991100"/>
                <a:gd name="connsiteY5" fmla="*/ 457204 h 914418"/>
                <a:gd name="connsiteX6" fmla="*/ 4991100 w 4991100"/>
                <a:gd name="connsiteY6" fmla="*/ 355604 h 914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91100" h="914418">
                  <a:moveTo>
                    <a:pt x="0" y="914404"/>
                  </a:moveTo>
                  <a:cubicBezTo>
                    <a:pt x="299508" y="469904"/>
                    <a:pt x="599017" y="25404"/>
                    <a:pt x="901700" y="25404"/>
                  </a:cubicBezTo>
                  <a:cubicBezTo>
                    <a:pt x="1204383" y="25404"/>
                    <a:pt x="1513417" y="918637"/>
                    <a:pt x="1816100" y="914404"/>
                  </a:cubicBezTo>
                  <a:cubicBezTo>
                    <a:pt x="2118783" y="910171"/>
                    <a:pt x="2413000" y="2121"/>
                    <a:pt x="2717800" y="4"/>
                  </a:cubicBezTo>
                  <a:cubicBezTo>
                    <a:pt x="3022600" y="-2113"/>
                    <a:pt x="3342217" y="825504"/>
                    <a:pt x="3644900" y="901704"/>
                  </a:cubicBezTo>
                  <a:cubicBezTo>
                    <a:pt x="3947583" y="977904"/>
                    <a:pt x="4309533" y="548221"/>
                    <a:pt x="4533900" y="457204"/>
                  </a:cubicBezTo>
                  <a:cubicBezTo>
                    <a:pt x="4758267" y="366187"/>
                    <a:pt x="4874683" y="360895"/>
                    <a:pt x="4991100" y="355604"/>
                  </a:cubicBezTo>
                </a:path>
              </a:pathLst>
            </a:custGeom>
            <a:ln w="31750">
              <a:tailEnd type="triangle" w="lg" len="lg"/>
            </a:ln>
            <a:effectLst>
              <a:glow rad="4572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02FFB28-39EE-E235-CC27-059080C2C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5538" t="6542" r="31911" b="10234"/>
            <a:stretch>
              <a:fillRect/>
            </a:stretch>
          </p:blipFill>
          <p:spPr>
            <a:xfrm rot="9842333">
              <a:off x="5280753" y="2150293"/>
              <a:ext cx="155635" cy="202933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D2708D1-4DF9-EE19-880B-BD112748E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5538" t="6542" r="31911" b="10234"/>
            <a:stretch>
              <a:fillRect/>
            </a:stretch>
          </p:blipFill>
          <p:spPr>
            <a:xfrm rot="9842333">
              <a:off x="5028523" y="2234757"/>
              <a:ext cx="155635" cy="20293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36F4747-B89C-0703-819B-F0FF90C5D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5538" t="6542" r="31911" b="10234"/>
            <a:stretch>
              <a:fillRect/>
            </a:stretch>
          </p:blipFill>
          <p:spPr>
            <a:xfrm rot="9842333">
              <a:off x="5162117" y="2155889"/>
              <a:ext cx="155635" cy="202933"/>
            </a:xfrm>
            <a:prstGeom prst="rect">
              <a:avLst/>
            </a:prstGeom>
          </p:spPr>
        </p:pic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AA5F23D-C107-8591-7C2E-62BF99A51237}"/>
                </a:ext>
              </a:extLst>
            </p:cNvPr>
            <p:cNvSpPr/>
            <p:nvPr/>
          </p:nvSpPr>
          <p:spPr>
            <a:xfrm rot="3269968" flipV="1">
              <a:off x="5480803" y="2577674"/>
              <a:ext cx="343819" cy="51684"/>
            </a:xfrm>
            <a:custGeom>
              <a:avLst/>
              <a:gdLst>
                <a:gd name="connsiteX0" fmla="*/ 0 w 4991100"/>
                <a:gd name="connsiteY0" fmla="*/ 914404 h 914418"/>
                <a:gd name="connsiteX1" fmla="*/ 901700 w 4991100"/>
                <a:gd name="connsiteY1" fmla="*/ 25404 h 914418"/>
                <a:gd name="connsiteX2" fmla="*/ 1816100 w 4991100"/>
                <a:gd name="connsiteY2" fmla="*/ 914404 h 914418"/>
                <a:gd name="connsiteX3" fmla="*/ 2717800 w 4991100"/>
                <a:gd name="connsiteY3" fmla="*/ 4 h 914418"/>
                <a:gd name="connsiteX4" fmla="*/ 3644900 w 4991100"/>
                <a:gd name="connsiteY4" fmla="*/ 901704 h 914418"/>
                <a:gd name="connsiteX5" fmla="*/ 4533900 w 4991100"/>
                <a:gd name="connsiteY5" fmla="*/ 457204 h 914418"/>
                <a:gd name="connsiteX6" fmla="*/ 4991100 w 4991100"/>
                <a:gd name="connsiteY6" fmla="*/ 355604 h 914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91100" h="914418">
                  <a:moveTo>
                    <a:pt x="0" y="914404"/>
                  </a:moveTo>
                  <a:cubicBezTo>
                    <a:pt x="299508" y="469904"/>
                    <a:pt x="599017" y="25404"/>
                    <a:pt x="901700" y="25404"/>
                  </a:cubicBezTo>
                  <a:cubicBezTo>
                    <a:pt x="1204383" y="25404"/>
                    <a:pt x="1513417" y="918637"/>
                    <a:pt x="1816100" y="914404"/>
                  </a:cubicBezTo>
                  <a:cubicBezTo>
                    <a:pt x="2118783" y="910171"/>
                    <a:pt x="2413000" y="2121"/>
                    <a:pt x="2717800" y="4"/>
                  </a:cubicBezTo>
                  <a:cubicBezTo>
                    <a:pt x="3022600" y="-2113"/>
                    <a:pt x="3342217" y="825504"/>
                    <a:pt x="3644900" y="901704"/>
                  </a:cubicBezTo>
                  <a:cubicBezTo>
                    <a:pt x="3947583" y="977904"/>
                    <a:pt x="4309533" y="548221"/>
                    <a:pt x="4533900" y="457204"/>
                  </a:cubicBezTo>
                  <a:cubicBezTo>
                    <a:pt x="4758267" y="366187"/>
                    <a:pt x="4874683" y="360895"/>
                    <a:pt x="4991100" y="355604"/>
                  </a:cubicBezTo>
                </a:path>
              </a:pathLst>
            </a:custGeom>
            <a:ln w="31750">
              <a:tailEnd type="triangle" w="lg" len="lg"/>
            </a:ln>
            <a:effectLst>
              <a:glow rad="4572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1B641D4-EC7D-D9C6-0E18-31A97768AF75}"/>
                </a:ext>
              </a:extLst>
            </p:cNvPr>
            <p:cNvSpPr/>
            <p:nvPr/>
          </p:nvSpPr>
          <p:spPr>
            <a:xfrm rot="3269968" flipV="1">
              <a:off x="5306507" y="2675017"/>
              <a:ext cx="353817" cy="51684"/>
            </a:xfrm>
            <a:custGeom>
              <a:avLst/>
              <a:gdLst>
                <a:gd name="connsiteX0" fmla="*/ 0 w 4991100"/>
                <a:gd name="connsiteY0" fmla="*/ 914404 h 914418"/>
                <a:gd name="connsiteX1" fmla="*/ 901700 w 4991100"/>
                <a:gd name="connsiteY1" fmla="*/ 25404 h 914418"/>
                <a:gd name="connsiteX2" fmla="*/ 1816100 w 4991100"/>
                <a:gd name="connsiteY2" fmla="*/ 914404 h 914418"/>
                <a:gd name="connsiteX3" fmla="*/ 2717800 w 4991100"/>
                <a:gd name="connsiteY3" fmla="*/ 4 h 914418"/>
                <a:gd name="connsiteX4" fmla="*/ 3644900 w 4991100"/>
                <a:gd name="connsiteY4" fmla="*/ 901704 h 914418"/>
                <a:gd name="connsiteX5" fmla="*/ 4533900 w 4991100"/>
                <a:gd name="connsiteY5" fmla="*/ 457204 h 914418"/>
                <a:gd name="connsiteX6" fmla="*/ 4991100 w 4991100"/>
                <a:gd name="connsiteY6" fmla="*/ 355604 h 914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91100" h="914418">
                  <a:moveTo>
                    <a:pt x="0" y="914404"/>
                  </a:moveTo>
                  <a:cubicBezTo>
                    <a:pt x="299508" y="469904"/>
                    <a:pt x="599017" y="25404"/>
                    <a:pt x="901700" y="25404"/>
                  </a:cubicBezTo>
                  <a:cubicBezTo>
                    <a:pt x="1204383" y="25404"/>
                    <a:pt x="1513417" y="918637"/>
                    <a:pt x="1816100" y="914404"/>
                  </a:cubicBezTo>
                  <a:cubicBezTo>
                    <a:pt x="2118783" y="910171"/>
                    <a:pt x="2413000" y="2121"/>
                    <a:pt x="2717800" y="4"/>
                  </a:cubicBezTo>
                  <a:cubicBezTo>
                    <a:pt x="3022600" y="-2113"/>
                    <a:pt x="3342217" y="825504"/>
                    <a:pt x="3644900" y="901704"/>
                  </a:cubicBezTo>
                  <a:cubicBezTo>
                    <a:pt x="3947583" y="977904"/>
                    <a:pt x="4309533" y="548221"/>
                    <a:pt x="4533900" y="457204"/>
                  </a:cubicBezTo>
                  <a:cubicBezTo>
                    <a:pt x="4758267" y="366187"/>
                    <a:pt x="4874683" y="360895"/>
                    <a:pt x="4991100" y="355604"/>
                  </a:cubicBezTo>
                </a:path>
              </a:pathLst>
            </a:custGeom>
            <a:ln w="31750">
              <a:tailEnd type="triangle" w="lg" len="lg"/>
            </a:ln>
            <a:effectLst>
              <a:glow rad="4572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F067E5-C460-FFC7-0368-41F8C46F3DD1}"/>
                </a:ext>
              </a:extLst>
            </p:cNvPr>
            <p:cNvSpPr txBox="1"/>
            <p:nvPr/>
          </p:nvSpPr>
          <p:spPr>
            <a:xfrm>
              <a:off x="4880925" y="2021951"/>
              <a:ext cx="541815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</a:t>
              </a:r>
              <a:r>
                <a:rPr lang="en-US" sz="12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Antenna Array</a:t>
              </a:r>
              <a:endPara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2245834-D7FC-21AB-E5E9-0BCE763B4CEC}"/>
                </a:ext>
              </a:extLst>
            </p:cNvPr>
            <p:cNvSpPr txBox="1"/>
            <p:nvPr/>
          </p:nvSpPr>
          <p:spPr>
            <a:xfrm>
              <a:off x="5794295" y="2472486"/>
              <a:ext cx="419482" cy="2024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</a:t>
              </a:r>
              <a:r>
                <a:rPr lang="en-US" sz="12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Terahertz</a:t>
              </a:r>
            </a:p>
            <a:p>
              <a:pPr algn="ctr"/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Waveforms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B8B8DC2-59B7-6BAC-8734-13F64F94067C}"/>
                    </a:ext>
                  </a:extLst>
                </p:cNvPr>
                <p:cNvSpPr txBox="1"/>
                <p:nvPr/>
              </p:nvSpPr>
              <p:spPr>
                <a:xfrm>
                  <a:off x="5217723" y="4116783"/>
                  <a:ext cx="123508" cy="12149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B8B8DC2-59B7-6BAC-8734-13F64F9406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7723" y="4116783"/>
                  <a:ext cx="123508" cy="121491"/>
                </a:xfrm>
                <a:prstGeom prst="rect">
                  <a:avLst/>
                </a:prstGeom>
                <a:blipFill>
                  <a:blip r:embed="rId5"/>
                  <a:stretch>
                    <a:fillRect r="-195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38E7335-020C-0FC4-A77E-E51F2818C9AC}"/>
                    </a:ext>
                  </a:extLst>
                </p:cNvPr>
                <p:cNvSpPr txBox="1"/>
                <p:nvPr/>
              </p:nvSpPr>
              <p:spPr>
                <a:xfrm>
                  <a:off x="5217723" y="3985819"/>
                  <a:ext cx="206118" cy="12149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𝑡𝑜𝑡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𝑠𝑠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38E7335-020C-0FC4-A77E-E51F2818C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7723" y="3985819"/>
                  <a:ext cx="206118" cy="121491"/>
                </a:xfrm>
                <a:prstGeom prst="rect">
                  <a:avLst/>
                </a:prstGeom>
                <a:blipFill>
                  <a:blip r:embed="rId6"/>
                  <a:stretch>
                    <a:fillRect r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A04DB0F-C73C-9755-A177-5BE55C7C5D99}"/>
                    </a:ext>
                  </a:extLst>
                </p:cNvPr>
                <p:cNvSpPr txBox="1"/>
                <p:nvPr/>
              </p:nvSpPr>
              <p:spPr>
                <a:xfrm>
                  <a:off x="5244290" y="4227368"/>
                  <a:ext cx="90754" cy="12149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A04DB0F-C73C-9755-A177-5BE55C7C5D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4290" y="4227368"/>
                  <a:ext cx="90754" cy="121491"/>
                </a:xfrm>
                <a:prstGeom prst="rect">
                  <a:avLst/>
                </a:prstGeom>
                <a:blipFill>
                  <a:blip r:embed="rId7"/>
                  <a:stretch>
                    <a:fillRect r="-38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FFE30AD-80FB-7C98-03E0-9475ABA333CA}"/>
                    </a:ext>
                  </a:extLst>
                </p:cNvPr>
                <p:cNvSpPr txBox="1"/>
                <p:nvPr/>
              </p:nvSpPr>
              <p:spPr>
                <a:xfrm>
                  <a:off x="5250979" y="4332105"/>
                  <a:ext cx="84066" cy="12149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FFE30AD-80FB-7C98-03E0-9475ABA333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0979" y="4332105"/>
                  <a:ext cx="84066" cy="121491"/>
                </a:xfrm>
                <a:prstGeom prst="rect">
                  <a:avLst/>
                </a:prstGeom>
                <a:blipFill>
                  <a:blip r:embed="rId8"/>
                  <a:stretch>
                    <a:fillRect r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7BB80AF-12EF-FEE8-C12C-3A30E6D9E2F8}"/>
                </a:ext>
              </a:extLst>
            </p:cNvPr>
            <p:cNvSpPr txBox="1"/>
            <p:nvPr/>
          </p:nvSpPr>
          <p:spPr>
            <a:xfrm>
              <a:off x="5422126" y="3989459"/>
              <a:ext cx="849199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Total energy of the enzyme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5299D57-F522-18BF-AF16-4E0D02ED6FFA}"/>
                </a:ext>
              </a:extLst>
            </p:cNvPr>
            <p:cNvSpPr txBox="1"/>
            <p:nvPr/>
          </p:nvSpPr>
          <p:spPr>
            <a:xfrm>
              <a:off x="5423841" y="4121167"/>
              <a:ext cx="653548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Enzyme-free energy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6092CA9-C3F5-7760-1324-2B2D2A5647C4}"/>
                </a:ext>
              </a:extLst>
            </p:cNvPr>
            <p:cNvSpPr txBox="1"/>
            <p:nvPr/>
          </p:nvSpPr>
          <p:spPr>
            <a:xfrm>
              <a:off x="5423841" y="4231008"/>
              <a:ext cx="668819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Boltzmann constant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35348E-C369-5A1B-AA33-C4F3C646C4C7}"/>
                </a:ext>
              </a:extLst>
            </p:cNvPr>
            <p:cNvSpPr txBox="1"/>
            <p:nvPr/>
          </p:nvSpPr>
          <p:spPr>
            <a:xfrm>
              <a:off x="5415911" y="4332286"/>
              <a:ext cx="760387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Temperature of the Cell</a:t>
              </a: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750B0C9-4173-10F9-773E-054975B2154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16379150" flipH="1">
              <a:off x="5406288" y="2811069"/>
              <a:ext cx="650532" cy="650533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77B0894-61EC-84DC-0814-0076AB5527F0}"/>
                </a:ext>
              </a:extLst>
            </p:cNvPr>
            <p:cNvSpPr txBox="1"/>
            <p:nvPr/>
          </p:nvSpPr>
          <p:spPr>
            <a:xfrm>
              <a:off x="5786723" y="2797782"/>
              <a:ext cx="418103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</a:t>
              </a:r>
              <a:r>
                <a:rPr lang="en-US" sz="12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Yeast Cell</a:t>
              </a:r>
              <a:endPara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D779F69-BEDB-4ACD-526B-49F67A412C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8213"/>
            <a:stretch>
              <a:fillRect/>
            </a:stretch>
          </p:blipFill>
          <p:spPr>
            <a:xfrm>
              <a:off x="4643466" y="3041481"/>
              <a:ext cx="630871" cy="687325"/>
            </a:xfrm>
            <a:prstGeom prst="rect">
              <a:avLst/>
            </a:prstGeom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48C1756-69FB-2DE4-B62C-282F0F6A66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15933" y="3044600"/>
              <a:ext cx="767681" cy="86851"/>
            </a:xfrm>
            <a:prstGeom prst="line">
              <a:avLst/>
            </a:prstGeom>
            <a:ln w="190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474A644-31DE-3398-602A-297F8C172F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456" y="3165208"/>
              <a:ext cx="456158" cy="451809"/>
            </a:xfrm>
            <a:prstGeom prst="line">
              <a:avLst/>
            </a:prstGeom>
            <a:ln w="285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ACE56624-8A50-6C34-A4F4-4055B6BB7F2A}"/>
                </a:ext>
              </a:extLst>
            </p:cNvPr>
            <p:cNvSpPr/>
            <p:nvPr/>
          </p:nvSpPr>
          <p:spPr>
            <a:xfrm>
              <a:off x="4537360" y="3719496"/>
              <a:ext cx="604728" cy="779876"/>
            </a:xfrm>
            <a:prstGeom prst="arc">
              <a:avLst>
                <a:gd name="adj1" fmla="val 17378697"/>
                <a:gd name="adj2" fmla="val 1554691"/>
              </a:avLst>
            </a:prstGeom>
            <a:ln w="1587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5EB02D-BB44-0A7E-E631-DBD6DE0C33BE}"/>
                </a:ext>
              </a:extLst>
            </p:cNvPr>
            <p:cNvSpPr txBox="1"/>
            <p:nvPr/>
          </p:nvSpPr>
          <p:spPr>
            <a:xfrm>
              <a:off x="4279038" y="2903415"/>
              <a:ext cx="586503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</a:t>
              </a:r>
              <a:r>
                <a:rPr lang="en-US" sz="12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Folded Enzyme</a:t>
              </a:r>
              <a:endPara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5FFD0AE-6EC0-EDEE-88C1-F05C2BDA0A05}"/>
                </a:ext>
              </a:extLst>
            </p:cNvPr>
            <p:cNvSpPr txBox="1"/>
            <p:nvPr/>
          </p:nvSpPr>
          <p:spPr>
            <a:xfrm>
              <a:off x="4435158" y="3961298"/>
              <a:ext cx="649779" cy="121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Unf</a:t>
              </a:r>
              <a:r>
                <a:rPr lang="en-US" sz="12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olded Enzyme</a:t>
              </a:r>
              <a:endPara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02F12199-62E4-AB07-07FB-37B97A0BB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872" y="220928"/>
            <a:ext cx="1952334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Concept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A1F7076-B390-87E3-DA7C-0E6A203FBA9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937" y="3077257"/>
            <a:ext cx="4692769" cy="351957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32E40FD-E7AD-D45B-99BD-2C9F702DFA9F}"/>
              </a:ext>
            </a:extLst>
          </p:cNvPr>
          <p:cNvSpPr txBox="1"/>
          <p:nvPr/>
        </p:nvSpPr>
        <p:spPr>
          <a:xfrm>
            <a:off x="1818752" y="2452141"/>
            <a:ext cx="206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Metabolic Network</a:t>
            </a:r>
          </a:p>
        </p:txBody>
      </p:sp>
    </p:spTree>
    <p:extLst>
      <p:ext uri="{BB962C8B-B14F-4D97-AF65-F5344CB8AC3E}">
        <p14:creationId xmlns:p14="http://schemas.microsoft.com/office/powerpoint/2010/main" val="2534844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51A3F9-7DF3-0288-5EC2-2581B8F3C1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1042" y="3187220"/>
            <a:ext cx="4692769" cy="351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5B73-55AC-8E01-1ED3-C73D7EE8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344E7301-193C-BD3D-28BD-4E2E36DFD83A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DE2198-E1D0-A4E4-C59D-D9EEA378A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39" y="170815"/>
            <a:ext cx="7173785" cy="720725"/>
          </a:xfrm>
        </p:spPr>
        <p:txBody>
          <a:bodyPr>
            <a:normAutofit/>
          </a:bodyPr>
          <a:lstStyle/>
          <a:p>
            <a:r>
              <a:rPr lang="de-DE" sz="3600" dirty="0"/>
              <a:t>Mapping a 2-neuron NN</a:t>
            </a:r>
            <a:endParaRPr lang="en-US" sz="36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AD572CE-A56D-7BEC-26DD-3712AB1ED0AB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E5EF8C-876B-C050-C454-5E8610EAE629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43DCA-A170-7D8A-92D6-EB08209CAED3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A11C32-2C3B-710A-82EE-5FFED132C917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4C190E-F055-2DA9-4424-49915440218D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4C190E-F055-2DA9-4424-499154402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95ED-FD71-C551-CFB7-FA56838D6B80}"/>
                  </a:ext>
                </a:extLst>
              </p:cNvPr>
              <p:cNvSpPr txBox="1"/>
              <p:nvPr/>
            </p:nvSpPr>
            <p:spPr>
              <a:xfrm>
                <a:off x="5726911" y="5738296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95ED-FD71-C551-CFB7-FA56838D6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911" y="5738296"/>
                <a:ext cx="6271260" cy="491417"/>
              </a:xfrm>
              <a:prstGeom prst="rect">
                <a:avLst/>
              </a:prstGeom>
              <a:blipFill>
                <a:blip r:embed="rId4"/>
                <a:stretch>
                  <a:fillRect l="-7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74176D-BA11-AB6E-4DF2-B60D8C509196}"/>
              </a:ext>
            </a:extLst>
          </p:cNvPr>
          <p:cNvSpPr/>
          <p:nvPr/>
        </p:nvSpPr>
        <p:spPr>
          <a:xfrm>
            <a:off x="8898604" y="181717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6A3EA8-AFC3-BDC6-C3CA-DDC9A69455A7}"/>
                  </a:ext>
                </a:extLst>
              </p:cNvPr>
              <p:cNvSpPr txBox="1"/>
              <p:nvPr/>
            </p:nvSpPr>
            <p:spPr>
              <a:xfrm>
                <a:off x="6739921" y="5265341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6A3EA8-AFC3-BDC6-C3CA-DDC9A6945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921" y="5265341"/>
                <a:ext cx="656402" cy="461665"/>
              </a:xfrm>
              <a:prstGeom prst="rect">
                <a:avLst/>
              </a:prstGeom>
              <a:blipFill>
                <a:blip r:embed="rId5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C3A4C1-B43C-3A8F-DAD4-B81EC011E844}"/>
                  </a:ext>
                </a:extLst>
              </p:cNvPr>
              <p:cNvSpPr txBox="1"/>
              <p:nvPr/>
            </p:nvSpPr>
            <p:spPr>
              <a:xfrm>
                <a:off x="8173377" y="5246835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C3A4C1-B43C-3A8F-DAD4-B81EC011E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377" y="5246835"/>
                <a:ext cx="656402" cy="495905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A0B6DE-E530-A42C-8A38-DF8D7EA54001}"/>
                  </a:ext>
                </a:extLst>
              </p:cNvPr>
              <p:cNvSpPr txBox="1"/>
              <p:nvPr/>
            </p:nvSpPr>
            <p:spPr>
              <a:xfrm>
                <a:off x="9625088" y="524683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A0B6DE-E530-A42C-8A38-DF8D7EA5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5088" y="5246834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53E609-3D57-9700-2569-398FB7DB8F24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53E609-3D57-9700-2569-398FB7DB8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1D1864-3B62-A1F1-50B2-9AEF22FC284C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1D1864-3B62-A1F1-50B2-9AEF22FC2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9926AD-15AB-B5A5-8910-1EDAD6C61D3A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9926AD-15AB-B5A5-8910-1EDAD6C61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8CEBB55A-002F-3AF6-FC90-78457E0BCAD5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4DA878-87CA-2E37-254E-C165A227A3E4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819AE3-1B6C-207B-7D29-109D314F2055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819AE3-1B6C-207B-7D29-109D314F2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852FFF-1C2E-D3CC-CE82-E19744FCE3FD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159E6C1-F006-07CC-BEDF-1C45F3D3B18C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2E11E157-73F2-D296-9357-E32ABAC19064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9766C55-D9E8-7F85-845B-0D85F04C9BD7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46419B0-71FB-BBDF-C6AD-4F442982736E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46419B0-71FB-BBDF-C6AD-4F442982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1B5085B-DF5A-ED51-D8C2-1A09E6662B51}"/>
                  </a:ext>
                </a:extLst>
              </p:cNvPr>
              <p:cNvSpPr txBox="1"/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1B5085B-DF5A-ED51-D8C2-1A09E6662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903E1C-C403-CC13-3B91-EB6C50F8C55F}"/>
                  </a:ext>
                </a:extLst>
              </p:cNvPr>
              <p:cNvSpPr txBox="1"/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903E1C-C403-CC13-3B91-EB6C50F8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5686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1F633-FA9D-13F2-3C39-5D40530DE92C}"/>
                  </a:ext>
                </a:extLst>
              </p:cNvPr>
              <p:cNvSpPr txBox="1"/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1F633-FA9D-13F2-3C39-5D40530DE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351346E-8CC8-3D3F-88BF-B1CFD3E331A8}"/>
                  </a:ext>
                </a:extLst>
              </p:cNvPr>
              <p:cNvSpPr txBox="1"/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351346E-8CC8-3D3F-88BF-B1CFD3E33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4A9EADD-0BD0-234E-13AC-F199711611B9}"/>
                  </a:ext>
                </a:extLst>
              </p:cNvPr>
              <p:cNvSpPr txBox="1"/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4A9EADD-0BD0-234E-13AC-F19971161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327" r="-1224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43B2749-7FBD-AB33-D51B-98E9605D8B2B}"/>
                  </a:ext>
                </a:extLst>
              </p:cNvPr>
              <p:cNvSpPr txBox="1"/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43B2749-7FBD-AB33-D51B-98E9605D8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3462" r="-1153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CA421F4-37D8-7EB7-4C1D-296F468E0CD5}"/>
                  </a:ext>
                </a:extLst>
              </p:cNvPr>
              <p:cNvSpPr txBox="1"/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CA421F4-37D8-7EB7-4C1D-296F468E0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9333" r="-533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122DEFC-EC99-CBF4-77D9-9E35FB70CC85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122DEFC-EC99-CBF4-77D9-9E35FB70C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EF93A9-BB51-6C0D-3333-19B73DDECF1D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EF93A9-BB51-6C0D-3333-19B73DDEC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01F8F8E-5A57-0616-C24D-4E2CB96B4EC6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01F8F8E-5A57-0616-C24D-4E2CB96B4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0F7BBBC-AF92-9D91-8F93-9B4D246B009B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0F7BBBC-AF92-9D91-8F93-9B4D246B0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0F793F-B90B-7DD8-EF27-A1D1D57E5F2E}"/>
                  </a:ext>
                </a:extLst>
              </p:cNvPr>
              <p:cNvSpPr txBox="1"/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0F793F-B90B-7DD8-EF27-A1D1D57E5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53FBE4A-ABE9-0778-C597-692AE49F525F}"/>
                  </a:ext>
                </a:extLst>
              </p:cNvPr>
              <p:cNvSpPr txBox="1"/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53FBE4A-ABE9-0778-C597-692AE49F5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9211" r="-52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5343846-2E23-FE9B-4006-373AB4978E01}"/>
                  </a:ext>
                </a:extLst>
              </p:cNvPr>
              <p:cNvSpPr txBox="1"/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5343846-2E23-FE9B-4006-373AB4978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2790020-45C0-DFF7-B09D-2A8833225D13}"/>
                  </a:ext>
                </a:extLst>
              </p:cNvPr>
              <p:cNvSpPr txBox="1"/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2790020-45C0-DFF7-B09D-2A8833225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9211" r="-6579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C5D91A-12A1-E394-A5F1-6BE96861049A}"/>
              </a:ext>
            </a:extLst>
          </p:cNvPr>
          <p:cNvSpPr/>
          <p:nvPr/>
        </p:nvSpPr>
        <p:spPr>
          <a:xfrm>
            <a:off x="8173377" y="182694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D572F9A-ADCB-FB4B-DB84-6466D145BD73}"/>
              </a:ext>
            </a:extLst>
          </p:cNvPr>
          <p:cNvSpPr/>
          <p:nvPr/>
        </p:nvSpPr>
        <p:spPr>
          <a:xfrm>
            <a:off x="6865071" y="2675781"/>
            <a:ext cx="1951928" cy="46373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576257-AC55-649E-5B94-3BE4DF255D35}"/>
              </a:ext>
            </a:extLst>
          </p:cNvPr>
          <p:cNvSpPr/>
          <p:nvPr/>
        </p:nvSpPr>
        <p:spPr>
          <a:xfrm>
            <a:off x="6844466" y="3137705"/>
            <a:ext cx="2697760" cy="43511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B4D697D-EFD1-886B-3097-CEBCE81B48D0}"/>
              </a:ext>
            </a:extLst>
          </p:cNvPr>
          <p:cNvSpPr/>
          <p:nvPr/>
        </p:nvSpPr>
        <p:spPr>
          <a:xfrm>
            <a:off x="6815502" y="3559545"/>
            <a:ext cx="2697760" cy="4135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A87441-29FE-E805-8C5E-42EE05ED2B68}"/>
              </a:ext>
            </a:extLst>
          </p:cNvPr>
          <p:cNvSpPr txBox="1"/>
          <p:nvPr/>
        </p:nvSpPr>
        <p:spPr>
          <a:xfrm>
            <a:off x="6484645" y="941669"/>
            <a:ext cx="445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Pattern within the Stoichiometry Matrix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34585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011B-300E-9536-C2AB-0442B897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E6614964-11D3-71CA-8C63-01799941A78A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7808BAB-E390-4181-4D85-47C1204661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</p:spPr>
            <p:txBody>
              <a:bodyPr>
                <a:noAutofit/>
              </a:bodyPr>
              <a:lstStyle/>
              <a:p>
                <a:r>
                  <a:rPr lang="de-DE" sz="2400" dirty="0"/>
                  <a:t>Step 1: 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m4-like </a:t>
                </a:r>
                <a:r>
                  <a:rPr lang="de-DE" sz="2400" dirty="0" err="1"/>
                  <a:t>metabolites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reactions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’s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’s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7808BAB-E390-4181-4D85-47C120466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  <a:blipFill>
                <a:blip r:embed="rId3"/>
                <a:stretch>
                  <a:fillRect l="-1733" t="-12712" r="-650" b="-22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E77C1AC9-FA4A-EF5A-C960-85C259C837BE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6B24B30-E9F6-83E6-E5FD-BD1D0F3F3CE0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D0AA79-B687-A333-E241-47908D60EBF9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8095DF5-FEE5-B5ED-C101-532B85CFA14F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E72E7D6-BBB6-52F9-70D9-DBD8E9F1C0CB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E72E7D6-BBB6-52F9-70D9-DBD8E9F1C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E52EB5-733F-DA1D-C3AE-1015474077FA}"/>
                  </a:ext>
                </a:extLst>
              </p:cNvPr>
              <p:cNvSpPr txBox="1"/>
              <p:nvPr/>
            </p:nvSpPr>
            <p:spPr>
              <a:xfrm>
                <a:off x="5083562" y="5299089"/>
                <a:ext cx="673406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E52EB5-733F-DA1D-C3AE-10154740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3562" y="5299089"/>
                <a:ext cx="6734064" cy="461665"/>
              </a:xfrm>
              <a:prstGeom prst="rect">
                <a:avLst/>
              </a:prstGeom>
              <a:blipFill>
                <a:blip r:embed="rId5"/>
                <a:stretch>
                  <a:fillRect l="-814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0F90BE5-2DB4-3B9A-B389-7953E6F05538}"/>
              </a:ext>
            </a:extLst>
          </p:cNvPr>
          <p:cNvSpPr/>
          <p:nvPr/>
        </p:nvSpPr>
        <p:spPr>
          <a:xfrm>
            <a:off x="8898604" y="181717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DE3E32-A910-5356-FC4A-8A6BD14B0F8D}"/>
                  </a:ext>
                </a:extLst>
              </p:cNvPr>
              <p:cNvSpPr txBox="1"/>
              <p:nvPr/>
            </p:nvSpPr>
            <p:spPr>
              <a:xfrm>
                <a:off x="6325169" y="482613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DE3E32-A910-5356-FC4A-8A6BD14B0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5169" y="4826134"/>
                <a:ext cx="65640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0D21A0-A17E-B4E2-32F7-E3BD8DE23880}"/>
                  </a:ext>
                </a:extLst>
              </p:cNvPr>
              <p:cNvSpPr txBox="1"/>
              <p:nvPr/>
            </p:nvSpPr>
            <p:spPr>
              <a:xfrm>
                <a:off x="8023809" y="4778723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0D21A0-A17E-B4E2-32F7-E3BD8DE23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809" y="4778723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0954CA7-105D-D28C-85A1-F03C9277EF3A}"/>
                  </a:ext>
                </a:extLst>
              </p:cNvPr>
              <p:cNvSpPr txBox="1"/>
              <p:nvPr/>
            </p:nvSpPr>
            <p:spPr>
              <a:xfrm>
                <a:off x="9513262" y="467114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0954CA7-105D-D28C-85A1-F03C9277E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262" y="4671147"/>
                <a:ext cx="65640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DD360F-49AF-6D94-6DB4-8B50FB701A77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DD360F-49AF-6D94-6DB4-8B50FB701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E3C407-D448-AFC0-FF3A-6D46B6E513CB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E3C407-D448-AFC0-FF3A-6D46B6E51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2F68AF-DAA5-43BE-FC09-0E8816F011D0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2F68AF-DAA5-43BE-FC09-0E8816F01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8B891D55-8402-9DE6-025C-B9621033F703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66CBD52-B984-4849-0E12-247E0AFA2FA7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11F0BB6-0C07-B00A-A817-34E7EF2EC510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11F0BB6-0C07-B00A-A817-34E7EF2EC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0C1E9FE-CABE-6E62-B931-678F223D98FA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B0586D-D6BB-AC57-5DF7-96D58F2FDDAF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0C827D1-47E5-D065-19D5-03F36DFBF16A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C6BAA56-97AA-6913-9F8A-EF4A3CA9F545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0478A04-8C99-4B41-3DC2-045E8E1208F4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0478A04-8C99-4B41-3DC2-045E8E120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DDD4330-C27E-BA8E-5C0B-D70930D95A33}"/>
                  </a:ext>
                </a:extLst>
              </p:cNvPr>
              <p:cNvSpPr txBox="1"/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DDD4330-C27E-BA8E-5C0B-D70930D95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3B7D8E-2F66-247E-7C86-0362195E0668}"/>
                  </a:ext>
                </a:extLst>
              </p:cNvPr>
              <p:cNvSpPr txBox="1"/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3B7D8E-2F66-247E-7C86-0362195E0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blipFill>
                <a:blip r:embed="rId15"/>
                <a:stretch>
                  <a:fillRect l="-15686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C8DF565-A87D-A37C-3FFD-6B64A7E1B2C5}"/>
                  </a:ext>
                </a:extLst>
              </p:cNvPr>
              <p:cNvSpPr txBox="1"/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C8DF565-A87D-A37C-3FFD-6B64A7E1B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AD0B2DB-A8C6-E331-3571-BD6E5FAEF08B}"/>
                  </a:ext>
                </a:extLst>
              </p:cNvPr>
              <p:cNvSpPr txBox="1"/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AD0B2DB-A8C6-E331-3571-BD6E5FAEF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blipFill>
                <a:blip r:embed="rId17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5EEE08-7C55-5BC0-B1C9-E579F41D7C13}"/>
                  </a:ext>
                </a:extLst>
              </p:cNvPr>
              <p:cNvSpPr txBox="1"/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5EEE08-7C55-5BC0-B1C9-E579F41D7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blipFill>
                <a:blip r:embed="rId18"/>
                <a:stretch>
                  <a:fillRect l="-16327" r="-1224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9F5BE-54D2-BA83-4516-37F25E148E39}"/>
                  </a:ext>
                </a:extLst>
              </p:cNvPr>
              <p:cNvSpPr txBox="1"/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9F5BE-54D2-BA83-4516-37F25E148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blipFill>
                <a:blip r:embed="rId19"/>
                <a:stretch>
                  <a:fillRect l="-13462" r="-1153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33AE38-4C90-18F8-032B-799D72582F4A}"/>
                  </a:ext>
                </a:extLst>
              </p:cNvPr>
              <p:cNvSpPr txBox="1"/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33AE38-4C90-18F8-032B-799D72582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blipFill>
                <a:blip r:embed="rId20"/>
                <a:stretch>
                  <a:fillRect l="-9333" r="-533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39E46BE-F33A-EEA1-CB7A-AFDDAA254E0D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39E46BE-F33A-EEA1-CB7A-AFDDAA254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38295-40BD-BA4A-3530-AB31BFD7A087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38295-40BD-BA4A-3530-AB31BFD7A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F8F4E5A-FB0B-75A8-3AE9-184BC9913FA8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F8F4E5A-FB0B-75A8-3AE9-184BC9913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A2B5EC-7B31-8992-91C8-3763014032A5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A2B5EC-7B31-8992-91C8-376301403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15E93B5-D657-4CD6-63EE-5BB7B72937CF}"/>
                  </a:ext>
                </a:extLst>
              </p:cNvPr>
              <p:cNvSpPr txBox="1"/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15E93B5-D657-4CD6-63EE-5BB7B7293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A033F64-ACB6-4047-81B4-25BDADBB1918}"/>
                  </a:ext>
                </a:extLst>
              </p:cNvPr>
              <p:cNvSpPr txBox="1"/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A033F64-ACB6-4047-81B4-25BDADBB1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9211" r="-52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B081466-2F80-3DE5-1AF7-322386F2C97F}"/>
                  </a:ext>
                </a:extLst>
              </p:cNvPr>
              <p:cNvSpPr txBox="1"/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B081466-2F80-3DE5-1AF7-322386F2C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2311BA2-503C-65AF-5841-A5FB73156ABC}"/>
                  </a:ext>
                </a:extLst>
              </p:cNvPr>
              <p:cNvSpPr txBox="1"/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2311BA2-503C-65AF-5841-A5FB73156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blipFill>
                <a:blip r:embed="rId28"/>
                <a:stretch>
                  <a:fillRect l="-9211" r="-6579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98ADAC-7BD1-DE7C-0DC8-7DC58FA7A7B2}"/>
              </a:ext>
            </a:extLst>
          </p:cNvPr>
          <p:cNvSpPr/>
          <p:nvPr/>
        </p:nvSpPr>
        <p:spPr>
          <a:xfrm>
            <a:off x="8173377" y="182694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BAFB37-F212-1D8E-5A06-F1D2E65E1158}"/>
              </a:ext>
            </a:extLst>
          </p:cNvPr>
          <p:cNvSpPr/>
          <p:nvPr/>
        </p:nvSpPr>
        <p:spPr>
          <a:xfrm>
            <a:off x="6815502" y="3559545"/>
            <a:ext cx="2697760" cy="4135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1F007B-6DF9-73B1-815A-10D79BEE27E0}"/>
              </a:ext>
            </a:extLst>
          </p:cNvPr>
          <p:cNvSpPr txBox="1"/>
          <p:nvPr/>
        </p:nvSpPr>
        <p:spPr>
          <a:xfrm>
            <a:off x="6484645" y="941669"/>
            <a:ext cx="445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Pattern within the Stoichiometry Matrix</a:t>
            </a:r>
            <a:endParaRPr lang="en-US" sz="20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3A4A8F5-8B96-F249-BFFE-80F9723BF399}"/>
              </a:ext>
            </a:extLst>
          </p:cNvPr>
          <p:cNvCxnSpPr>
            <a:cxnSpLocks/>
            <a:stCxn id="9" idx="1"/>
            <a:endCxn id="6" idx="1"/>
          </p:cNvCxnSpPr>
          <p:nvPr/>
        </p:nvCxnSpPr>
        <p:spPr>
          <a:xfrm rot="10800000" flipV="1">
            <a:off x="5083562" y="3766306"/>
            <a:ext cx="1731940" cy="1763615"/>
          </a:xfrm>
          <a:prstGeom prst="bentConnector3">
            <a:avLst>
              <a:gd name="adj1" fmla="val 113199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7106BDD-F7D9-0133-0CBA-0294BEB76218}"/>
              </a:ext>
            </a:extLst>
          </p:cNvPr>
          <p:cNvSpPr/>
          <p:nvPr/>
        </p:nvSpPr>
        <p:spPr>
          <a:xfrm>
            <a:off x="6096000" y="4892741"/>
            <a:ext cx="1267960" cy="1023589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53F189-CEAD-EB25-26C9-2AE52C5CEFBB}"/>
              </a:ext>
            </a:extLst>
          </p:cNvPr>
          <p:cNvSpPr/>
          <p:nvPr/>
        </p:nvSpPr>
        <p:spPr>
          <a:xfrm>
            <a:off x="7688853" y="4851726"/>
            <a:ext cx="1267960" cy="1023589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6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C54B6-0B01-A4E7-4694-8BD4DA44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029AAA68-E906-18ED-83E1-4240C08B6D08}"/>
              </a:ext>
            </a:extLst>
          </p:cNvPr>
          <p:cNvSpPr/>
          <p:nvPr/>
        </p:nvSpPr>
        <p:spPr>
          <a:xfrm>
            <a:off x="265564" y="1012872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FC9CB0B-FC0F-A50F-A6C6-B4466180A14A}"/>
              </a:ext>
            </a:extLst>
          </p:cNvPr>
          <p:cNvSpPr>
            <a:spLocks noChangeAspect="1"/>
          </p:cNvSpPr>
          <p:nvPr/>
        </p:nvSpPr>
        <p:spPr>
          <a:xfrm>
            <a:off x="2951410" y="1062332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093A078-82D3-5165-5F2A-D34385CB8875}"/>
              </a:ext>
            </a:extLst>
          </p:cNvPr>
          <p:cNvSpPr>
            <a:spLocks noChangeAspect="1"/>
          </p:cNvSpPr>
          <p:nvPr/>
        </p:nvSpPr>
        <p:spPr>
          <a:xfrm>
            <a:off x="2962840" y="326492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AFDC15-258F-8C51-94E4-2D899648D7E4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45643" y="2566692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B4C423C-1EDE-31FE-EB43-94CB337FB6F3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34213" y="1303734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009217-EF08-6D2F-FE29-897076EE9FE5}"/>
                  </a:ext>
                </a:extLst>
              </p:cNvPr>
              <p:cNvSpPr txBox="1"/>
              <p:nvPr/>
            </p:nvSpPr>
            <p:spPr>
              <a:xfrm>
                <a:off x="3801664" y="117754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009217-EF08-6D2F-FE29-897076EE9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664" y="1177545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0BDC80-018A-88FC-FABE-683995D4CE63}"/>
                  </a:ext>
                </a:extLst>
              </p:cNvPr>
              <p:cNvSpPr txBox="1"/>
              <p:nvPr/>
            </p:nvSpPr>
            <p:spPr>
              <a:xfrm>
                <a:off x="3870250" y="297632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0BDC80-018A-88FC-FABE-683995D4C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250" y="2976320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FDB0B-35DA-39B5-0515-4BC1D17E7DB7}"/>
                  </a:ext>
                </a:extLst>
              </p:cNvPr>
              <p:cNvSpPr txBox="1"/>
              <p:nvPr/>
            </p:nvSpPr>
            <p:spPr>
              <a:xfrm>
                <a:off x="1489055" y="113620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FDB0B-35DA-39B5-0515-4BC1D17E7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055" y="1136200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9EB86F-199D-E9F5-70DC-E089C778E434}"/>
                  </a:ext>
                </a:extLst>
              </p:cNvPr>
              <p:cNvSpPr txBox="1"/>
              <p:nvPr/>
            </p:nvSpPr>
            <p:spPr>
              <a:xfrm>
                <a:off x="1529837" y="2980084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9EB86F-199D-E9F5-70DC-E089C778E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837" y="2980084"/>
                <a:ext cx="100679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F1006F1C-FB1D-A4F1-BC72-E4EA667B64AF}"/>
              </a:ext>
            </a:extLst>
          </p:cNvPr>
          <p:cNvSpPr>
            <a:spLocks noChangeAspect="1"/>
          </p:cNvSpPr>
          <p:nvPr/>
        </p:nvSpPr>
        <p:spPr>
          <a:xfrm>
            <a:off x="1129916" y="215459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F2692B-6FF3-967D-ED93-AE4B5FF8863D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42014" y="1303734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AD64C57-B43D-2A3E-850F-2D1E3E8825AE}"/>
                  </a:ext>
                </a:extLst>
              </p:cNvPr>
              <p:cNvSpPr txBox="1"/>
              <p:nvPr/>
            </p:nvSpPr>
            <p:spPr>
              <a:xfrm>
                <a:off x="389683" y="1923761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AD64C57-B43D-2A3E-850F-2D1E3E882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83" y="1923761"/>
                <a:ext cx="64278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6B6450-822F-88D9-FB36-B0CB86018DEA}"/>
              </a:ext>
            </a:extLst>
          </p:cNvPr>
          <p:cNvCxnSpPr>
            <a:cxnSpLocks/>
          </p:cNvCxnSpPr>
          <p:nvPr/>
        </p:nvCxnSpPr>
        <p:spPr>
          <a:xfrm>
            <a:off x="454933" y="2385426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F7F17CD-2C61-9331-22E5-6058BFD438C8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42014" y="2566692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B03CDD10-BACF-E8C5-C940-9A92B3F7AB9A}"/>
              </a:ext>
            </a:extLst>
          </p:cNvPr>
          <p:cNvSpPr>
            <a:spLocks noChangeAspect="1"/>
          </p:cNvSpPr>
          <p:nvPr/>
        </p:nvSpPr>
        <p:spPr>
          <a:xfrm>
            <a:off x="4583692" y="215459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80D20D8-B760-950B-5692-40739F076A72}"/>
              </a:ext>
            </a:extLst>
          </p:cNvPr>
          <p:cNvCxnSpPr>
            <a:cxnSpLocks/>
          </p:cNvCxnSpPr>
          <p:nvPr/>
        </p:nvCxnSpPr>
        <p:spPr>
          <a:xfrm>
            <a:off x="5066495" y="2395995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E7E8E3-6E46-44BC-E4E7-A321251D7CA6}"/>
                  </a:ext>
                </a:extLst>
              </p:cNvPr>
              <p:cNvSpPr txBox="1"/>
              <p:nvPr/>
            </p:nvSpPr>
            <p:spPr>
              <a:xfrm>
                <a:off x="4893405" y="1763634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E7E8E3-6E46-44BC-E4E7-A321251D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405" y="1763634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3ADA4AAC-888E-4219-07C1-3F968822ABFA}"/>
                  </a:ext>
                </a:extLst>
              </p:cNvPr>
              <p:cNvSpPr txBox="1"/>
              <p:nvPr/>
            </p:nvSpPr>
            <p:spPr>
              <a:xfrm>
                <a:off x="4573744" y="2130394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3ADA4AAC-888E-4219-07C1-3F968822A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744" y="2130394"/>
                <a:ext cx="52746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6671DEB-2884-0BC7-BC6F-F0794C1DD9ED}"/>
                  </a:ext>
                </a:extLst>
              </p:cNvPr>
              <p:cNvSpPr txBox="1"/>
              <p:nvPr/>
            </p:nvSpPr>
            <p:spPr>
              <a:xfrm>
                <a:off x="2875193" y="102392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6671DEB-2884-0BC7-BC6F-F0794C1DD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193" y="1023927"/>
                <a:ext cx="65640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50CA0DC-1D41-AD46-8AAD-53296F335789}"/>
                  </a:ext>
                </a:extLst>
              </p:cNvPr>
              <p:cNvSpPr txBox="1"/>
              <p:nvPr/>
            </p:nvSpPr>
            <p:spPr>
              <a:xfrm>
                <a:off x="2961744" y="3239613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50CA0DC-1D41-AD46-8AAD-53296F335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744" y="3239613"/>
                <a:ext cx="495606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ECECDA6-9B48-3D74-AC57-EBB2FC14294B}"/>
                  </a:ext>
                </a:extLst>
              </p:cNvPr>
              <p:cNvSpPr txBox="1"/>
              <p:nvPr/>
            </p:nvSpPr>
            <p:spPr>
              <a:xfrm>
                <a:off x="1130184" y="2128684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ECECDA6-9B48-3D74-AC57-EBB2FC142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184" y="2128684"/>
                <a:ext cx="52746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E9094ED9-2B84-E5CE-B871-C8F39ACBA1A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77306" y="4275050"/>
            <a:ext cx="9726813" cy="24234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FA6D6D4E-B218-F205-2A1F-A7E77D9351D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</p:spPr>
            <p:txBody>
              <a:bodyPr>
                <a:noAutofit/>
              </a:bodyPr>
              <a:lstStyle/>
              <a:p>
                <a:r>
                  <a:rPr lang="de-DE" sz="2400" dirty="0"/>
                  <a:t>Step 1: 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m4-like </a:t>
                </a:r>
                <a:r>
                  <a:rPr lang="de-DE" sz="2400" dirty="0" err="1"/>
                  <a:t>metabolites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reactions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’s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’s</a:t>
                </a:r>
              </a:p>
            </p:txBody>
          </p:sp>
        </mc:Choice>
        <mc:Fallback xmlns="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FA6D6D4E-B218-F205-2A1F-A7E77D935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  <a:blipFill>
                <a:blip r:embed="rId15"/>
                <a:stretch>
                  <a:fillRect l="-1733" t="-12712" r="-650" b="-22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104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EE72-4105-60B1-7443-F156038BF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5109B5F4-4428-2C3A-D06D-EA7C5C23A7DE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F305E4-67BD-3370-ECEF-1FFB44FD6F9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29539" y="170815"/>
                <a:ext cx="7173785" cy="720725"/>
              </a:xfrm>
            </p:spPr>
            <p:txBody>
              <a:bodyPr>
                <a:normAutofit/>
              </a:bodyPr>
              <a:lstStyle/>
              <a:p>
                <a:r>
                  <a:rPr lang="de-DE" sz="3200" dirty="0" err="1"/>
                  <a:t>Step</a:t>
                </a:r>
                <a:r>
                  <a:rPr lang="de-DE" sz="3200" dirty="0"/>
                  <a:t> 2: Find </a:t>
                </a:r>
                <a:r>
                  <a:rPr lang="de-DE" sz="3200" dirty="0" err="1"/>
                  <a:t>reaction</a:t>
                </a:r>
                <a:r>
                  <a:rPr lang="de-DE" sz="3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3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/>
                  <a:t>- like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F305E4-67BD-3370-ECEF-1FFB44FD6F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29539" y="170815"/>
                <a:ext cx="7173785" cy="720725"/>
              </a:xfrm>
              <a:blipFill>
                <a:blip r:embed="rId3"/>
                <a:stretch>
                  <a:fillRect l="-2124" t="-339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71821E34-F37C-A3D8-B304-88FD1FEF17E4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007E5A2-74A5-E778-FA40-76276B7E8BDD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0879C9F-A70D-B1FA-6F74-56D8AA6F4916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3CC7932-56CD-4209-56AE-EF5CA6643DB3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A7DFED-6A87-48B9-3F69-3346B8F7BB64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A7DFED-6A87-48B9-3F69-3346B8F7B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FEBEF3-88C7-FCB6-0802-BE372B7FCFC1}"/>
              </a:ext>
            </a:extLst>
          </p:cNvPr>
          <p:cNvSpPr/>
          <p:nvPr/>
        </p:nvSpPr>
        <p:spPr>
          <a:xfrm>
            <a:off x="8436987" y="93935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18D9C-AA9B-CEDE-2BC4-0CD0534E768F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18D9C-AA9B-CEDE-2BC4-0CD0534E7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F2485B-6C0A-1142-68A4-9B2F6393FE24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F2485B-6C0A-1142-68A4-9B2F6393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033653-9F0E-B550-5486-C7D35DAAB1F0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033653-9F0E-B550-5486-C7D35DAAB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9A66AF7E-5F0D-AB65-F558-A123AC1F2F83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9404CE-C422-A87A-BA06-501402DD47A0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ABFBD-C203-6793-8EF8-797463D56876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ABFBD-C203-6793-8EF8-797463D56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436295-16EF-F055-8179-D866F2C9ED4B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1F3044-1E2B-C884-6C25-7BE43CE02418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C4AD9299-BD07-7B9E-263C-252EC0D53099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EF2F226-957F-8CC1-1393-B23D8E771D6B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192D539-2B4F-64F0-8A8C-2D498C5E1B94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192D539-2B4F-64F0-8A8C-2D498C5E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325D87-7582-D90B-39EB-E8A2C9CDB803}"/>
                  </a:ext>
                </a:extLst>
              </p:cNvPr>
              <p:cNvSpPr txBox="1"/>
              <p:nvPr/>
            </p:nvSpPr>
            <p:spPr>
              <a:xfrm>
                <a:off x="7068122" y="142632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325D87-7582-D90B-39EB-E8A2C9CD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122" y="142632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2A1D673-9F45-CAC6-7837-26A0F9A2DCFD}"/>
                  </a:ext>
                </a:extLst>
              </p:cNvPr>
              <p:cNvSpPr txBox="1"/>
              <p:nvPr/>
            </p:nvSpPr>
            <p:spPr>
              <a:xfrm>
                <a:off x="7176119" y="101416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2A1D673-9F45-CAC6-7837-26A0F9A2D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119" y="101416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3725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8CD813-1B63-2A10-49F8-8C3DF38DC83E}"/>
                  </a:ext>
                </a:extLst>
              </p:cNvPr>
              <p:cNvSpPr txBox="1"/>
              <p:nvPr/>
            </p:nvSpPr>
            <p:spPr>
              <a:xfrm>
                <a:off x="7884599" y="97007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8CD813-1B63-2A10-49F8-8C3DF38DC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599" y="97007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60B889B-C448-2D7F-1F19-98D46BF790AE}"/>
                  </a:ext>
                </a:extLst>
              </p:cNvPr>
              <p:cNvSpPr txBox="1"/>
              <p:nvPr/>
            </p:nvSpPr>
            <p:spPr>
              <a:xfrm>
                <a:off x="8600197" y="97007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60B889B-C448-2D7F-1F19-98D46BF79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197" y="97007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04F64FD-F9FD-4F2F-3267-BDCC4FD98ACE}"/>
                  </a:ext>
                </a:extLst>
              </p:cNvPr>
              <p:cNvSpPr txBox="1"/>
              <p:nvPr/>
            </p:nvSpPr>
            <p:spPr>
              <a:xfrm>
                <a:off x="9331921" y="97007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04F64FD-F9FD-4F2F-3267-BDCC4FD98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921" y="97007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000" r="-10000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502589E-6252-3888-775F-9E40FACCAF58}"/>
                  </a:ext>
                </a:extLst>
              </p:cNvPr>
              <p:cNvSpPr txBox="1"/>
              <p:nvPr/>
            </p:nvSpPr>
            <p:spPr>
              <a:xfrm>
                <a:off x="9964288" y="98537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502589E-6252-3888-775F-9E40FACCA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288" y="98537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5385" r="-961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B1071E2-A5E5-EA18-97BF-2B7A3886834B}"/>
                  </a:ext>
                </a:extLst>
              </p:cNvPr>
              <p:cNvSpPr txBox="1"/>
              <p:nvPr/>
            </p:nvSpPr>
            <p:spPr>
              <a:xfrm>
                <a:off x="6551383" y="128206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B1071E2-A5E5-EA18-97BF-2B7A38868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3" y="128206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10811" r="-6757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95C865-6537-357F-E740-4FCBB764175A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95C865-6537-357F-E740-4FCBB7641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D7F4E63-CF2C-A91D-E9A3-58DAA35CCE9A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D7F4E63-CF2C-A91D-E9A3-58DAA35CC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61520EA-D790-DD29-D272-01CFBE32B4C1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61520EA-D790-DD29-D272-01CFBE3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75D9339-B241-B2AB-DFAC-04F6396D7927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75D9339-B241-B2AB-DFAC-04F6396D7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692253F-752D-DC06-E8E0-FE6070AA3522}"/>
                  </a:ext>
                </a:extLst>
              </p:cNvPr>
              <p:cNvSpPr txBox="1"/>
              <p:nvPr/>
            </p:nvSpPr>
            <p:spPr>
              <a:xfrm>
                <a:off x="6551383" y="18124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692253F-752D-DC06-E8E0-FE6070AA3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3" y="181248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10667" r="-6667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9078123-9871-FF1B-1792-534ACE024C15}"/>
                  </a:ext>
                </a:extLst>
              </p:cNvPr>
              <p:cNvSpPr txBox="1"/>
              <p:nvPr/>
            </p:nvSpPr>
            <p:spPr>
              <a:xfrm>
                <a:off x="6551384" y="226631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9078123-9871-FF1B-1792-534ACE024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4" y="226631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10667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9AC06E-385A-0311-7E1D-C06D20F31926}"/>
                  </a:ext>
                </a:extLst>
              </p:cNvPr>
              <p:cNvSpPr txBox="1"/>
              <p:nvPr/>
            </p:nvSpPr>
            <p:spPr>
              <a:xfrm>
                <a:off x="6557078" y="2600538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9AC06E-385A-0311-7E1D-C06D20F31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78" y="2600538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10667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658C1E7-BE13-CD2E-7DD9-050E072F3084}"/>
                  </a:ext>
                </a:extLst>
              </p:cNvPr>
              <p:cNvSpPr txBox="1"/>
              <p:nvPr/>
            </p:nvSpPr>
            <p:spPr>
              <a:xfrm>
                <a:off x="6575766" y="305436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658C1E7-BE13-CD2E-7DD9-050E072F3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766" y="305436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10667" r="-6667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8872D8-2F0A-D8C7-CF4B-783D4CCDA233}"/>
              </a:ext>
            </a:extLst>
          </p:cNvPr>
          <p:cNvSpPr/>
          <p:nvPr/>
        </p:nvSpPr>
        <p:spPr>
          <a:xfrm>
            <a:off x="7711760" y="94912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0C41D9-76DE-19B9-EACD-3649255FEBC1}"/>
              </a:ext>
            </a:extLst>
          </p:cNvPr>
          <p:cNvSpPr/>
          <p:nvPr/>
        </p:nvSpPr>
        <p:spPr>
          <a:xfrm>
            <a:off x="6403454" y="1797961"/>
            <a:ext cx="1951928" cy="46373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E29CCC-4FAA-1C79-C59F-F9C91FA5E8EB}"/>
              </a:ext>
            </a:extLst>
          </p:cNvPr>
          <p:cNvSpPr/>
          <p:nvPr/>
        </p:nvSpPr>
        <p:spPr>
          <a:xfrm>
            <a:off x="6382849" y="2259885"/>
            <a:ext cx="2697760" cy="43511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643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F0D50-9C91-7531-B02D-559A44C56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3EA00E2C-C5AD-DA99-E334-6592C6284CD8}"/>
              </a:ext>
            </a:extLst>
          </p:cNvPr>
          <p:cNvSpPr/>
          <p:nvPr/>
        </p:nvSpPr>
        <p:spPr>
          <a:xfrm>
            <a:off x="129539" y="992993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A81812-46B8-93BC-219E-652349E15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1917922" cy="720725"/>
          </a:xfrm>
        </p:spPr>
        <p:txBody>
          <a:bodyPr>
            <a:normAutofit/>
          </a:bodyPr>
          <a:lstStyle/>
          <a:p>
            <a:r>
              <a:rPr lang="de-DE" sz="3200" dirty="0"/>
              <a:t>Solutions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A81D2A0-78B9-D489-9F77-C53BACADC0DB}"/>
              </a:ext>
            </a:extLst>
          </p:cNvPr>
          <p:cNvSpPr>
            <a:spLocks noChangeAspect="1"/>
          </p:cNvSpPr>
          <p:nvPr/>
        </p:nvSpPr>
        <p:spPr>
          <a:xfrm>
            <a:off x="2815385" y="1042453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1680303-7B30-57F4-EC36-CA3302793D5D}"/>
              </a:ext>
            </a:extLst>
          </p:cNvPr>
          <p:cNvSpPr>
            <a:spLocks noChangeAspect="1"/>
          </p:cNvSpPr>
          <p:nvPr/>
        </p:nvSpPr>
        <p:spPr>
          <a:xfrm>
            <a:off x="2826815" y="324504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8531265-F331-06A1-A87B-28CD7CFA3972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309618" y="2546813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0AB3249-1A2B-9FBB-F28C-D841A2433CE4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298188" y="1283855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9AFBB9D-7139-122C-7D69-EEDE1F6AC581}"/>
                  </a:ext>
                </a:extLst>
              </p:cNvPr>
              <p:cNvSpPr txBox="1"/>
              <p:nvPr/>
            </p:nvSpPr>
            <p:spPr>
              <a:xfrm>
                <a:off x="3665639" y="115766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9AFBB9D-7139-122C-7D69-EEDE1F6AC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5639" y="1157666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959F68-D6A4-BD82-6764-10CC63BFF6FC}"/>
                  </a:ext>
                </a:extLst>
              </p:cNvPr>
              <p:cNvSpPr txBox="1"/>
              <p:nvPr/>
            </p:nvSpPr>
            <p:spPr>
              <a:xfrm>
                <a:off x="3734225" y="295644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959F68-D6A4-BD82-6764-10CC63BFF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25" y="2956441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074C2C-D337-E0CA-4EFF-2150F14A183A}"/>
                  </a:ext>
                </a:extLst>
              </p:cNvPr>
              <p:cNvSpPr txBox="1"/>
              <p:nvPr/>
            </p:nvSpPr>
            <p:spPr>
              <a:xfrm>
                <a:off x="1353030" y="111632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074C2C-D337-E0CA-4EFF-2150F14A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030" y="1116321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E09733-124D-3F49-EFAD-93E3CF87C1F1}"/>
                  </a:ext>
                </a:extLst>
              </p:cNvPr>
              <p:cNvSpPr txBox="1"/>
              <p:nvPr/>
            </p:nvSpPr>
            <p:spPr>
              <a:xfrm>
                <a:off x="1393812" y="296020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E09733-124D-3F49-EFAD-93E3CF87C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812" y="2960205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E2FA917D-6C29-28D4-BDBB-7F188C7CF5D9}"/>
              </a:ext>
            </a:extLst>
          </p:cNvPr>
          <p:cNvSpPr>
            <a:spLocks noChangeAspect="1"/>
          </p:cNvSpPr>
          <p:nvPr/>
        </p:nvSpPr>
        <p:spPr>
          <a:xfrm>
            <a:off x="993891" y="213471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F10531-369F-1CB1-AB8A-40EFC5940199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405989" y="1283855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EA319D-5B61-4717-D608-393D93524ABF}"/>
                  </a:ext>
                </a:extLst>
              </p:cNvPr>
              <p:cNvSpPr txBox="1"/>
              <p:nvPr/>
            </p:nvSpPr>
            <p:spPr>
              <a:xfrm>
                <a:off x="253658" y="1903882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EA319D-5B61-4717-D608-393D93524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658" y="1903882"/>
                <a:ext cx="64278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80A376A-2BAE-ECF6-E192-9026242F70F5}"/>
              </a:ext>
            </a:extLst>
          </p:cNvPr>
          <p:cNvCxnSpPr>
            <a:cxnSpLocks/>
          </p:cNvCxnSpPr>
          <p:nvPr/>
        </p:nvCxnSpPr>
        <p:spPr>
          <a:xfrm>
            <a:off x="318908" y="2365547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5D0AB80-2C80-6882-8E48-9B82BF7E8239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405989" y="2546813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F82D3813-453A-CE0C-F0E7-FA399D878A67}"/>
              </a:ext>
            </a:extLst>
          </p:cNvPr>
          <p:cNvSpPr>
            <a:spLocks noChangeAspect="1"/>
          </p:cNvSpPr>
          <p:nvPr/>
        </p:nvSpPr>
        <p:spPr>
          <a:xfrm>
            <a:off x="4447667" y="213471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010D37B-0A0D-D1B1-8D87-8E391EDD1C2C}"/>
              </a:ext>
            </a:extLst>
          </p:cNvPr>
          <p:cNvCxnSpPr>
            <a:cxnSpLocks/>
          </p:cNvCxnSpPr>
          <p:nvPr/>
        </p:nvCxnSpPr>
        <p:spPr>
          <a:xfrm>
            <a:off x="4942345" y="2447366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6DD358-ABC5-E124-FD7A-9EEB1BA1EF65}"/>
                  </a:ext>
                </a:extLst>
              </p:cNvPr>
              <p:cNvSpPr txBox="1"/>
              <p:nvPr/>
            </p:nvSpPr>
            <p:spPr>
              <a:xfrm>
                <a:off x="4757380" y="174375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6DD358-ABC5-E124-FD7A-9EEB1BA1E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380" y="174375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9A33F79-9EF5-9B98-FE8F-65F713E45A52}"/>
                  </a:ext>
                </a:extLst>
              </p:cNvPr>
              <p:cNvSpPr txBox="1"/>
              <p:nvPr/>
            </p:nvSpPr>
            <p:spPr>
              <a:xfrm>
                <a:off x="4437719" y="2110515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9A33F79-9EF5-9B98-FE8F-65F713E45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719" y="2110515"/>
                <a:ext cx="52746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1338760-763F-AF87-AA2C-E7AAF1E86D9B}"/>
                  </a:ext>
                </a:extLst>
              </p:cNvPr>
              <p:cNvSpPr txBox="1"/>
              <p:nvPr/>
            </p:nvSpPr>
            <p:spPr>
              <a:xfrm>
                <a:off x="2739168" y="1004048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1338760-763F-AF87-AA2C-E7AAF1E86D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168" y="1004048"/>
                <a:ext cx="65640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F357C6-6F66-78A4-78BC-D2A251CC9F40}"/>
                  </a:ext>
                </a:extLst>
              </p:cNvPr>
              <p:cNvSpPr txBox="1"/>
              <p:nvPr/>
            </p:nvSpPr>
            <p:spPr>
              <a:xfrm>
                <a:off x="2825719" y="3219734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F357C6-6F66-78A4-78BC-D2A251CC9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5719" y="3219734"/>
                <a:ext cx="495606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C4E61A6-A24B-7322-43FF-F7D1F0A246D8}"/>
                  </a:ext>
                </a:extLst>
              </p:cNvPr>
              <p:cNvSpPr txBox="1"/>
              <p:nvPr/>
            </p:nvSpPr>
            <p:spPr>
              <a:xfrm>
                <a:off x="994159" y="2108805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C4E61A6-A24B-7322-43FF-F7D1F0A24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9" y="2108805"/>
                <a:ext cx="52746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0ED0FD4-A073-8BEA-50AB-521B8F76A738}"/>
              </a:ext>
            </a:extLst>
          </p:cNvPr>
          <p:cNvSpPr txBox="1"/>
          <p:nvPr/>
        </p:nvSpPr>
        <p:spPr>
          <a:xfrm>
            <a:off x="6599560" y="224900"/>
            <a:ext cx="5404918" cy="17697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de-DE" sz="1400" dirty="0" err="1"/>
              <a:t>Reaction</a:t>
            </a:r>
            <a:r>
              <a:rPr lang="de-DE" sz="1400" dirty="0"/>
              <a:t> 1:  </a:t>
            </a:r>
            <a:r>
              <a:rPr lang="es-ES" sz="1400" dirty="0" err="1"/>
              <a:t>peroxisomal</a:t>
            </a:r>
            <a:r>
              <a:rPr lang="es-ES" sz="1400" dirty="0"/>
              <a:t> </a:t>
            </a:r>
            <a:r>
              <a:rPr lang="es-ES" sz="1400" dirty="0" err="1"/>
              <a:t>acyl-CoA</a:t>
            </a:r>
            <a:r>
              <a:rPr lang="es-ES" sz="1400" dirty="0"/>
              <a:t> </a:t>
            </a:r>
            <a:r>
              <a:rPr lang="es-ES" sz="1400" dirty="0" err="1"/>
              <a:t>thioesterase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s-ES" sz="1400" b="1" dirty="0">
                <a:hlinkClick r:id="rId13"/>
              </a:rPr>
              <a:t>EC </a:t>
            </a:r>
            <a:r>
              <a:rPr lang="es-ES" sz="1400" b="1" dirty="0" err="1">
                <a:hlinkClick r:id="rId13"/>
              </a:rPr>
              <a:t>code</a:t>
            </a:r>
            <a:r>
              <a:rPr lang="es-ES" sz="1400" b="1" dirty="0">
                <a:hlinkClick r:id="rId13"/>
              </a:rPr>
              <a:t>: 3.1.2.2</a:t>
            </a:r>
            <a:endParaRPr lang="en-US" sz="1400" b="1" dirty="0"/>
          </a:p>
          <a:p>
            <a:pPr>
              <a:spcAft>
                <a:spcPts val="600"/>
              </a:spcAft>
            </a:pPr>
            <a:r>
              <a:rPr lang="en-US" sz="1400" dirty="0"/>
              <a:t>Gene:  </a:t>
            </a:r>
            <a:r>
              <a:rPr lang="en-US" sz="1400" b="1" dirty="0"/>
              <a:t>YJR019C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Formula: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C31H50N7O17P3S + H2O  -&gt;  </a:t>
            </a:r>
            <a:r>
              <a:rPr lang="pt-BR" sz="1400" b="1" dirty="0">
                <a:solidFill>
                  <a:srgbClr val="0070C0"/>
                </a:solidFill>
              </a:rPr>
              <a:t>C21H32N7O16P3S</a:t>
            </a:r>
            <a:r>
              <a:rPr lang="pt-BR" sz="1400" dirty="0"/>
              <a:t> + </a:t>
            </a:r>
            <a:r>
              <a:rPr lang="pt-BR" sz="1400" b="1" dirty="0">
                <a:solidFill>
                  <a:schemeClr val="accent6">
                    <a:lumMod val="75000"/>
                  </a:schemeClr>
                </a:solidFill>
              </a:rPr>
              <a:t>C10H19O2</a:t>
            </a:r>
            <a:r>
              <a:rPr lang="pt-BR" sz="1400" dirty="0"/>
              <a:t> + H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07D6AC-AE7C-7151-E9BE-71952226D8A2}"/>
              </a:ext>
            </a:extLst>
          </p:cNvPr>
          <p:cNvSpPr txBox="1"/>
          <p:nvPr/>
        </p:nvSpPr>
        <p:spPr>
          <a:xfrm>
            <a:off x="6599560" y="2488722"/>
            <a:ext cx="5404918" cy="16927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/>
              <a:t>Reaction 2: acetyl-CoA C-acyltransferase (decanoyl-CoA)</a:t>
            </a:r>
          </a:p>
          <a:p>
            <a:pPr>
              <a:spcAft>
                <a:spcPts val="600"/>
              </a:spcAft>
            </a:pPr>
            <a:r>
              <a:rPr lang="en-US" sz="1400" b="1" dirty="0">
                <a:hlinkClick r:id="rId14"/>
              </a:rPr>
              <a:t>EC code: 2.3.1.16</a:t>
            </a:r>
            <a:endParaRPr lang="en-US" sz="1400" b="1" dirty="0"/>
          </a:p>
          <a:p>
            <a:pPr>
              <a:spcAft>
                <a:spcPts val="600"/>
              </a:spcAft>
            </a:pPr>
            <a:r>
              <a:rPr lang="es-ES" sz="1400" dirty="0"/>
              <a:t>Gene:  </a:t>
            </a:r>
            <a:r>
              <a:rPr lang="es-ES" sz="1400" b="1" dirty="0"/>
              <a:t>YIL160C</a:t>
            </a:r>
          </a:p>
          <a:p>
            <a:pPr>
              <a:spcAft>
                <a:spcPts val="600"/>
              </a:spcAft>
            </a:pPr>
            <a:r>
              <a:rPr lang="es-ES" sz="1400" dirty="0"/>
              <a:t>C33H52N7O18P3S + </a:t>
            </a:r>
            <a:r>
              <a:rPr lang="es-ES" sz="1400" b="1" dirty="0">
                <a:solidFill>
                  <a:srgbClr val="0070C0"/>
                </a:solidFill>
              </a:rPr>
              <a:t>C21H32N7O16P3S</a:t>
            </a:r>
            <a:r>
              <a:rPr lang="es-ES" sz="1400" dirty="0"/>
              <a:t>  -&gt;  </a:t>
            </a:r>
            <a:r>
              <a:rPr lang="es-ES" sz="1400" dirty="0">
                <a:solidFill>
                  <a:srgbClr val="C00000"/>
                </a:solidFill>
              </a:rPr>
              <a:t>C23H34N7O17P3S</a:t>
            </a:r>
            <a:r>
              <a:rPr lang="es-ES" sz="1400" dirty="0"/>
              <a:t> + C31H50N7O17P3S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FD323D-6EB9-8CC2-5776-C5FFA2E0EF51}"/>
              </a:ext>
            </a:extLst>
          </p:cNvPr>
          <p:cNvSpPr txBox="1"/>
          <p:nvPr/>
        </p:nvSpPr>
        <p:spPr>
          <a:xfrm>
            <a:off x="6599560" y="4724397"/>
            <a:ext cx="5404918" cy="16927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/>
              <a:t>Reaction 3: fatty-acid--CoA ligase (decanoate)</a:t>
            </a:r>
          </a:p>
          <a:p>
            <a:pPr>
              <a:spcAft>
                <a:spcPts val="600"/>
              </a:spcAft>
            </a:pPr>
            <a:r>
              <a:rPr lang="es-ES" sz="1400" b="1" dirty="0">
                <a:hlinkClick r:id="rId15"/>
              </a:rPr>
              <a:t>EC </a:t>
            </a:r>
            <a:r>
              <a:rPr lang="es-ES" sz="1400" b="1" dirty="0" err="1">
                <a:hlinkClick r:id="rId15"/>
              </a:rPr>
              <a:t>code</a:t>
            </a:r>
            <a:r>
              <a:rPr lang="es-ES" sz="1400" b="1" dirty="0">
                <a:hlinkClick r:id="rId15"/>
              </a:rPr>
              <a:t>: 6.2.1.3</a:t>
            </a:r>
            <a:endParaRPr lang="es-ES" sz="1400" dirty="0"/>
          </a:p>
          <a:p>
            <a:pPr>
              <a:spcAft>
                <a:spcPts val="600"/>
              </a:spcAft>
            </a:pPr>
            <a:r>
              <a:rPr lang="es-ES" sz="1400" dirty="0"/>
              <a:t>Gene:  </a:t>
            </a:r>
            <a:r>
              <a:rPr lang="es-ES" sz="1400" b="1" dirty="0"/>
              <a:t>YER015W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C10H12N5O13P3 + C21H32N7O16P3S + </a:t>
            </a:r>
            <a:r>
              <a:rPr lang="pt-BR" sz="1400" b="1" dirty="0">
                <a:solidFill>
                  <a:schemeClr val="accent3"/>
                </a:solidFill>
              </a:rPr>
              <a:t>C10H19O2</a:t>
            </a:r>
            <a:r>
              <a:rPr lang="pt-BR" sz="1400" dirty="0"/>
              <a:t>  -&gt;  C10H12N5O7P + </a:t>
            </a:r>
            <a:r>
              <a:rPr lang="pt-BR" sz="1400" dirty="0">
                <a:solidFill>
                  <a:srgbClr val="C00000"/>
                </a:solidFill>
              </a:rPr>
              <a:t>C31H50N7O17P3S</a:t>
            </a:r>
            <a:r>
              <a:rPr lang="pt-BR" sz="1400" dirty="0"/>
              <a:t> + HO7P2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AA647-B081-D2A6-9132-C3BFAD789FB3}"/>
              </a:ext>
            </a:extLst>
          </p:cNvPr>
          <p:cNvSpPr txBox="1"/>
          <p:nvPr/>
        </p:nvSpPr>
        <p:spPr>
          <a:xfrm>
            <a:off x="129539" y="4534594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/>
              <a:t>Metabolite m2: </a:t>
            </a:r>
            <a:r>
              <a:rPr lang="pt-BR" sz="1400" b="1" dirty="0">
                <a:solidFill>
                  <a:srgbClr val="0070C0"/>
                </a:solidFill>
              </a:rPr>
              <a:t>C21H32N7O16P3S</a:t>
            </a:r>
            <a:r>
              <a:rPr lang="pt-BR" sz="1400" dirty="0"/>
              <a:t> | Name: coenzyme A| 405   | ID: s_0534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2B6895-11D6-61A3-64CA-461D31AD02DF}"/>
              </a:ext>
            </a:extLst>
          </p:cNvPr>
          <p:cNvSpPr txBox="1"/>
          <p:nvPr/>
        </p:nvSpPr>
        <p:spPr>
          <a:xfrm>
            <a:off x="129015" y="4930770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/>
              <a:t>Metabolite m3: </a:t>
            </a:r>
            <a:r>
              <a:rPr lang="pt-BR" sz="1400" b="1" dirty="0">
                <a:solidFill>
                  <a:schemeClr val="accent6">
                    <a:lumMod val="75000"/>
                  </a:schemeClr>
                </a:solidFill>
              </a:rPr>
              <a:t>C10H19O2</a:t>
            </a:r>
            <a:r>
              <a:rPr lang="pt-BR" sz="1400" dirty="0"/>
              <a:t> | Name: decanoate| 460   | ID: s_0600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71CDCD-CDF0-B672-C4AD-1A85FAEB1BD0}"/>
              </a:ext>
            </a:extLst>
          </p:cNvPr>
          <p:cNvSpPr txBox="1"/>
          <p:nvPr/>
        </p:nvSpPr>
        <p:spPr>
          <a:xfrm>
            <a:off x="129015" y="5371803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dirty="0" err="1"/>
              <a:t>Metabolite</a:t>
            </a:r>
            <a:r>
              <a:rPr lang="es-ES" sz="1400" dirty="0"/>
              <a:t> m4: </a:t>
            </a:r>
            <a:r>
              <a:rPr lang="es-ES" sz="1400" dirty="0">
                <a:solidFill>
                  <a:srgbClr val="C00000"/>
                </a:solidFill>
              </a:rPr>
              <a:t>C31H50N7O17P3S</a:t>
            </a:r>
            <a:endParaRPr lang="es-E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580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45">
            <a:extLst>
              <a:ext uri="{FF2B5EF4-FFF2-40B4-BE49-F238E27FC236}">
                <a16:creationId xmlns:a16="http://schemas.microsoft.com/office/drawing/2014/main" id="{626ADE63-46A6-CCA2-2409-373D63232E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7324" y="857690"/>
            <a:ext cx="6667500" cy="6029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23179B-9D2D-F996-9FD9-84BA3DCD3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19" y="113154"/>
            <a:ext cx="4639918" cy="723446"/>
          </a:xfrm>
        </p:spPr>
        <p:txBody>
          <a:bodyPr>
            <a:normAutofit/>
          </a:bodyPr>
          <a:lstStyle/>
          <a:p>
            <a:r>
              <a:rPr lang="en-US" sz="3200" dirty="0"/>
              <a:t>Mapping with restrictions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FBB67B-5A73-1EF5-2CB8-3A325AF07879}"/>
                  </a:ext>
                </a:extLst>
              </p:cNvPr>
              <p:cNvSpPr txBox="1"/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de-DE" dirty="0" err="1"/>
                  <a:t>Restrictions</a:t>
                </a:r>
                <a:r>
                  <a:rPr lang="de-DE" dirty="0"/>
                  <a:t>: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The metabolite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a rich extracellular metabolite.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 metabolic network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the least impactful.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FBB67B-5A73-1EF5-2CB8-3A325AF07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blipFill>
                <a:blip r:embed="rId4"/>
                <a:stretch>
                  <a:fillRect l="-998" t="-1961" b="-5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1B9D0122-EE2A-6B06-4EC9-46AA73E34AF9}"/>
              </a:ext>
            </a:extLst>
          </p:cNvPr>
          <p:cNvGrpSpPr/>
          <p:nvPr/>
        </p:nvGrpSpPr>
        <p:grpSpPr>
          <a:xfrm>
            <a:off x="6660176" y="1649888"/>
            <a:ext cx="5510514" cy="2723800"/>
            <a:chOff x="6681486" y="2600620"/>
            <a:chExt cx="5510514" cy="2723800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81E688D-F7B1-B9C2-68AE-0A741E2823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43213" y="2639025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C8BA605-8A53-A383-773F-09F414DD9D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54643" y="484161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C570875-FA04-5983-08A4-9CD3F7198087}"/>
                </a:ext>
              </a:extLst>
            </p:cNvPr>
            <p:cNvCxnSpPr>
              <a:cxnSpLocks/>
              <a:stCxn id="49" idx="6"/>
              <a:endCxn id="61" idx="3"/>
            </p:cNvCxnSpPr>
            <p:nvPr/>
          </p:nvCxnSpPr>
          <p:spPr>
            <a:xfrm flipV="1">
              <a:off x="9737446" y="4143385"/>
              <a:ext cx="1208754" cy="93963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6B4E7AA1-3299-D0A5-38F4-0607CDAE63AA}"/>
                </a:ext>
              </a:extLst>
            </p:cNvPr>
            <p:cNvCxnSpPr>
              <a:cxnSpLocks/>
              <a:stCxn id="48" idx="6"/>
              <a:endCxn id="61" idx="1"/>
            </p:cNvCxnSpPr>
            <p:nvPr/>
          </p:nvCxnSpPr>
          <p:spPr>
            <a:xfrm>
              <a:off x="9726016" y="2880427"/>
              <a:ext cx="1220184" cy="92156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2D5619C-07E5-3A24-75A8-7F054F67BDFA}"/>
                    </a:ext>
                  </a:extLst>
                </p:cNvPr>
                <p:cNvSpPr txBox="1"/>
                <p:nvPr/>
              </p:nvSpPr>
              <p:spPr>
                <a:xfrm>
                  <a:off x="10093467" y="2754238"/>
                  <a:ext cx="100679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2D5619C-07E5-3A24-75A8-7F054F67B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3467" y="2754238"/>
                  <a:ext cx="1006792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EE527C76-CE34-2DE5-13B7-8858B3AF5588}"/>
                    </a:ext>
                  </a:extLst>
                </p:cNvPr>
                <p:cNvSpPr txBox="1"/>
                <p:nvPr/>
              </p:nvSpPr>
              <p:spPr>
                <a:xfrm>
                  <a:off x="10162053" y="4553013"/>
                  <a:ext cx="100679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EE527C76-CE34-2DE5-13B7-8858B3AF55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2053" y="4553013"/>
                  <a:ext cx="1006792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160E4DF-CAE3-24B0-F913-7684C9DD8037}"/>
                    </a:ext>
                  </a:extLst>
                </p:cNvPr>
                <p:cNvSpPr txBox="1"/>
                <p:nvPr/>
              </p:nvSpPr>
              <p:spPr>
                <a:xfrm>
                  <a:off x="7780858" y="2712893"/>
                  <a:ext cx="100679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160E4DF-CAE3-24B0-F913-7684C9DD80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0858" y="2712893"/>
                  <a:ext cx="100679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64B5B1A-1541-DCA8-34F8-DC0758820845}"/>
                    </a:ext>
                  </a:extLst>
                </p:cNvPr>
                <p:cNvSpPr txBox="1"/>
                <p:nvPr/>
              </p:nvSpPr>
              <p:spPr>
                <a:xfrm>
                  <a:off x="7821640" y="4556777"/>
                  <a:ext cx="100679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64B5B1A-1541-DCA8-34F8-DC07588208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1640" y="4556777"/>
                  <a:ext cx="1006792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0117D18-8DB2-37E0-D8C7-975965FBBA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21719" y="373128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5CF489CC-2598-77BA-3929-F6D82A31D9F8}"/>
                </a:ext>
              </a:extLst>
            </p:cNvPr>
            <p:cNvCxnSpPr>
              <a:cxnSpLocks/>
              <a:stCxn id="56" idx="7"/>
              <a:endCxn id="48" idx="2"/>
            </p:cNvCxnSpPr>
            <p:nvPr/>
          </p:nvCxnSpPr>
          <p:spPr>
            <a:xfrm flipV="1">
              <a:off x="7833817" y="2880427"/>
              <a:ext cx="1409396" cy="92156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8BDDC60-A96B-BAAE-A671-068F13349521}"/>
                    </a:ext>
                  </a:extLst>
                </p:cNvPr>
                <p:cNvSpPr txBox="1"/>
                <p:nvPr/>
              </p:nvSpPr>
              <p:spPr>
                <a:xfrm>
                  <a:off x="6681486" y="3500454"/>
                  <a:ext cx="64278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8BDDC60-A96B-BAAE-A671-068F1334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1486" y="3500454"/>
                  <a:ext cx="642780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1EBB81A-06DA-29CA-4D4F-3035101FC845}"/>
                </a:ext>
              </a:extLst>
            </p:cNvPr>
            <p:cNvCxnSpPr>
              <a:cxnSpLocks/>
            </p:cNvCxnSpPr>
            <p:nvPr/>
          </p:nvCxnSpPr>
          <p:spPr>
            <a:xfrm>
              <a:off x="6746736" y="3962119"/>
              <a:ext cx="665312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80059042-5FBA-9A9C-171E-9CC239A92D15}"/>
                </a:ext>
              </a:extLst>
            </p:cNvPr>
            <p:cNvCxnSpPr>
              <a:cxnSpLocks/>
              <a:stCxn id="56" idx="5"/>
              <a:endCxn id="49" idx="2"/>
            </p:cNvCxnSpPr>
            <p:nvPr/>
          </p:nvCxnSpPr>
          <p:spPr>
            <a:xfrm>
              <a:off x="7833817" y="4143385"/>
              <a:ext cx="1420826" cy="93963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F0D208A-3297-6E61-B6C6-E76ABA542F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5495" y="373128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06450E29-4B18-783F-8012-BD44F728A77C}"/>
                </a:ext>
              </a:extLst>
            </p:cNvPr>
            <p:cNvCxnSpPr>
              <a:cxnSpLocks/>
            </p:cNvCxnSpPr>
            <p:nvPr/>
          </p:nvCxnSpPr>
          <p:spPr>
            <a:xfrm>
              <a:off x="11370173" y="4043938"/>
              <a:ext cx="665312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1B99AFF1-891C-14CE-91BA-8474EF1F0C36}"/>
                    </a:ext>
                  </a:extLst>
                </p:cNvPr>
                <p:cNvSpPr txBox="1"/>
                <p:nvPr/>
              </p:nvSpPr>
              <p:spPr>
                <a:xfrm>
                  <a:off x="11185208" y="3340327"/>
                  <a:ext cx="100679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1B99AFF1-891C-14CE-91BA-8474EF1F0C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5208" y="3340327"/>
                  <a:ext cx="1006792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89269D2D-FF3E-67DF-2686-65BCB1C7F834}"/>
                    </a:ext>
                  </a:extLst>
                </p:cNvPr>
                <p:cNvSpPr txBox="1"/>
                <p:nvPr/>
              </p:nvSpPr>
              <p:spPr>
                <a:xfrm>
                  <a:off x="10865547" y="3707087"/>
                  <a:ext cx="52746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89269D2D-FF3E-67DF-2686-65BCB1C7F8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5547" y="3707087"/>
                  <a:ext cx="527465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5D3C1859-8246-98F9-DCE1-853234CF86D2}"/>
                    </a:ext>
                  </a:extLst>
                </p:cNvPr>
                <p:cNvSpPr txBox="1"/>
                <p:nvPr/>
              </p:nvSpPr>
              <p:spPr>
                <a:xfrm>
                  <a:off x="9166996" y="2600620"/>
                  <a:ext cx="65640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5D3C1859-8246-98F9-DCE1-853234CF86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6996" y="2600620"/>
                  <a:ext cx="656402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E4AD945A-9B68-249B-6B9D-07D01CA66632}"/>
                    </a:ext>
                  </a:extLst>
                </p:cNvPr>
                <p:cNvSpPr txBox="1"/>
                <p:nvPr/>
              </p:nvSpPr>
              <p:spPr>
                <a:xfrm>
                  <a:off x="9253547" y="4816306"/>
                  <a:ext cx="495606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E4AD945A-9B68-249B-6B9D-07D01CA666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3547" y="4816306"/>
                  <a:ext cx="495606" cy="46166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BA195E55-FCB0-F83C-3F4E-83E2D76AF7A5}"/>
                    </a:ext>
                  </a:extLst>
                </p:cNvPr>
                <p:cNvSpPr txBox="1"/>
                <p:nvPr/>
              </p:nvSpPr>
              <p:spPr>
                <a:xfrm>
                  <a:off x="7421987" y="3705377"/>
                  <a:ext cx="52746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BA195E55-FCB0-F83C-3F4E-83E2D76AF7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1987" y="3705377"/>
                  <a:ext cx="527465" cy="46166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BEB7D24-477A-B101-2E80-AD1B8739430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94342" y="3253333"/>
            <a:ext cx="5855121" cy="359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928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C08-9300-6BBB-0B3B-220006A28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45">
            <a:extLst>
              <a:ext uri="{FF2B5EF4-FFF2-40B4-BE49-F238E27FC236}">
                <a16:creationId xmlns:a16="http://schemas.microsoft.com/office/drawing/2014/main" id="{58E7FA57-32F9-98F3-AE18-2AFDCE83F0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7324" y="857690"/>
            <a:ext cx="6667500" cy="6029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F7D946-1978-0CFB-61E8-4B594A33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19" y="113154"/>
            <a:ext cx="4639918" cy="723446"/>
          </a:xfrm>
        </p:spPr>
        <p:txBody>
          <a:bodyPr>
            <a:normAutofit/>
          </a:bodyPr>
          <a:lstStyle/>
          <a:p>
            <a:r>
              <a:rPr lang="en-US" sz="3200" dirty="0"/>
              <a:t>Mapping with restrictions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8E9102C-92F5-8278-C9F9-0BF9F2761403}"/>
                  </a:ext>
                </a:extLst>
              </p:cNvPr>
              <p:cNvSpPr txBox="1"/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de-DE" dirty="0" err="1"/>
                  <a:t>Restrictions</a:t>
                </a:r>
                <a:r>
                  <a:rPr lang="de-DE" dirty="0"/>
                  <a:t>: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The metabolite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a rich extracellular metabolite.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 metabolic network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the least impactful.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8E9102C-92F5-8278-C9F9-0BF9F2761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blipFill>
                <a:blip r:embed="rId4"/>
                <a:stretch>
                  <a:fillRect l="-998" t="-1961" b="-5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7EE40993-4010-07F9-666E-59A199F5BADA}"/>
              </a:ext>
            </a:extLst>
          </p:cNvPr>
          <p:cNvGrpSpPr>
            <a:grpSpLocks noChangeAspect="1"/>
          </p:cNvGrpSpPr>
          <p:nvPr/>
        </p:nvGrpSpPr>
        <p:grpSpPr>
          <a:xfrm>
            <a:off x="350303" y="1429570"/>
            <a:ext cx="3298747" cy="1660633"/>
            <a:chOff x="6663597" y="2550649"/>
            <a:chExt cx="5528403" cy="2783072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2E0F0F6-43EE-3CC8-E181-611C708CC0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43213" y="2639025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A595865-1696-86FE-C8B2-F683719104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54643" y="484161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446D741-FE6D-6DA1-C3EE-EF9A882A8F2C}"/>
                </a:ext>
              </a:extLst>
            </p:cNvPr>
            <p:cNvCxnSpPr>
              <a:cxnSpLocks/>
              <a:stCxn id="49" idx="6"/>
              <a:endCxn id="61" idx="3"/>
            </p:cNvCxnSpPr>
            <p:nvPr/>
          </p:nvCxnSpPr>
          <p:spPr>
            <a:xfrm flipV="1">
              <a:off x="9737446" y="4143385"/>
              <a:ext cx="1208754" cy="93963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BBA8F66-D396-ED6E-90B4-CD2ACFE94422}"/>
                </a:ext>
              </a:extLst>
            </p:cNvPr>
            <p:cNvCxnSpPr>
              <a:cxnSpLocks/>
              <a:stCxn id="48" idx="6"/>
              <a:endCxn id="61" idx="1"/>
            </p:cNvCxnSpPr>
            <p:nvPr/>
          </p:nvCxnSpPr>
          <p:spPr>
            <a:xfrm>
              <a:off x="9726016" y="2880427"/>
              <a:ext cx="1220184" cy="92156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0333EEF6-07C7-7D32-BB6F-258A035586A2}"/>
                    </a:ext>
                  </a:extLst>
                </p:cNvPr>
                <p:cNvSpPr txBox="1"/>
                <p:nvPr/>
              </p:nvSpPr>
              <p:spPr>
                <a:xfrm>
                  <a:off x="10093468" y="2754237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0333EEF6-07C7-7D32-BB6F-258A03558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3468" y="2754237"/>
                  <a:ext cx="1006793" cy="56738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ED931BD-4FFE-2C0F-300F-2AE9B84C8EBD}"/>
                    </a:ext>
                  </a:extLst>
                </p:cNvPr>
                <p:cNvSpPr txBox="1"/>
                <p:nvPr/>
              </p:nvSpPr>
              <p:spPr>
                <a:xfrm>
                  <a:off x="10162054" y="4553016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ED931BD-4FFE-2C0F-300F-2AE9B84C8E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2054" y="4553016"/>
                  <a:ext cx="1006793" cy="56738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848E4F99-B0FC-ED1C-7747-B9F5AAF65723}"/>
                    </a:ext>
                  </a:extLst>
                </p:cNvPr>
                <p:cNvSpPr txBox="1"/>
                <p:nvPr/>
              </p:nvSpPr>
              <p:spPr>
                <a:xfrm>
                  <a:off x="7780858" y="2712894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848E4F99-B0FC-ED1C-7747-B9F5AAF657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0858" y="2712894"/>
                  <a:ext cx="1006793" cy="56738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BD350BD-F601-4B76-BBBB-774514A50A35}"/>
                    </a:ext>
                  </a:extLst>
                </p:cNvPr>
                <p:cNvSpPr txBox="1"/>
                <p:nvPr/>
              </p:nvSpPr>
              <p:spPr>
                <a:xfrm>
                  <a:off x="7821643" y="4556776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BD350BD-F601-4B76-BBBB-774514A50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1643" y="4556776"/>
                  <a:ext cx="1006793" cy="56738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B4751D4-34DF-2294-0801-978436E43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21719" y="373128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4FC1FFA1-E6C4-FDEE-46FB-FE6AB2B635E5}"/>
                </a:ext>
              </a:extLst>
            </p:cNvPr>
            <p:cNvCxnSpPr>
              <a:cxnSpLocks/>
              <a:stCxn id="56" idx="7"/>
              <a:endCxn id="48" idx="2"/>
            </p:cNvCxnSpPr>
            <p:nvPr/>
          </p:nvCxnSpPr>
          <p:spPr>
            <a:xfrm flipV="1">
              <a:off x="7833817" y="2880427"/>
              <a:ext cx="1409396" cy="92156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B00AF23-1FEA-7F14-83F7-D92B6BAF9A93}"/>
                    </a:ext>
                  </a:extLst>
                </p:cNvPr>
                <p:cNvSpPr txBox="1"/>
                <p:nvPr/>
              </p:nvSpPr>
              <p:spPr>
                <a:xfrm>
                  <a:off x="6663597" y="3340326"/>
                  <a:ext cx="642780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B00AF23-1FEA-7F14-83F7-D92B6BAF9A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3597" y="3340326"/>
                  <a:ext cx="642780" cy="56738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F5CB09B-4935-D690-13E3-B3BD533FB5D1}"/>
                </a:ext>
              </a:extLst>
            </p:cNvPr>
            <p:cNvCxnSpPr>
              <a:cxnSpLocks/>
            </p:cNvCxnSpPr>
            <p:nvPr/>
          </p:nvCxnSpPr>
          <p:spPr>
            <a:xfrm>
              <a:off x="6746736" y="3962119"/>
              <a:ext cx="665312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9D3DF9A9-4A08-C4B0-48C2-26BABCC88737}"/>
                </a:ext>
              </a:extLst>
            </p:cNvPr>
            <p:cNvCxnSpPr>
              <a:cxnSpLocks/>
              <a:stCxn id="56" idx="5"/>
              <a:endCxn id="49" idx="2"/>
            </p:cNvCxnSpPr>
            <p:nvPr/>
          </p:nvCxnSpPr>
          <p:spPr>
            <a:xfrm>
              <a:off x="7833817" y="4143385"/>
              <a:ext cx="1420826" cy="93963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26D0E446-3233-9622-8F96-3CF666B3DE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5495" y="373128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8DCC9390-3410-82BD-3FA1-4CDDC4F0E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70173" y="4043938"/>
              <a:ext cx="665312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26347D-0F3C-E15A-2941-DB03108EE687}"/>
                    </a:ext>
                  </a:extLst>
                </p:cNvPr>
                <p:cNvSpPr txBox="1"/>
                <p:nvPr/>
              </p:nvSpPr>
              <p:spPr>
                <a:xfrm>
                  <a:off x="11185207" y="3340327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26347D-0F3C-E15A-2941-DB03108EE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5207" y="3340327"/>
                  <a:ext cx="1006793" cy="56738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A087BBFA-A980-AE76-47AD-91D5B0A21143}"/>
                    </a:ext>
                  </a:extLst>
                </p:cNvPr>
                <p:cNvSpPr txBox="1"/>
                <p:nvPr/>
              </p:nvSpPr>
              <p:spPr>
                <a:xfrm>
                  <a:off x="10832234" y="3623803"/>
                  <a:ext cx="527466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A087BBFA-A980-AE76-47AD-91D5B0A21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2234" y="3623803"/>
                  <a:ext cx="527466" cy="5673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432E4DFD-D665-5E87-AC51-38B152A64AF3}"/>
                    </a:ext>
                  </a:extLst>
                </p:cNvPr>
                <p:cNvSpPr txBox="1"/>
                <p:nvPr/>
              </p:nvSpPr>
              <p:spPr>
                <a:xfrm>
                  <a:off x="9166996" y="2550649"/>
                  <a:ext cx="656402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432E4DFD-D665-5E87-AC51-38B152A64A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6996" y="2550649"/>
                  <a:ext cx="656402" cy="56738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72FD6E0D-9AB2-E2CA-D331-1283AAB5710E}"/>
                    </a:ext>
                  </a:extLst>
                </p:cNvPr>
                <p:cNvSpPr txBox="1"/>
                <p:nvPr/>
              </p:nvSpPr>
              <p:spPr>
                <a:xfrm>
                  <a:off x="9220233" y="4766335"/>
                  <a:ext cx="495607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72FD6E0D-9AB2-E2CA-D331-1283AAB57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0233" y="4766335"/>
                  <a:ext cx="495607" cy="567386"/>
                </a:xfrm>
                <a:prstGeom prst="rect">
                  <a:avLst/>
                </a:prstGeom>
                <a:blipFill>
                  <a:blip r:embed="rId13"/>
                  <a:stretch>
                    <a:fillRect r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07778A7-570B-4628-5EA7-2564D3AFAF39}"/>
                    </a:ext>
                  </a:extLst>
                </p:cNvPr>
                <p:cNvSpPr txBox="1"/>
                <p:nvPr/>
              </p:nvSpPr>
              <p:spPr>
                <a:xfrm>
                  <a:off x="7388675" y="3638751"/>
                  <a:ext cx="527466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07778A7-570B-4628-5EA7-2564D3AFA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8675" y="3638751"/>
                  <a:ext cx="527466" cy="56738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18A51B3-DEEF-F61E-5F07-76F1B06D799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07698" y="2058903"/>
            <a:ext cx="5230645" cy="30464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A292AC-ED50-E019-A4F8-FBBCD2AED0AF}"/>
              </a:ext>
            </a:extLst>
          </p:cNvPr>
          <p:cNvSpPr txBox="1"/>
          <p:nvPr/>
        </p:nvSpPr>
        <p:spPr>
          <a:xfrm>
            <a:off x="8166416" y="5825186"/>
            <a:ext cx="3788273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Kate Campbell, Jakob </a:t>
            </a:r>
            <a:r>
              <a:rPr lang="en-US" sz="1050" dirty="0" err="1"/>
              <a:t>Vowinckel</a:t>
            </a:r>
            <a:r>
              <a:rPr lang="en-US" sz="1050" dirty="0"/>
              <a:t>, Michael </a:t>
            </a:r>
            <a:r>
              <a:rPr lang="en-US" sz="1050" dirty="0" err="1"/>
              <a:t>Mülleder</a:t>
            </a:r>
            <a:r>
              <a:rPr lang="en-US" sz="1050" dirty="0"/>
              <a:t>, Silke </a:t>
            </a:r>
            <a:r>
              <a:rPr lang="en-US" sz="1050" dirty="0" err="1"/>
              <a:t>Malmsheimer</a:t>
            </a:r>
            <a:r>
              <a:rPr lang="en-US" sz="1050" dirty="0"/>
              <a:t>, Nicola Lawrence, Enrica Calvani, Leonor Miller-Fleming, Mohammad T Alam, Stefan Christen, Markus A Keller, Markus Ralser (2015) Self-establishing communities enable cooperative metabolite exchange in a eukaryote </a:t>
            </a:r>
            <a:r>
              <a:rPr lang="en-US" sz="1050" dirty="0" err="1"/>
              <a:t>eLife</a:t>
            </a:r>
            <a:r>
              <a:rPr lang="en-US" sz="1050" dirty="0"/>
              <a:t> 4:e09943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4AEA9FE-BC04-A6F5-EF4B-8C65517FF9E4}"/>
                  </a:ext>
                </a:extLst>
              </p14:cNvPr>
              <p14:cNvContentPartPr/>
              <p14:nvPr/>
            </p14:nvContentPartPr>
            <p14:xfrm>
              <a:off x="2301000" y="4632900"/>
              <a:ext cx="358560" cy="536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4AEA9FE-BC04-A6F5-EF4B-8C65517FF9E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283000" y="4614900"/>
                <a:ext cx="3942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CA2A08B-B80B-8C0E-E84B-B6A7EC06C62C}"/>
                  </a:ext>
                </a:extLst>
              </p14:cNvPr>
              <p14:cNvContentPartPr/>
              <p14:nvPr/>
            </p14:nvContentPartPr>
            <p14:xfrm>
              <a:off x="2819040" y="4914780"/>
              <a:ext cx="360" cy="1670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CA2A08B-B80B-8C0E-E84B-B6A7EC06C62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01400" y="4896780"/>
                <a:ext cx="36000" cy="202680"/>
              </a:xfrm>
              <a:prstGeom prst="rect">
                <a:avLst/>
              </a:prstGeom>
            </p:spPr>
          </p:pic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A0E99BA-8A21-C09B-0F69-BC35807D193A}"/>
              </a:ext>
            </a:extLst>
          </p:cNvPr>
          <p:cNvCxnSpPr>
            <a:cxnSpLocks/>
          </p:cNvCxnSpPr>
          <p:nvPr/>
        </p:nvCxnSpPr>
        <p:spPr>
          <a:xfrm>
            <a:off x="8061960" y="2285329"/>
            <a:ext cx="0" cy="27360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8833D8-3568-1374-11BB-1FC074B9BEFF}"/>
              </a:ext>
            </a:extLst>
          </p:cNvPr>
          <p:cNvCxnSpPr>
            <a:cxnSpLocks/>
          </p:cNvCxnSpPr>
          <p:nvPr/>
        </p:nvCxnSpPr>
        <p:spPr>
          <a:xfrm>
            <a:off x="7886700" y="2285329"/>
            <a:ext cx="0" cy="27360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961E38-9BC7-55B8-1B02-002D8ACE0A3A}"/>
              </a:ext>
            </a:extLst>
          </p:cNvPr>
          <p:cNvCxnSpPr>
            <a:cxnSpLocks/>
          </p:cNvCxnSpPr>
          <p:nvPr/>
        </p:nvCxnSpPr>
        <p:spPr>
          <a:xfrm>
            <a:off x="9768840" y="3794760"/>
            <a:ext cx="0" cy="27360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59E9E99E-DD8B-A3DA-86F4-9856694325AD}"/>
              </a:ext>
            </a:extLst>
          </p:cNvPr>
          <p:cNvSpPr/>
          <p:nvPr/>
        </p:nvSpPr>
        <p:spPr>
          <a:xfrm>
            <a:off x="2033578" y="4343400"/>
            <a:ext cx="1212542" cy="1226818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12BCF5-BE38-0CF9-03B3-9319E47CD36C}"/>
              </a:ext>
            </a:extLst>
          </p:cNvPr>
          <p:cNvSpPr txBox="1"/>
          <p:nvPr/>
        </p:nvSpPr>
        <p:spPr>
          <a:xfrm>
            <a:off x="2476607" y="1264418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FFC0CD-C40D-4F12-E281-BDBDCC509325}"/>
              </a:ext>
            </a:extLst>
          </p:cNvPr>
          <p:cNvSpPr txBox="1"/>
          <p:nvPr/>
        </p:nvSpPr>
        <p:spPr>
          <a:xfrm>
            <a:off x="2520003" y="2944454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545545-424E-C76C-7807-B32678BB1AA0}"/>
              </a:ext>
            </a:extLst>
          </p:cNvPr>
          <p:cNvSpPr txBox="1"/>
          <p:nvPr/>
        </p:nvSpPr>
        <p:spPr>
          <a:xfrm>
            <a:off x="1077487" y="1215080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Q5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B312A1-2989-6001-FC40-58F7EE577C94}"/>
              </a:ext>
            </a:extLst>
          </p:cNvPr>
          <p:cNvSpPr txBox="1"/>
          <p:nvPr/>
        </p:nvSpPr>
        <p:spPr>
          <a:xfrm>
            <a:off x="1098318" y="296170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08B3A"/>
                </a:solidFill>
              </a:rPr>
              <a:t>V3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429DBE-D084-F0EB-AAC3-9FBEAE076B40}"/>
              </a:ext>
            </a:extLst>
          </p:cNvPr>
          <p:cNvSpPr txBox="1"/>
          <p:nvPr/>
        </p:nvSpPr>
        <p:spPr>
          <a:xfrm>
            <a:off x="1658870" y="3197785"/>
            <a:ext cx="86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r_1088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FD5F1F-3771-936A-5E83-6A687F795862}"/>
              </a:ext>
            </a:extLst>
          </p:cNvPr>
          <p:cNvSpPr txBox="1"/>
          <p:nvPr/>
        </p:nvSpPr>
        <p:spPr>
          <a:xfrm>
            <a:off x="1623803" y="1062952"/>
            <a:ext cx="86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r_4155</a:t>
            </a:r>
          </a:p>
        </p:txBody>
      </p:sp>
    </p:spTree>
    <p:extLst>
      <p:ext uri="{BB962C8B-B14F-4D97-AF65-F5344CB8AC3E}">
        <p14:creationId xmlns:p14="http://schemas.microsoft.com/office/powerpoint/2010/main" val="3358562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9F7EB-C2E3-64FF-BE30-83C78DB06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45">
            <a:extLst>
              <a:ext uri="{FF2B5EF4-FFF2-40B4-BE49-F238E27FC236}">
                <a16:creationId xmlns:a16="http://schemas.microsoft.com/office/drawing/2014/main" id="{87AE8ACF-B425-F873-BB0D-14E0CECCCE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7324" y="857690"/>
            <a:ext cx="6667500" cy="6029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918B7-DA8D-C093-73FA-B34724C48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19" y="113154"/>
            <a:ext cx="4639918" cy="723446"/>
          </a:xfrm>
        </p:spPr>
        <p:txBody>
          <a:bodyPr>
            <a:normAutofit/>
          </a:bodyPr>
          <a:lstStyle/>
          <a:p>
            <a:r>
              <a:rPr lang="en-US" sz="3200" dirty="0"/>
              <a:t>Mapping with restrictions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B4B3DA-317C-7E68-D95B-C5F73D73D3E3}"/>
                  </a:ext>
                </a:extLst>
              </p:cNvPr>
              <p:cNvSpPr txBox="1"/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de-DE" dirty="0" err="1"/>
                  <a:t>Restrictions</a:t>
                </a:r>
                <a:r>
                  <a:rPr lang="de-DE" dirty="0"/>
                  <a:t>: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The metabolite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a rich extracellular metabolite.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 metabolic network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the least impactful. 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B4B3DA-317C-7E68-D95B-C5F73D73D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blipFill>
                <a:blip r:embed="rId5"/>
                <a:stretch>
                  <a:fillRect l="-998" t="-1961" b="-5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D02895DF-EDF6-126F-701B-80033E5A1D8D}"/>
              </a:ext>
            </a:extLst>
          </p:cNvPr>
          <p:cNvGrpSpPr>
            <a:grpSpLocks noChangeAspect="1"/>
          </p:cNvGrpSpPr>
          <p:nvPr/>
        </p:nvGrpSpPr>
        <p:grpSpPr>
          <a:xfrm>
            <a:off x="350303" y="1429570"/>
            <a:ext cx="3298747" cy="1660633"/>
            <a:chOff x="6663597" y="2550649"/>
            <a:chExt cx="5528403" cy="2783072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8C3F63B-4901-7575-C79D-6BA2B379D7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43213" y="2639025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43DA2F0-D944-DF93-B30A-B2E8D3991A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54643" y="484161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75740A6-83FE-B625-A536-1B5B84D252D4}"/>
                </a:ext>
              </a:extLst>
            </p:cNvPr>
            <p:cNvCxnSpPr>
              <a:cxnSpLocks/>
              <a:stCxn id="49" idx="6"/>
              <a:endCxn id="61" idx="3"/>
            </p:cNvCxnSpPr>
            <p:nvPr/>
          </p:nvCxnSpPr>
          <p:spPr>
            <a:xfrm flipV="1">
              <a:off x="9737446" y="4143385"/>
              <a:ext cx="1208754" cy="93963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C6DCFFC-A750-9090-9AB4-6F254997F857}"/>
                </a:ext>
              </a:extLst>
            </p:cNvPr>
            <p:cNvCxnSpPr>
              <a:cxnSpLocks/>
              <a:stCxn id="48" idx="6"/>
              <a:endCxn id="61" idx="1"/>
            </p:cNvCxnSpPr>
            <p:nvPr/>
          </p:nvCxnSpPr>
          <p:spPr>
            <a:xfrm>
              <a:off x="9726016" y="2880427"/>
              <a:ext cx="1220184" cy="92156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8D16D1C-7A7E-6A99-CCE9-0D29F909241E}"/>
                    </a:ext>
                  </a:extLst>
                </p:cNvPr>
                <p:cNvSpPr txBox="1"/>
                <p:nvPr/>
              </p:nvSpPr>
              <p:spPr>
                <a:xfrm>
                  <a:off x="10093468" y="2754237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8D16D1C-7A7E-6A99-CCE9-0D29F9092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3468" y="2754237"/>
                  <a:ext cx="1006793" cy="56738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4771AA0-A025-27A2-4DD9-14D9A77D4344}"/>
                    </a:ext>
                  </a:extLst>
                </p:cNvPr>
                <p:cNvSpPr txBox="1"/>
                <p:nvPr/>
              </p:nvSpPr>
              <p:spPr>
                <a:xfrm>
                  <a:off x="10162054" y="4553016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4771AA0-A025-27A2-4DD9-14D9A77D43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2054" y="4553016"/>
                  <a:ext cx="1006793" cy="56738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89DEC6A-EA71-5485-DA43-A689F4066084}"/>
                    </a:ext>
                  </a:extLst>
                </p:cNvPr>
                <p:cNvSpPr txBox="1"/>
                <p:nvPr/>
              </p:nvSpPr>
              <p:spPr>
                <a:xfrm>
                  <a:off x="7780858" y="2712894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89DEC6A-EA71-5485-DA43-A689F40660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0858" y="2712894"/>
                  <a:ext cx="1006793" cy="56738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8C2EDDB-7A1D-1E77-0FF5-1A9B3D9F2A05}"/>
                    </a:ext>
                  </a:extLst>
                </p:cNvPr>
                <p:cNvSpPr txBox="1"/>
                <p:nvPr/>
              </p:nvSpPr>
              <p:spPr>
                <a:xfrm>
                  <a:off x="7821643" y="4556776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8C2EDDB-7A1D-1E77-0FF5-1A9B3D9F2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1643" y="4556776"/>
                  <a:ext cx="1006793" cy="56738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2F61EF6-CB5E-E130-C934-D62042A635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21719" y="373128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A3C74397-1D79-346F-5506-A54289F4A934}"/>
                </a:ext>
              </a:extLst>
            </p:cNvPr>
            <p:cNvCxnSpPr>
              <a:cxnSpLocks/>
              <a:stCxn id="56" idx="7"/>
              <a:endCxn id="48" idx="2"/>
            </p:cNvCxnSpPr>
            <p:nvPr/>
          </p:nvCxnSpPr>
          <p:spPr>
            <a:xfrm flipV="1">
              <a:off x="7833817" y="2880427"/>
              <a:ext cx="1409396" cy="92156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39E6357-F433-C507-27CB-ABC01DA411BE}"/>
                    </a:ext>
                  </a:extLst>
                </p:cNvPr>
                <p:cNvSpPr txBox="1"/>
                <p:nvPr/>
              </p:nvSpPr>
              <p:spPr>
                <a:xfrm>
                  <a:off x="6663597" y="3340326"/>
                  <a:ext cx="642780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39E6357-F433-C507-27CB-ABC01DA411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3597" y="3340326"/>
                  <a:ext cx="642780" cy="56738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47655BD-B0C2-B1B9-18BD-A229387EE8F8}"/>
                </a:ext>
              </a:extLst>
            </p:cNvPr>
            <p:cNvCxnSpPr>
              <a:cxnSpLocks/>
            </p:cNvCxnSpPr>
            <p:nvPr/>
          </p:nvCxnSpPr>
          <p:spPr>
            <a:xfrm>
              <a:off x="6746736" y="3962119"/>
              <a:ext cx="665312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8806311-CF58-45FA-C080-54E1F41C1217}"/>
                </a:ext>
              </a:extLst>
            </p:cNvPr>
            <p:cNvCxnSpPr>
              <a:cxnSpLocks/>
              <a:stCxn id="56" idx="5"/>
              <a:endCxn id="49" idx="2"/>
            </p:cNvCxnSpPr>
            <p:nvPr/>
          </p:nvCxnSpPr>
          <p:spPr>
            <a:xfrm>
              <a:off x="7833817" y="4143385"/>
              <a:ext cx="1420826" cy="93963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23A9BCB1-39E5-6594-C9EA-A87B7A51D8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5495" y="3731287"/>
              <a:ext cx="482803" cy="4828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E5B326C9-D3A9-5E67-83E7-FAAFC7F223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70173" y="4043938"/>
              <a:ext cx="665312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261D0DFE-5E8A-07A4-EF01-74416698ACF2}"/>
                    </a:ext>
                  </a:extLst>
                </p:cNvPr>
                <p:cNvSpPr txBox="1"/>
                <p:nvPr/>
              </p:nvSpPr>
              <p:spPr>
                <a:xfrm>
                  <a:off x="11185207" y="3340327"/>
                  <a:ext cx="1006793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261D0DFE-5E8A-07A4-EF01-74416698AC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85207" y="3340327"/>
                  <a:ext cx="1006793" cy="5673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EAA842D-B458-DD72-51EC-3EF8094D8F1D}"/>
                    </a:ext>
                  </a:extLst>
                </p:cNvPr>
                <p:cNvSpPr txBox="1"/>
                <p:nvPr/>
              </p:nvSpPr>
              <p:spPr>
                <a:xfrm>
                  <a:off x="10832234" y="3623803"/>
                  <a:ext cx="527466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EAA842D-B458-DD72-51EC-3EF8094D8F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2234" y="3623803"/>
                  <a:ext cx="527466" cy="56738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FADA8EFF-1949-0C5A-B7C6-29760FBB69FC}"/>
                    </a:ext>
                  </a:extLst>
                </p:cNvPr>
                <p:cNvSpPr txBox="1"/>
                <p:nvPr/>
              </p:nvSpPr>
              <p:spPr>
                <a:xfrm>
                  <a:off x="9166996" y="2550649"/>
                  <a:ext cx="656402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FADA8EFF-1949-0C5A-B7C6-29760FBB69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6996" y="2550649"/>
                  <a:ext cx="656402" cy="567386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C06F95D-230F-A0BB-3706-8F1CA6EF8A12}"/>
                    </a:ext>
                  </a:extLst>
                </p:cNvPr>
                <p:cNvSpPr txBox="1"/>
                <p:nvPr/>
              </p:nvSpPr>
              <p:spPr>
                <a:xfrm>
                  <a:off x="9220233" y="4766335"/>
                  <a:ext cx="495607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C06F95D-230F-A0BB-3706-8F1CA6EF8A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0233" y="4766335"/>
                  <a:ext cx="495607" cy="567386"/>
                </a:xfrm>
                <a:prstGeom prst="rect">
                  <a:avLst/>
                </a:prstGeom>
                <a:blipFill>
                  <a:blip r:embed="rId14"/>
                  <a:stretch>
                    <a:fillRect r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0653582D-D16A-AE39-6172-BE01D4E09B85}"/>
                    </a:ext>
                  </a:extLst>
                </p:cNvPr>
                <p:cNvSpPr txBox="1"/>
                <p:nvPr/>
              </p:nvSpPr>
              <p:spPr>
                <a:xfrm>
                  <a:off x="7388675" y="3638751"/>
                  <a:ext cx="527466" cy="5673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0653582D-D16A-AE39-6172-BE01D4E09B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8675" y="3638751"/>
                  <a:ext cx="527466" cy="56738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FFD73307-82C8-E991-8316-3E233ADDD6E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07698" y="2058903"/>
            <a:ext cx="5230645" cy="30464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371901-A531-EA8B-DCE0-52575FB0050E}"/>
              </a:ext>
            </a:extLst>
          </p:cNvPr>
          <p:cNvSpPr txBox="1"/>
          <p:nvPr/>
        </p:nvSpPr>
        <p:spPr>
          <a:xfrm>
            <a:off x="8166416" y="5825186"/>
            <a:ext cx="3788273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Kate Campbell, Jakob </a:t>
            </a:r>
            <a:r>
              <a:rPr lang="en-US" sz="1050" dirty="0" err="1"/>
              <a:t>Vowinckel</a:t>
            </a:r>
            <a:r>
              <a:rPr lang="en-US" sz="1050" dirty="0"/>
              <a:t>, Michael </a:t>
            </a:r>
            <a:r>
              <a:rPr lang="en-US" sz="1050" dirty="0" err="1"/>
              <a:t>Mülleder</a:t>
            </a:r>
            <a:r>
              <a:rPr lang="en-US" sz="1050" dirty="0"/>
              <a:t>, Silke </a:t>
            </a:r>
            <a:r>
              <a:rPr lang="en-US" sz="1050" dirty="0" err="1"/>
              <a:t>Malmsheimer</a:t>
            </a:r>
            <a:r>
              <a:rPr lang="en-US" sz="1050" dirty="0"/>
              <a:t>, Nicola Lawrence, Enrica Calvani, Leonor Miller-Fleming, Mohammad T Alam, Stefan Christen, Markus A Keller, Markus Ralser (2015) Self-establishing communities enable cooperative metabolite exchange in a eukaryote </a:t>
            </a:r>
            <a:r>
              <a:rPr lang="en-US" sz="1050" dirty="0" err="1"/>
              <a:t>eLife</a:t>
            </a:r>
            <a:r>
              <a:rPr lang="en-US" sz="1050" dirty="0"/>
              <a:t> 4:e09943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56146EF-DF09-262E-FD0E-5E374941204E}"/>
                  </a:ext>
                </a:extLst>
              </p14:cNvPr>
              <p14:cNvContentPartPr/>
              <p14:nvPr/>
            </p14:nvContentPartPr>
            <p14:xfrm>
              <a:off x="2301000" y="4632900"/>
              <a:ext cx="358560" cy="536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56146EF-DF09-262E-FD0E-5E374941204E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283000" y="4614900"/>
                <a:ext cx="3942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343DDB1-9408-BCEB-6C5F-F63193D0ECC6}"/>
                  </a:ext>
                </a:extLst>
              </p14:cNvPr>
              <p14:cNvContentPartPr/>
              <p14:nvPr/>
            </p14:nvContentPartPr>
            <p14:xfrm>
              <a:off x="2819040" y="4914780"/>
              <a:ext cx="360" cy="1670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343DDB1-9408-BCEB-6C5F-F63193D0ECC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801040" y="4896819"/>
                <a:ext cx="36000" cy="202603"/>
              </a:xfrm>
              <a:prstGeom prst="rect">
                <a:avLst/>
              </a:prstGeom>
            </p:spPr>
          </p:pic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799DA1-C89E-FA33-4823-B2D4F4D9D9A8}"/>
              </a:ext>
            </a:extLst>
          </p:cNvPr>
          <p:cNvCxnSpPr>
            <a:cxnSpLocks/>
          </p:cNvCxnSpPr>
          <p:nvPr/>
        </p:nvCxnSpPr>
        <p:spPr>
          <a:xfrm>
            <a:off x="8061960" y="2285329"/>
            <a:ext cx="0" cy="27360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CD84BD-FFE4-93A2-DE36-9DA3A4412EA8}"/>
              </a:ext>
            </a:extLst>
          </p:cNvPr>
          <p:cNvCxnSpPr>
            <a:cxnSpLocks/>
          </p:cNvCxnSpPr>
          <p:nvPr/>
        </p:nvCxnSpPr>
        <p:spPr>
          <a:xfrm>
            <a:off x="7886700" y="2285329"/>
            <a:ext cx="0" cy="27360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898FBC-E67E-BD97-95B9-12A4AFFABC72}"/>
              </a:ext>
            </a:extLst>
          </p:cNvPr>
          <p:cNvCxnSpPr>
            <a:cxnSpLocks/>
          </p:cNvCxnSpPr>
          <p:nvPr/>
        </p:nvCxnSpPr>
        <p:spPr>
          <a:xfrm>
            <a:off x="9768840" y="3794760"/>
            <a:ext cx="0" cy="27360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ACF0C891-52FB-0456-9D7A-89CB400BF424}"/>
              </a:ext>
            </a:extLst>
          </p:cNvPr>
          <p:cNvGrpSpPr/>
          <p:nvPr/>
        </p:nvGrpSpPr>
        <p:grpSpPr>
          <a:xfrm>
            <a:off x="782950" y="2124085"/>
            <a:ext cx="300787" cy="358481"/>
            <a:chOff x="421319" y="2991179"/>
            <a:chExt cx="300787" cy="35848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8D5CF21-6CC1-32A5-342F-0C5ABDA0E9D8}"/>
                </a:ext>
              </a:extLst>
            </p:cNvPr>
            <p:cNvCxnSpPr/>
            <p:nvPr/>
          </p:nvCxnSpPr>
          <p:spPr>
            <a:xfrm flipV="1">
              <a:off x="421319" y="2991179"/>
              <a:ext cx="300787" cy="358481"/>
            </a:xfrm>
            <a:prstGeom prst="line">
              <a:avLst/>
            </a:prstGeom>
            <a:ln w="3492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D91A6F2-CB43-D4AB-6D37-377C6A68C1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1319" y="2991179"/>
              <a:ext cx="300787" cy="358481"/>
            </a:xfrm>
            <a:prstGeom prst="line">
              <a:avLst/>
            </a:prstGeom>
            <a:ln w="3492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2689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C4E27-BC73-7E99-527A-F1C0E0D4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CB495D52-D6F2-CF72-AE1B-9A0B77268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302" y="3474994"/>
            <a:ext cx="3495675" cy="21709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687D1C9-6731-8560-7CA1-1BDA04793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282" y="1150165"/>
            <a:ext cx="3495675" cy="220027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4BDF12EA-5A4A-4549-412E-1A122F171A3F}"/>
              </a:ext>
            </a:extLst>
          </p:cNvPr>
          <p:cNvGrpSpPr>
            <a:grpSpLocks noChangeAspect="1"/>
          </p:cNvGrpSpPr>
          <p:nvPr/>
        </p:nvGrpSpPr>
        <p:grpSpPr>
          <a:xfrm>
            <a:off x="75552" y="5122759"/>
            <a:ext cx="3073558" cy="1475770"/>
            <a:chOff x="7813777" y="-1763"/>
            <a:chExt cx="4378223" cy="210220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387F881-0772-3C46-6A1C-9737522A2F2C}"/>
                </a:ext>
              </a:extLst>
            </p:cNvPr>
            <p:cNvSpPr/>
            <p:nvPr/>
          </p:nvSpPr>
          <p:spPr>
            <a:xfrm>
              <a:off x="7813777" y="-1763"/>
              <a:ext cx="4378223" cy="2102209"/>
            </a:xfrm>
            <a:prstGeom prst="rect">
              <a:avLst/>
            </a:prstGeom>
            <a:solidFill>
              <a:srgbClr val="1212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1B4E578-70C8-A34F-77FA-85DBC4E773C1}"/>
                </a:ext>
              </a:extLst>
            </p:cNvPr>
            <p:cNvGrpSpPr/>
            <p:nvPr/>
          </p:nvGrpSpPr>
          <p:grpSpPr>
            <a:xfrm>
              <a:off x="8130932" y="61972"/>
              <a:ext cx="3616284" cy="1993796"/>
              <a:chOff x="431855" y="1391826"/>
              <a:chExt cx="3616284" cy="199379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D395584-8D71-2EC6-044A-F1B4499B284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15417" y="1484012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A541A6-A6CD-3E3C-C67D-D6F1871FDB6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26847" y="295131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F1B90FF-2921-5471-0009-227385AC9A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58467" y="225789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2DF129-8EC0-DE93-AB30-3E4B9F5853A2}"/>
                  </a:ext>
                </a:extLst>
              </p:cNvPr>
              <p:cNvCxnSpPr>
                <a:cxnSpLocks/>
                <a:stCxn id="36" idx="6"/>
                <a:endCxn id="37" idx="3"/>
              </p:cNvCxnSpPr>
              <p:nvPr/>
            </p:nvCxnSpPr>
            <p:spPr>
              <a:xfrm flipV="1">
                <a:off x="1692607" y="2570087"/>
                <a:ext cx="1219424" cy="564104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DF70F31-30D1-659C-51F1-B7327518926E}"/>
                  </a:ext>
                </a:extLst>
              </p:cNvPr>
              <p:cNvCxnSpPr>
                <a:stCxn id="35" idx="6"/>
                <a:endCxn id="37" idx="1"/>
              </p:cNvCxnSpPr>
              <p:nvPr/>
            </p:nvCxnSpPr>
            <p:spPr>
              <a:xfrm>
                <a:off x="1681177" y="1666892"/>
                <a:ext cx="1230854" cy="644563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4D8E2A3-AA5D-B11F-63FC-A31FA2573E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317" y="166689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EE58497-0AC3-4C85-8E3F-3C944C97BD7D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>
                <a:off x="515317" y="3134191"/>
                <a:ext cx="81153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453D914B-EBC9-4DCA-C4C4-472F11BD86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227" y="242508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/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/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/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/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7BA293E9-9185-6E4F-E81E-B1966326174C}"/>
              </a:ext>
            </a:extLst>
          </p:cNvPr>
          <p:cNvSpPr txBox="1"/>
          <p:nvPr/>
        </p:nvSpPr>
        <p:spPr>
          <a:xfrm>
            <a:off x="2880475" y="53233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1 </a:t>
            </a:r>
          </a:p>
        </p:txBody>
      </p:sp>
      <p:pic>
        <p:nvPicPr>
          <p:cNvPr id="51" name="Picture 50" descr="A diagram of dna sequence&#10;&#10;AI-generated content may be incorrect.">
            <a:extLst>
              <a:ext uri="{FF2B5EF4-FFF2-40B4-BE49-F238E27FC236}">
                <a16:creationId xmlns:a16="http://schemas.microsoft.com/office/drawing/2014/main" id="{A0ED6B0A-41D7-23DF-FB14-C4465E4E59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761" y="1606269"/>
            <a:ext cx="2916786" cy="309147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50EB439C-EAB6-7789-92FC-64AE859620AC}"/>
              </a:ext>
            </a:extLst>
          </p:cNvPr>
          <p:cNvSpPr txBox="1"/>
          <p:nvPr/>
        </p:nvSpPr>
        <p:spPr>
          <a:xfrm>
            <a:off x="6969059" y="0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2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9A963E-FFCD-5C8D-6835-0AB284DDCE29}"/>
              </a:ext>
            </a:extLst>
          </p:cNvPr>
          <p:cNvSpPr txBox="1"/>
          <p:nvPr/>
        </p:nvSpPr>
        <p:spPr>
          <a:xfrm>
            <a:off x="4280350" y="635072"/>
            <a:ext cx="1694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3"/>
              </a:rPr>
              <a:t>YPL214C (THI6)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2CB41-0232-245B-CA26-2987E2366761}"/>
              </a:ext>
            </a:extLst>
          </p:cNvPr>
          <p:cNvSpPr txBox="1"/>
          <p:nvPr/>
        </p:nvSpPr>
        <p:spPr>
          <a:xfrm>
            <a:off x="8204752" y="573356"/>
            <a:ext cx="1825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4"/>
              </a:rPr>
              <a:t>YGR144W (THI4)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23123-73EA-33DB-90F1-8CBA4153D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9" y="59081"/>
            <a:ext cx="3139911" cy="755065"/>
          </a:xfrm>
        </p:spPr>
        <p:txBody>
          <a:bodyPr>
            <a:normAutofit/>
          </a:bodyPr>
          <a:lstStyle/>
          <a:p>
            <a:r>
              <a:rPr lang="en-US" sz="3600" dirty="0"/>
              <a:t>Enzymes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B3561-0988-0221-FEAD-D3304EC6023B}"/>
              </a:ext>
            </a:extLst>
          </p:cNvPr>
          <p:cNvSpPr txBox="1"/>
          <p:nvPr/>
        </p:nvSpPr>
        <p:spPr>
          <a:xfrm>
            <a:off x="3373028" y="635072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D5721-8CD6-9079-9756-C0FD953E1571}"/>
              </a:ext>
            </a:extLst>
          </p:cNvPr>
          <p:cNvSpPr txBox="1"/>
          <p:nvPr/>
        </p:nvSpPr>
        <p:spPr>
          <a:xfrm>
            <a:off x="2951834" y="112185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0021DB-4F7E-7960-BE12-FEBF74107A8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53594" y="1113849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F1AEDEE-7DEE-F0D7-D9E5-2A9702B06649}"/>
              </a:ext>
            </a:extLst>
          </p:cNvPr>
          <p:cNvSpPr txBox="1"/>
          <p:nvPr/>
        </p:nvSpPr>
        <p:spPr>
          <a:xfrm>
            <a:off x="4617561" y="1119436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6"/>
              </a:rPr>
              <a:t>THI2</a:t>
            </a:r>
            <a:endParaRPr lang="en-US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AE9DED2-07A1-4109-EB50-A406630B479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3594" y="2688742"/>
            <a:ext cx="1408718" cy="213508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F65830-6D78-7426-A2BF-EA7DBD05EB6A}"/>
              </a:ext>
            </a:extLst>
          </p:cNvPr>
          <p:cNvSpPr txBox="1"/>
          <p:nvPr/>
        </p:nvSpPr>
        <p:spPr>
          <a:xfrm>
            <a:off x="3968501" y="2692151"/>
            <a:ext cx="689065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dirty="0">
                <a:hlinkClick r:id="rId18"/>
              </a:rPr>
              <a:t>THI3</a:t>
            </a:r>
            <a:endParaRPr lang="en-US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BD8FE98-34DC-08E1-D0A4-64A89B2F23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34108" y="2699143"/>
            <a:ext cx="2460017" cy="211428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3742EBDA-B6E1-320F-978E-447F499FC2D1}"/>
              </a:ext>
            </a:extLst>
          </p:cNvPr>
          <p:cNvSpPr txBox="1"/>
          <p:nvPr/>
        </p:nvSpPr>
        <p:spPr>
          <a:xfrm>
            <a:off x="5527373" y="2709545"/>
            <a:ext cx="894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0"/>
              </a:rPr>
              <a:t>PDC2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60448E-52D5-72D1-8F24-C803CA718873}"/>
              </a:ext>
            </a:extLst>
          </p:cNvPr>
          <p:cNvSpPr txBox="1"/>
          <p:nvPr/>
        </p:nvSpPr>
        <p:spPr>
          <a:xfrm>
            <a:off x="7412661" y="573356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DE34FA-2FC0-6731-1D69-9E01AC817A94}"/>
              </a:ext>
            </a:extLst>
          </p:cNvPr>
          <p:cNvSpPr txBox="1"/>
          <p:nvPr/>
        </p:nvSpPr>
        <p:spPr>
          <a:xfrm>
            <a:off x="7146384" y="1126228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C11B94-76A0-6DEB-0C81-453A9B5641E0}"/>
              </a:ext>
            </a:extLst>
          </p:cNvPr>
          <p:cNvSpPr txBox="1"/>
          <p:nvPr/>
        </p:nvSpPr>
        <p:spPr>
          <a:xfrm>
            <a:off x="8220974" y="1113849"/>
            <a:ext cx="707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1"/>
              </a:rPr>
              <a:t>HST1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B22A07-1EF7-796C-1976-EC7E63331085}"/>
              </a:ext>
            </a:extLst>
          </p:cNvPr>
          <p:cNvSpPr txBox="1"/>
          <p:nvPr/>
        </p:nvSpPr>
        <p:spPr>
          <a:xfrm>
            <a:off x="8340747" y="3558233"/>
            <a:ext cx="96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2"/>
              </a:rPr>
              <a:t>Sir2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05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6ED07-B438-DA2A-9475-7CD2E7604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98" y="149682"/>
            <a:ext cx="4124417" cy="602541"/>
          </a:xfrm>
        </p:spPr>
        <p:txBody>
          <a:bodyPr>
            <a:normAutofit/>
          </a:bodyPr>
          <a:lstStyle/>
          <a:p>
            <a:r>
              <a:rPr lang="es-ES" sz="2000" dirty="0"/>
              <a:t>THz-</a:t>
            </a:r>
            <a:r>
              <a:rPr lang="es-ES" sz="2000" dirty="0" err="1"/>
              <a:t>Induced</a:t>
            </a:r>
            <a:r>
              <a:rPr lang="es-ES" sz="2000" dirty="0"/>
              <a:t> </a:t>
            </a:r>
            <a:r>
              <a:rPr lang="es-ES" sz="2000" dirty="0" err="1"/>
              <a:t>Enzyme</a:t>
            </a:r>
            <a:r>
              <a:rPr lang="es-ES" sz="2000" dirty="0"/>
              <a:t> </a:t>
            </a:r>
            <a:r>
              <a:rPr lang="es-ES" sz="2000" dirty="0" err="1"/>
              <a:t>Unfolding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9D6A3-59F7-3469-F596-F9D7D21583FA}"/>
              </a:ext>
            </a:extLst>
          </p:cNvPr>
          <p:cNvSpPr txBox="1"/>
          <p:nvPr/>
        </p:nvSpPr>
        <p:spPr>
          <a:xfrm>
            <a:off x="111483" y="6376036"/>
            <a:ext cx="1174351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[1] Hadeel Elayan, Andrew W. Eckford, and Raviraj S. Adve. 2023. Terahertz Induced Protein Interactions in a Random Medium. IEEE Transactions on Molecular, Biological and Multi-Scale Communications 9, 4 (Dec. 2023), 435–446. https: //doi.org/10.1109/tmbmc.2023.3327302</a:t>
            </a:r>
          </a:p>
          <a:p>
            <a:endParaRPr lang="en-US" sz="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/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0" dirty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⟨"/>
                                              <m:endChr m:val="⟩"/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𝑡𝑜𝑡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𝑠𝑠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/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: free energy</a:t>
                </a:r>
                <a:r>
                  <a:rPr lang="en-US" i="1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blipFill>
                <a:blip r:embed="rId3"/>
                <a:stretch>
                  <a:fillRect t="-4615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/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blipFill>
                <a:blip r:embed="rId4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/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i="1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is the natural frequency of the protein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blipFill>
                <a:blip r:embed="rId5"/>
                <a:stretch>
                  <a:fillRect r="-239" b="-86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/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̈"/>
                              <m:ctrlP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num>
                        <m:den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/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: Damping coefficient of the protein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blipFill>
                <a:blip r:embed="rId7"/>
                <a:stretch>
                  <a:fillRect l="-472" t="-15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/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 </a:t>
                </a:r>
                <a:r>
                  <a:rPr lang="en-US" dirty="0"/>
                  <a:t>Protein mass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/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</a:t>
                </a:r>
                <a:r>
                  <a:rPr lang="en-US" dirty="0"/>
                  <a:t> Protein spring constant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blipFill>
                <a:blip r:embed="rId9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/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dirty="0"/>
                  <a:t>: Antenna radiation angular frequency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blipFill>
                <a:blip r:embed="rId10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F064904-313D-4876-FF49-2B7188FBDA4F}"/>
              </a:ext>
            </a:extLst>
          </p:cNvPr>
          <p:cNvSpPr txBox="1"/>
          <p:nvPr/>
        </p:nvSpPr>
        <p:spPr>
          <a:xfrm>
            <a:off x="3065421" y="85033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(1)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76E999-D418-5C4C-0604-7C20145C94A1}"/>
              </a:ext>
            </a:extLst>
          </p:cNvPr>
          <p:cNvSpPr txBox="1"/>
          <p:nvPr/>
        </p:nvSpPr>
        <p:spPr>
          <a:xfrm>
            <a:off x="5775490" y="244219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86BB83-1865-C31D-4307-87CA6E106E24}"/>
              </a:ext>
            </a:extLst>
          </p:cNvPr>
          <p:cNvSpPr txBox="1"/>
          <p:nvPr/>
        </p:nvSpPr>
        <p:spPr>
          <a:xfrm>
            <a:off x="5582168" y="322164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(4)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763AD4-BAAE-9453-6AFB-A1A7F9DBD2EA}"/>
              </a:ext>
            </a:extLst>
          </p:cNvPr>
          <p:cNvSpPr txBox="1"/>
          <p:nvPr/>
        </p:nvSpPr>
        <p:spPr>
          <a:xfrm>
            <a:off x="3396641" y="1692652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B4445D-060C-5310-A139-74A343F8E18E}"/>
              </a:ext>
            </a:extLst>
          </p:cNvPr>
          <p:cNvSpPr txBox="1"/>
          <p:nvPr/>
        </p:nvSpPr>
        <p:spPr>
          <a:xfrm>
            <a:off x="1566417" y="3872308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(5)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0A81EA-525C-CDAC-4316-AB6600D4982E}"/>
              </a:ext>
            </a:extLst>
          </p:cNvPr>
          <p:cNvSpPr txBox="1"/>
          <p:nvPr/>
        </p:nvSpPr>
        <p:spPr>
          <a:xfrm>
            <a:off x="2320014" y="493950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(7)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F51B2F-2D3C-0908-2732-66CC3C47C5CA}"/>
              </a:ext>
            </a:extLst>
          </p:cNvPr>
          <p:cNvSpPr txBox="1"/>
          <p:nvPr/>
        </p:nvSpPr>
        <p:spPr>
          <a:xfrm>
            <a:off x="3273170" y="544278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(8)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7FA41C-D511-593F-6DFA-391B4101C9E5}"/>
              </a:ext>
            </a:extLst>
          </p:cNvPr>
          <p:cNvSpPr txBox="1"/>
          <p:nvPr/>
        </p:nvSpPr>
        <p:spPr>
          <a:xfrm>
            <a:off x="4431355" y="4420590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(6)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EBE6D2-9003-73BC-31AF-F94FF69D9C7F}"/>
              </a:ext>
            </a:extLst>
          </p:cNvPr>
          <p:cNvSpPr txBox="1"/>
          <p:nvPr/>
        </p:nvSpPr>
        <p:spPr>
          <a:xfrm>
            <a:off x="4659649" y="582750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(9)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9666714F-C084-6C34-A7FD-C1982C53D8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69333" y="1990193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176F00EA-2BF8-AC26-052B-E1712B05FCB0}"/>
              </a:ext>
            </a:extLst>
          </p:cNvPr>
          <p:cNvSpPr txBox="1"/>
          <p:nvPr/>
        </p:nvSpPr>
        <p:spPr>
          <a:xfrm>
            <a:off x="7633300" y="1995780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2"/>
              </a:rPr>
              <a:t>THI2</a:t>
            </a:r>
            <a:endParaRPr lang="en-US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539B949-CA00-A240-362B-6BF455610E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9258" y="3608385"/>
            <a:ext cx="4363059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EC85DC-E98E-7170-6816-F88FF6ED304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1846" y="78424"/>
            <a:ext cx="3140154" cy="159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616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02AF7A-8B19-B3C4-5CE0-D3F26865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8009-42B3-E2E5-552E-49EFADBCA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>
            <a:normAutofit/>
          </a:bodyPr>
          <a:lstStyle/>
          <a:p>
            <a:r>
              <a:rPr lang="de-DE" sz="3200" dirty="0" err="1"/>
              <a:t>Step</a:t>
            </a:r>
            <a:r>
              <a:rPr lang="de-DE" sz="3200" dirty="0"/>
              <a:t> 1: Looking </a:t>
            </a:r>
            <a:r>
              <a:rPr lang="de-DE" sz="3200" dirty="0" err="1"/>
              <a:t>for</a:t>
            </a:r>
            <a:r>
              <a:rPr lang="de-DE" sz="3200" dirty="0"/>
              <a:t> 2-neuron NNs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052BB14-CAD3-E8A0-6B17-F49B83196F1A}"/>
              </a:ext>
            </a:extLst>
          </p:cNvPr>
          <p:cNvSpPr>
            <a:spLocks noChangeAspect="1"/>
          </p:cNvSpPr>
          <p:nvPr/>
        </p:nvSpPr>
        <p:spPr>
          <a:xfrm>
            <a:off x="1833698" y="1169256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5E4C32F-71F2-3A4A-6C69-48090A9A177E}"/>
              </a:ext>
            </a:extLst>
          </p:cNvPr>
          <p:cNvSpPr>
            <a:spLocks noChangeAspect="1"/>
          </p:cNvSpPr>
          <p:nvPr/>
        </p:nvSpPr>
        <p:spPr>
          <a:xfrm>
            <a:off x="1845128" y="337184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F170D4-6674-F755-734F-8E5643786674}"/>
              </a:ext>
            </a:extLst>
          </p:cNvPr>
          <p:cNvSpPr>
            <a:spLocks noChangeAspect="1"/>
          </p:cNvSpPr>
          <p:nvPr/>
        </p:nvSpPr>
        <p:spPr>
          <a:xfrm>
            <a:off x="3744396" y="229192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B44425-486B-C2F9-7980-74DA8D18450D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327931" y="2704026"/>
            <a:ext cx="1487170" cy="909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21DAA69-FD9E-7F8F-F0FC-8F0F2C401B1D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316501" y="1410658"/>
            <a:ext cx="1498600" cy="9519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712C721-FB48-A7D0-D5B6-EF0A679A1985}"/>
              </a:ext>
            </a:extLst>
          </p:cNvPr>
          <p:cNvCxnSpPr>
            <a:cxnSpLocks/>
          </p:cNvCxnSpPr>
          <p:nvPr/>
        </p:nvCxnSpPr>
        <p:spPr>
          <a:xfrm>
            <a:off x="1033604" y="135214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413448-63DE-6AAA-8B00-96DDA6A7502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05179" y="3613250"/>
            <a:ext cx="83994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4098E8-7765-E6EF-57DB-F9C9B338F6D9}"/>
              </a:ext>
            </a:extLst>
          </p:cNvPr>
          <p:cNvCxnSpPr>
            <a:cxnSpLocks/>
          </p:cNvCxnSpPr>
          <p:nvPr/>
        </p:nvCxnSpPr>
        <p:spPr>
          <a:xfrm>
            <a:off x="4227199" y="2533329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F7D28C-4526-9289-877E-D1DB34249CEF}"/>
                  </a:ext>
                </a:extLst>
              </p:cNvPr>
              <p:cNvSpPr txBox="1"/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F7D28C-4526-9289-877E-D1DB34249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273F2E-921D-3C86-BD75-1F9710A24019}"/>
                  </a:ext>
                </a:extLst>
              </p:cNvPr>
              <p:cNvSpPr txBox="1"/>
              <p:nvPr/>
            </p:nvSpPr>
            <p:spPr>
              <a:xfrm>
                <a:off x="4059506" y="2599424"/>
                <a:ext cx="761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273F2E-921D-3C86-BD75-1F9710A24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506" y="2599424"/>
                <a:ext cx="761501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28B6B-3EC4-E70E-8180-CBBF0DB7939F}"/>
                  </a:ext>
                </a:extLst>
              </p:cNvPr>
              <p:cNvSpPr txBox="1"/>
              <p:nvPr/>
            </p:nvSpPr>
            <p:spPr>
              <a:xfrm>
                <a:off x="2848204" y="1339207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28B6B-3EC4-E70E-8180-CBBF0DB79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204" y="1339207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EFC513-28C1-CC8B-1532-E79495407BDE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EFC513-28C1-CC8B-1532-E7949540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61A18C-C160-EE4A-4DD0-F0E98BA53646}"/>
                  </a:ext>
                </a:extLst>
              </p:cNvPr>
              <p:cNvSpPr txBox="1"/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61A18C-C160-EE4A-4DD0-F0E98BA53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B41E71E-C414-DC94-FAAC-BC93E7301AD7}"/>
                  </a:ext>
                </a:extLst>
              </p:cNvPr>
              <p:cNvSpPr txBox="1"/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B41E71E-C414-DC94-FAAC-BC93E7301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blipFill>
                <a:blip r:embed="rId8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72E9A87-D73D-8818-CCE7-F4565C3512BC}"/>
                  </a:ext>
                </a:extLst>
              </p:cNvPr>
              <p:cNvSpPr txBox="1"/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72E9A87-D73D-8818-CCE7-F4565C35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8EE0A-2A3F-6CD8-D54C-48DDC8632FF7}"/>
                  </a:ext>
                </a:extLst>
              </p:cNvPr>
              <p:cNvSpPr txBox="1"/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8EE0A-2A3F-6CD8-D54C-48DDC8632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E05109-60F7-5EDE-28E5-D41AE30ABE41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𝑚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E05109-60F7-5EDE-28E5-D41AE30AB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C25E7A-EC46-AFC3-A6B2-C0EBEEE33621}"/>
                  </a:ext>
                </a:extLst>
              </p:cNvPr>
              <p:cNvSpPr txBox="1"/>
              <p:nvPr/>
            </p:nvSpPr>
            <p:spPr>
              <a:xfrm>
                <a:off x="5257800" y="3719302"/>
                <a:ext cx="688093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C25E7A-EC46-AFC3-A6B2-C0EBEEE33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19302"/>
                <a:ext cx="6880937" cy="491417"/>
              </a:xfrm>
              <a:prstGeom prst="rect">
                <a:avLst/>
              </a:prstGeom>
              <a:blipFill>
                <a:blip r:embed="rId12"/>
                <a:stretch>
                  <a:fillRect l="-798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5C3F30-D811-94E1-442D-196CAE30135A}"/>
              </a:ext>
            </a:extLst>
          </p:cNvPr>
          <p:cNvSpPr/>
          <p:nvPr/>
        </p:nvSpPr>
        <p:spPr>
          <a:xfrm>
            <a:off x="7916096" y="1520650"/>
            <a:ext cx="3209103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D9CFCE-92CE-2A13-8A75-9A230345C31F}"/>
              </a:ext>
            </a:extLst>
          </p:cNvPr>
          <p:cNvCxnSpPr>
            <a:cxnSpLocks/>
          </p:cNvCxnSpPr>
          <p:nvPr/>
        </p:nvCxnSpPr>
        <p:spPr>
          <a:xfrm>
            <a:off x="9065371" y="2131800"/>
            <a:ext cx="0" cy="95163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FA4368-6500-21E7-61F9-0F065E342276}"/>
                  </a:ext>
                </a:extLst>
              </p:cNvPr>
              <p:cNvSpPr txBox="1"/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FA4368-6500-21E7-61F9-0F065E342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blipFill>
                <a:blip r:embed="rId13"/>
                <a:stretch>
                  <a:fillRect l="-1852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DBE052-9DAD-0A56-0429-6488D4052B62}"/>
                  </a:ext>
                </a:extLst>
              </p:cNvPr>
              <p:cNvSpPr txBox="1"/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DBE052-9DAD-0A56-0429-6488D4052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blipFill>
                <a:blip r:embed="rId14"/>
                <a:stretch>
                  <a:fillRect l="-2778" r="-926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E11F28-D26C-8A11-D8E8-6C1397CC1EB7}"/>
                  </a:ext>
                </a:extLst>
              </p:cNvPr>
              <p:cNvSpPr txBox="1"/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E11F28-D26C-8A11-D8E8-6C1397CC1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blipFill>
                <a:blip r:embed="rId1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AD1EE-1D3A-1307-D390-EABE0F987C0B}"/>
                  </a:ext>
                </a:extLst>
              </p:cNvPr>
              <p:cNvSpPr txBox="1"/>
              <p:nvPr/>
            </p:nvSpPr>
            <p:spPr>
              <a:xfrm>
                <a:off x="8252889" y="3239131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AD1EE-1D3A-1307-D390-EABE0F987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2889" y="3239131"/>
                <a:ext cx="656402" cy="495905"/>
              </a:xfrm>
              <a:prstGeom prst="rect">
                <a:avLst/>
              </a:prstGeom>
              <a:blipFill>
                <a:blip r:embed="rId16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678F8B-A895-92E1-4A9A-E00AD278FDB9}"/>
                  </a:ext>
                </a:extLst>
              </p:cNvPr>
              <p:cNvSpPr txBox="1"/>
              <p:nvPr/>
            </p:nvSpPr>
            <p:spPr>
              <a:xfrm>
                <a:off x="9843746" y="3239130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678F8B-A895-92E1-4A9A-E00AD278F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3746" y="3239130"/>
                <a:ext cx="656402" cy="461665"/>
              </a:xfrm>
              <a:prstGeom prst="rect">
                <a:avLst/>
              </a:prstGeom>
              <a:blipFill>
                <a:blip r:embed="rId1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1A01717-C7B8-1C64-06CF-E786A7744F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9539" y="4301350"/>
            <a:ext cx="7881829" cy="2387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8E688C-BEA9-4B62-220B-4BDF29647AD9}"/>
                  </a:ext>
                </a:extLst>
              </p:cNvPr>
              <p:cNvSpPr txBox="1"/>
              <p:nvPr/>
            </p:nvSpPr>
            <p:spPr>
              <a:xfrm>
                <a:off x="2227851" y="262176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8E688C-BEA9-4B62-220B-4BDF29647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851" y="2621766"/>
                <a:ext cx="1006792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90172F-DF79-2923-D567-7652D11D0B17}"/>
                  </a:ext>
                </a:extLst>
              </p:cNvPr>
              <p:cNvSpPr txBox="1"/>
              <p:nvPr/>
            </p:nvSpPr>
            <p:spPr>
              <a:xfrm>
                <a:off x="129473" y="109308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90172F-DF79-2923-D567-7652D11D0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473" y="1093085"/>
                <a:ext cx="1006792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3C335D-442F-55E2-DF62-4236FA594F4E}"/>
                  </a:ext>
                </a:extLst>
              </p:cNvPr>
              <p:cNvSpPr txBox="1"/>
              <p:nvPr/>
            </p:nvSpPr>
            <p:spPr>
              <a:xfrm>
                <a:off x="130346" y="31843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3C335D-442F-55E2-DF62-4236FA594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46" y="3184315"/>
                <a:ext cx="1006792" cy="461665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D6F716-5C22-BECC-1F07-B1A32D36E7A8}"/>
              </a:ext>
            </a:extLst>
          </p:cNvPr>
          <p:cNvSpPr/>
          <p:nvPr/>
        </p:nvSpPr>
        <p:spPr>
          <a:xfrm>
            <a:off x="6361043" y="3239130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0C4211-D123-C0FF-491B-E24C64D14C5A}"/>
              </a:ext>
            </a:extLst>
          </p:cNvPr>
          <p:cNvSpPr/>
          <p:nvPr/>
        </p:nvSpPr>
        <p:spPr>
          <a:xfrm>
            <a:off x="7881220" y="3245487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6E2EB79-38E4-1C4A-3A2C-BD58DBF2901C}"/>
              </a:ext>
            </a:extLst>
          </p:cNvPr>
          <p:cNvSpPr/>
          <p:nvPr/>
        </p:nvSpPr>
        <p:spPr>
          <a:xfrm>
            <a:off x="9496166" y="3220500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02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DEA7BE3-3C70-8493-F32C-065982748F61}"/>
              </a:ext>
            </a:extLst>
          </p:cNvPr>
          <p:cNvSpPr/>
          <p:nvPr/>
        </p:nvSpPr>
        <p:spPr>
          <a:xfrm>
            <a:off x="0" y="4755791"/>
            <a:ext cx="4378223" cy="2102209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5A9E57-ED5D-6F58-A53C-99AC67D97065}"/>
              </a:ext>
            </a:extLst>
          </p:cNvPr>
          <p:cNvSpPr/>
          <p:nvPr/>
        </p:nvSpPr>
        <p:spPr>
          <a:xfrm>
            <a:off x="4318937" y="0"/>
            <a:ext cx="7873063" cy="6858000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992105A-8651-6F18-1366-572E1764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37" y="40061"/>
            <a:ext cx="6968602" cy="64869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2400" dirty="0"/>
              <a:t>Looking </a:t>
            </a:r>
            <a:r>
              <a:rPr lang="de-DE" sz="2400" dirty="0" err="1"/>
              <a:t>for</a:t>
            </a:r>
            <a:r>
              <a:rPr lang="de-DE" sz="2400" dirty="0"/>
              <a:t> 2-neuron NNs</a:t>
            </a:r>
            <a:endParaRPr lang="en-US" sz="2400" dirty="0"/>
          </a:p>
        </p:txBody>
      </p:sp>
      <p:pic>
        <p:nvPicPr>
          <p:cNvPr id="4" name="Picture 3" descr="A diagram of dna sequence&#10;&#10;AI-generated content may be incorrect.">
            <a:extLst>
              <a:ext uri="{FF2B5EF4-FFF2-40B4-BE49-F238E27FC236}">
                <a16:creationId xmlns:a16="http://schemas.microsoft.com/office/drawing/2014/main" id="{DF34A1A1-6B97-F25B-5A1B-335550813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70" y="694476"/>
            <a:ext cx="2916786" cy="309147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A9F3F39-6CA6-3182-0B58-4E9D877F5A99}"/>
              </a:ext>
            </a:extLst>
          </p:cNvPr>
          <p:cNvGrpSpPr/>
          <p:nvPr/>
        </p:nvGrpSpPr>
        <p:grpSpPr>
          <a:xfrm>
            <a:off x="317155" y="4819526"/>
            <a:ext cx="3616284" cy="1973197"/>
            <a:chOff x="431855" y="1391826"/>
            <a:chExt cx="3616284" cy="19731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/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0555464-F16C-EB99-75FE-9D375CDAA1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15417" y="1484012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DACA316-230D-D8CD-EF68-29B01C3EA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26847" y="295131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15BBFC4-0F99-2CC9-D561-7F255E117A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58467" y="225789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82803E-B556-906C-0FD9-FCE6FB1F606B}"/>
                </a:ext>
              </a:extLst>
            </p:cNvPr>
            <p:cNvCxnSpPr>
              <a:cxnSpLocks/>
              <a:stCxn id="18" idx="6"/>
              <a:endCxn id="19" idx="3"/>
            </p:cNvCxnSpPr>
            <p:nvPr/>
          </p:nvCxnSpPr>
          <p:spPr>
            <a:xfrm flipV="1">
              <a:off x="1692607" y="2570087"/>
              <a:ext cx="1219424" cy="564104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4BED61-5805-76F0-4414-6C51BCF23D50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1681177" y="1666892"/>
              <a:ext cx="1230854" cy="644563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A272A9-A1B9-1E11-A374-2E2BA93B23DE}"/>
                </a:ext>
              </a:extLst>
            </p:cNvPr>
            <p:cNvCxnSpPr>
              <a:cxnSpLocks/>
            </p:cNvCxnSpPr>
            <p:nvPr/>
          </p:nvCxnSpPr>
          <p:spPr>
            <a:xfrm>
              <a:off x="515317" y="166689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E69A336-30C0-D5CD-CA64-C0BCFB5DE8D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515317" y="3134191"/>
              <a:ext cx="81153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37C9D3C-7810-04DD-E4D9-BC6359EADF7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27" y="242508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/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/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/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/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/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/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/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D754F22-71D8-D172-4D3F-6B805B9827AD}"/>
              </a:ext>
            </a:extLst>
          </p:cNvPr>
          <p:cNvSpPr/>
          <p:nvPr/>
        </p:nvSpPr>
        <p:spPr>
          <a:xfrm>
            <a:off x="6271094" y="146148"/>
            <a:ext cx="834390" cy="4800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12611-33ED-ED51-7A02-90CB92F657A3}"/>
              </a:ext>
            </a:extLst>
          </p:cNvPr>
          <p:cNvSpPr/>
          <p:nvPr/>
        </p:nvSpPr>
        <p:spPr>
          <a:xfrm>
            <a:off x="7572233" y="1187122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86605-5CD3-7047-B93C-CC82CD3CB78A}"/>
              </a:ext>
            </a:extLst>
          </p:cNvPr>
          <p:cNvSpPr/>
          <p:nvPr/>
        </p:nvSpPr>
        <p:spPr>
          <a:xfrm>
            <a:off x="4378223" y="1459066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3F352-DC28-BBE8-BFFF-5717980948B8}"/>
              </a:ext>
            </a:extLst>
          </p:cNvPr>
          <p:cNvSpPr txBox="1"/>
          <p:nvPr/>
        </p:nvSpPr>
        <p:spPr>
          <a:xfrm>
            <a:off x="317155" y="3767558"/>
            <a:ext cx="369703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[1] B. Alberts, D. Bray, and K. Hopkin, Essential Cell Biology, 4th rev ed. edition. New York, NY: Norton &amp; Company, 2014.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D9D7A6-B451-8FB9-6D5C-3C8FA58C2C14}"/>
              </a:ext>
            </a:extLst>
          </p:cNvPr>
          <p:cNvSpPr/>
          <p:nvPr/>
        </p:nvSpPr>
        <p:spPr>
          <a:xfrm>
            <a:off x="4378223" y="3428493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C5CB2C-233B-907B-CC6E-94C22506141F}"/>
              </a:ext>
            </a:extLst>
          </p:cNvPr>
          <p:cNvSpPr/>
          <p:nvPr/>
        </p:nvSpPr>
        <p:spPr>
          <a:xfrm>
            <a:off x="5804452" y="5124657"/>
            <a:ext cx="1063073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CB3910-E14C-4E06-70EC-351B156D0C0F}"/>
              </a:ext>
            </a:extLst>
          </p:cNvPr>
          <p:cNvSpPr/>
          <p:nvPr/>
        </p:nvSpPr>
        <p:spPr>
          <a:xfrm>
            <a:off x="7217094" y="3144968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7F383E-3816-CD72-83A5-86862D555B1A}"/>
              </a:ext>
            </a:extLst>
          </p:cNvPr>
          <p:cNvSpPr/>
          <p:nvPr/>
        </p:nvSpPr>
        <p:spPr>
          <a:xfrm>
            <a:off x="4355895" y="5409802"/>
            <a:ext cx="1521029" cy="22175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1472</Words>
  <Application>Microsoft Office PowerPoint</Application>
  <PresentationFormat>Widescreen</PresentationFormat>
  <Paragraphs>328</Paragraphs>
  <Slides>15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Menlo</vt:lpstr>
      <vt:lpstr>Office Theme</vt:lpstr>
      <vt:lpstr>Associating Metabolic reactions with NN coefficients</vt:lpstr>
      <vt:lpstr>Concept</vt:lpstr>
      <vt:lpstr>Fundamentals of Flux Balance Analysis (FBA)</vt:lpstr>
      <vt:lpstr>Mapping a 2-neuron NN</vt:lpstr>
      <vt:lpstr>Step 1: Find the m4-like metabolites and the reactions r_2’s and r_3’s</vt:lpstr>
      <vt:lpstr>Step 1: Find the m4-like metabolites and the reactions r_2’s and r_3’s</vt:lpstr>
      <vt:lpstr>Step 2: Find reaction r_1- like</vt:lpstr>
      <vt:lpstr>Solutions</vt:lpstr>
      <vt:lpstr>Mapping with restrictions</vt:lpstr>
      <vt:lpstr>Mapping with restrictions</vt:lpstr>
      <vt:lpstr>Mapping with restrictions</vt:lpstr>
      <vt:lpstr>Enzymes</vt:lpstr>
      <vt:lpstr>THz-Induced Enzyme Unfolding Model</vt:lpstr>
      <vt:lpstr>Step 1: Looking for 2-neuron NNs</vt:lpstr>
      <vt:lpstr>Looking for 2-neuron NNs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19</cp:revision>
  <dcterms:created xsi:type="dcterms:W3CDTF">2025-12-24T00:00:45Z</dcterms:created>
  <dcterms:modified xsi:type="dcterms:W3CDTF">2026-02-27T17:56:25Z</dcterms:modified>
</cp:coreProperties>
</file>