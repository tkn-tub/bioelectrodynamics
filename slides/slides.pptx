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5" r:id="rId4"/>
    <p:sldId id="266" r:id="rId5"/>
    <p:sldId id="267" r:id="rId6"/>
    <p:sldId id="264" r:id="rId7"/>
    <p:sldId id="268" r:id="rId8"/>
    <p:sldId id="269" r:id="rId9"/>
    <p:sldId id="261" r:id="rId10"/>
    <p:sldId id="260" r:id="rId11"/>
    <p:sldId id="263" r:id="rId12"/>
    <p:sldId id="259" r:id="rId1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12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0313" autoAdjust="0"/>
  </p:normalViewPr>
  <p:slideViewPr>
    <p:cSldViewPr snapToGrid="0">
      <p:cViewPr>
        <p:scale>
          <a:sx n="66" d="100"/>
          <a:sy n="66" d="100"/>
        </p:scale>
        <p:origin x="1308" y="7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1A252C-87EA-4881-A10E-9E4CA26E6FE3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818A67-DE81-4BE5-A09A-01BC8A96D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45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8C523-BA59-612A-6488-2506B40A4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EB2B2A-B54B-A0E3-8C52-E1FF902921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9CD71D4-62D5-E625-3D10-708FEFCC061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9CD71D4-62D5-E625-3D10-708FEFCC061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EA91E3-E0D6-AEB7-CF9F-1322CB5188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6724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BEA9E-9443-C3AB-A8E5-EE997ACDD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9F2E51-D1D5-04FA-DBDA-045303106D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9C4C0D6-5DE8-B6D6-B365-B39BBCCEA248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9C4C0D6-5DE8-B6D6-B365-B39BBCCEA248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4A601F-F388-3C4D-9698-2BCC29B09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3982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A8CCB-0F89-5E6C-2B3A-F0B41842D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8DD812-1F22-A757-0517-006322AE5D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66BF823A-0A14-CA6A-4388-129C5A04365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66BF823A-0A14-CA6A-4388-129C5A04365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240BE0-4EFB-442F-35E3-FCBED9FC7F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135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821F6-12C9-547B-75B1-5C5F90C97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75459E-BC74-323B-C617-72532C415B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B6F0692A-8BF8-2144-03E5-5192C227B2F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B6F0692A-8BF8-2144-03E5-5192C227B2F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312563-413A-7AAD-D905-9B3D156943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900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E7C20-BBE2-FDB2-5DC8-D8F44D963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8E56B8-09EF-3D77-53D9-7BC66F86B4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EF3C47A7-494D-5C09-D262-FD2978AA833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EF3C47A7-494D-5C09-D262-FD2978AA833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372C31-FC2C-A3E8-0A41-B160BEC692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0199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2234B-9D30-E288-DD98-966E75B17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9F8EF-038B-3C3E-A0C3-9DE8710C6B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8AEE57BA-2CAF-A4D5-3C9B-F1A4D626CD0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8AEE57BA-2CAF-A4D5-3C9B-F1A4D626CD0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969D6-C267-71A3-B4D8-D3242C796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6606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05572-6063-7C16-16E8-29879B1D7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2EE637-7715-1373-4493-02CFD416B3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608074F7-E0BB-400B-67BA-E0BFC59D701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608074F7-E0BB-400B-67BA-E0BFC59D701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91765A-03B0-AFA3-CA95-6E32F3D7E6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259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8ED6A-528D-21D0-2C0F-A0C60DF9C7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008DCB-018B-A6F1-1277-1CAC357B62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E87D90-FE0E-4372-61FB-DDFADB610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389D3-00E4-38F2-194B-ED2EDD4D1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74827-CC80-912D-BC38-A4165701B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343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F8A52-7B86-E650-B4BA-EFCD7907E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C5CF6-29A3-4598-D49C-A46A50453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22CDA-23CA-086A-1D96-91C0DB0B3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667791-BA04-3D29-01C9-9DD0495F2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02C9B9-99A6-C647-899C-9056E5D7D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26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0D67C-D2BD-6C22-4377-9FEF654B1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A5D80F-75A6-3598-4E68-E5999C51A0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AAEA-83D8-13ED-A516-ED6E6683A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EC7DFD-EBF1-7BBD-4045-DE957302E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E62B48-4673-FA63-FF0D-581FF7B41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719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256D7-9C50-95BA-1C1E-175533430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2A9E6-0196-39CA-A6A7-9EEC5E27B2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266B31-FD5E-BD70-95EA-7AFCBA433C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6A1A7C-7C77-7A3C-7156-025F68643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6A2DDF-A703-BF06-26BE-698E04A58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DE0D02-E5FB-B36B-CA1E-3B232D499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357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8941C-88C3-BE7E-91C0-E5728E6A0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411BDA-73C5-01E3-9FBE-D40A9FF61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9FBA2A-4904-E59D-536D-1ACC4F9F6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A9E1A2-0A42-908A-727F-78A1688381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868B73-3D9B-01EE-EF36-44D4BD745D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52D3C0B-F09E-F2A6-C8D1-264F5C726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4A742E-FD1B-B0AC-4C46-F45D80FDF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9EAFDC-7EDC-D32C-0432-327ED4123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865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01EF4-5BEF-6CF9-4A99-A6745DEEA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FDFD67-D209-5B77-90DF-D33BC2AED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4AB956-7CF0-DE18-344B-F42C3605D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604B5E-CA0F-3B1F-C721-3733C0F1B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1039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C1F627-BDC1-B591-7B6C-353DCDBA9E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E64261-A347-10A7-0CCD-04C6BF6C0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E6310-4730-C623-FA58-9C7E8B840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891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16245-C2AD-0D05-019E-E06B11211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6198A-9777-1A27-9017-CDEEEB3968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7F819-7055-5529-7EAC-88CA9D3225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53E9AE-20ED-7DA0-BE49-2B5FD5147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6110F3-28B2-83AA-6275-B009D088E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E4810A-E75F-4318-1BD7-967A3485C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058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6C3CC-2C70-64C3-4A30-A609452F7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71D0AA-B494-D943-5E5B-8D36C3A5A7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E6E2EB-9196-D3D2-1B30-62DE10C01E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2F41B5-E24C-B47B-BB3D-972C8A3CB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824E9D-D378-8D22-DCF4-7F6532C01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C3E7FB-323F-F5EC-FA2F-A39210C86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5269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12707-53E3-2569-0E7A-1690F3F7F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9BC101-CAE8-2F23-9755-79948E997D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7C1A44-26ED-DB28-C428-DC0CFB329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524A06-DEB2-7015-6DD9-8B2A87C0B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3D3E3F-18AE-63E8-C6C8-276980A18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891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86E817-77FE-761F-64F3-B0C06C832A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4D9400-74DA-F591-439F-B3D8A373BA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69B40-D3C9-8620-5438-6240D96D9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2F794E-D081-69C8-CF71-EF1F6857F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93D011-AE60-4E59-4CAA-42D40456C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163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D89688-5212-ACD5-E266-9D477DBF1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3570B3-455B-D197-2087-591C574FCD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4EE478-5C66-582A-151D-23D0BC61FA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D7105C-A8E4-4519-9028-35FD188A98F2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A0986E-D2AE-68DE-FE62-ECFFCF15CB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D604D-E86B-1D60-E6C5-5BC1CDA4B9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956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png"/><Relationship Id="rId18" Type="http://schemas.openxmlformats.org/officeDocument/2006/relationships/image" Target="../media/image23.png"/><Relationship Id="rId26" Type="http://schemas.openxmlformats.org/officeDocument/2006/relationships/image" Target="../media/image31.png"/><Relationship Id="rId3" Type="http://schemas.openxmlformats.org/officeDocument/2006/relationships/image" Target="../media/image8.png"/><Relationship Id="rId21" Type="http://schemas.openxmlformats.org/officeDocument/2006/relationships/image" Target="../media/image26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17" Type="http://schemas.openxmlformats.org/officeDocument/2006/relationships/image" Target="../media/image22.png"/><Relationship Id="rId25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1.png"/><Relationship Id="rId20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24" Type="http://schemas.openxmlformats.org/officeDocument/2006/relationships/image" Target="../media/image29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23" Type="http://schemas.openxmlformats.org/officeDocument/2006/relationships/image" Target="../media/image28.png"/><Relationship Id="rId10" Type="http://schemas.openxmlformats.org/officeDocument/2006/relationships/image" Target="../media/image15.png"/><Relationship Id="rId19" Type="http://schemas.openxmlformats.org/officeDocument/2006/relationships/image" Target="../media/image24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Relationship Id="rId22" Type="http://schemas.openxmlformats.org/officeDocument/2006/relationships/image" Target="../media/image27.png"/><Relationship Id="rId27" Type="http://schemas.openxmlformats.org/officeDocument/2006/relationships/image" Target="../media/image3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17.png"/><Relationship Id="rId18" Type="http://schemas.openxmlformats.org/officeDocument/2006/relationships/image" Target="../media/image22.png"/><Relationship Id="rId26" Type="http://schemas.openxmlformats.org/officeDocument/2006/relationships/image" Target="../media/image30.png"/><Relationship Id="rId3" Type="http://schemas.openxmlformats.org/officeDocument/2006/relationships/image" Target="../media/image33.png"/><Relationship Id="rId21" Type="http://schemas.openxmlformats.org/officeDocument/2006/relationships/image" Target="../media/image25.png"/><Relationship Id="rId7" Type="http://schemas.openxmlformats.org/officeDocument/2006/relationships/image" Target="../media/image35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5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0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15.png"/><Relationship Id="rId24" Type="http://schemas.openxmlformats.org/officeDocument/2006/relationships/image" Target="../media/image28.png"/><Relationship Id="rId5" Type="http://schemas.openxmlformats.org/officeDocument/2006/relationships/image" Target="../media/image331.png"/><Relationship Id="rId15" Type="http://schemas.openxmlformats.org/officeDocument/2006/relationships/image" Target="../media/image19.png"/><Relationship Id="rId23" Type="http://schemas.openxmlformats.org/officeDocument/2006/relationships/image" Target="../media/image27.png"/><Relationship Id="rId28" Type="http://schemas.openxmlformats.org/officeDocument/2006/relationships/image" Target="../media/image32.png"/><Relationship Id="rId10" Type="http://schemas.openxmlformats.org/officeDocument/2006/relationships/image" Target="../media/image14.png"/><Relationship Id="rId19" Type="http://schemas.openxmlformats.org/officeDocument/2006/relationships/image" Target="../media/image23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Relationship Id="rId22" Type="http://schemas.openxmlformats.org/officeDocument/2006/relationships/image" Target="../media/image26.png"/><Relationship Id="rId27" Type="http://schemas.openxmlformats.org/officeDocument/2006/relationships/image" Target="../media/image3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7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5" Type="http://schemas.openxmlformats.org/officeDocument/2006/relationships/image" Target="../media/image33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3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52.png"/><Relationship Id="rId18" Type="http://schemas.openxmlformats.org/officeDocument/2006/relationships/image" Target="../media/image57.png"/><Relationship Id="rId26" Type="http://schemas.openxmlformats.org/officeDocument/2006/relationships/image" Target="../media/image61.png"/><Relationship Id="rId3" Type="http://schemas.openxmlformats.org/officeDocument/2006/relationships/image" Target="../media/image48.png"/><Relationship Id="rId21" Type="http://schemas.openxmlformats.org/officeDocument/2006/relationships/image" Target="../media/image261.png"/><Relationship Id="rId12" Type="http://schemas.openxmlformats.org/officeDocument/2006/relationships/image" Target="../media/image170.png"/><Relationship Id="rId17" Type="http://schemas.openxmlformats.org/officeDocument/2006/relationships/image" Target="../media/image56.png"/><Relationship Id="rId25" Type="http://schemas.openxmlformats.org/officeDocument/2006/relationships/image" Target="../media/image60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5.png"/><Relationship Id="rId20" Type="http://schemas.openxmlformats.org/officeDocument/2006/relationships/image" Target="../media/image25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60.png"/><Relationship Id="rId24" Type="http://schemas.openxmlformats.org/officeDocument/2006/relationships/image" Target="../media/image59.png"/><Relationship Id="rId15" Type="http://schemas.openxmlformats.org/officeDocument/2006/relationships/image" Target="../media/image54.png"/><Relationship Id="rId23" Type="http://schemas.openxmlformats.org/officeDocument/2006/relationships/image" Target="../media/image281.png"/><Relationship Id="rId10" Type="http://schemas.openxmlformats.org/officeDocument/2006/relationships/image" Target="../media/image150.png"/><Relationship Id="rId19" Type="http://schemas.openxmlformats.org/officeDocument/2006/relationships/image" Target="../media/image58.png"/><Relationship Id="rId4" Type="http://schemas.openxmlformats.org/officeDocument/2006/relationships/image" Target="../media/image810.png"/><Relationship Id="rId9" Type="http://schemas.openxmlformats.org/officeDocument/2006/relationships/image" Target="../media/image140.png"/><Relationship Id="rId14" Type="http://schemas.openxmlformats.org/officeDocument/2006/relationships/image" Target="../media/image53.png"/><Relationship Id="rId22" Type="http://schemas.openxmlformats.org/officeDocument/2006/relationships/image" Target="../media/image271.png"/><Relationship Id="rId27" Type="http://schemas.openxmlformats.org/officeDocument/2006/relationships/image" Target="../media/image6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13" Type="http://schemas.openxmlformats.org/officeDocument/2006/relationships/hyperlink" Target="https://enzyme.expasy.org/EC/3.1.2.2" TargetMode="External"/><Relationship Id="rId3" Type="http://schemas.openxmlformats.org/officeDocument/2006/relationships/image" Target="../media/image50.png"/><Relationship Id="rId7" Type="http://schemas.openxmlformats.org/officeDocument/2006/relationships/image" Target="../media/image65.png"/><Relationship Id="rId12" Type="http://schemas.openxmlformats.org/officeDocument/2006/relationships/image" Target="../media/image7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11" Type="http://schemas.openxmlformats.org/officeDocument/2006/relationships/image" Target="../media/image69.png"/><Relationship Id="rId5" Type="http://schemas.openxmlformats.org/officeDocument/2006/relationships/image" Target="../media/image63.png"/><Relationship Id="rId15" Type="http://schemas.openxmlformats.org/officeDocument/2006/relationships/hyperlink" Target="https://enzyme.expasy.org/EC/6.2.1.3" TargetMode="External"/><Relationship Id="rId10" Type="http://schemas.openxmlformats.org/officeDocument/2006/relationships/image" Target="../media/image68.png"/><Relationship Id="rId4" Type="http://schemas.openxmlformats.org/officeDocument/2006/relationships/image" Target="../media/image51.png"/><Relationship Id="rId9" Type="http://schemas.openxmlformats.org/officeDocument/2006/relationships/image" Target="../media/image67.png"/><Relationship Id="rId14" Type="http://schemas.openxmlformats.org/officeDocument/2006/relationships/hyperlink" Target="https://enzyme.expasy.org/EC/2.3.1.16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13" Type="http://schemas.openxmlformats.org/officeDocument/2006/relationships/image" Target="../media/image80.png"/><Relationship Id="rId3" Type="http://schemas.openxmlformats.org/officeDocument/2006/relationships/image" Target="../media/image50.svg"/><Relationship Id="rId7" Type="http://schemas.openxmlformats.org/officeDocument/2006/relationships/image" Target="../media/image74.png"/><Relationship Id="rId12" Type="http://schemas.openxmlformats.org/officeDocument/2006/relationships/image" Target="../media/image79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11" Type="http://schemas.openxmlformats.org/officeDocument/2006/relationships/image" Target="../media/image78.png"/><Relationship Id="rId5" Type="http://schemas.openxmlformats.org/officeDocument/2006/relationships/image" Target="../media/image72.png"/><Relationship Id="rId10" Type="http://schemas.openxmlformats.org/officeDocument/2006/relationships/image" Target="../media/image77.png"/><Relationship Id="rId4" Type="http://schemas.openxmlformats.org/officeDocument/2006/relationships/image" Target="../media/image71.png"/><Relationship Id="rId9" Type="http://schemas.openxmlformats.org/officeDocument/2006/relationships/image" Target="../media/image76.png"/><Relationship Id="rId14" Type="http://schemas.openxmlformats.org/officeDocument/2006/relationships/image" Target="../media/image8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0.png"/><Relationship Id="rId13" Type="http://schemas.openxmlformats.org/officeDocument/2006/relationships/hyperlink" Target="https://www.yeastgenome.org/locus/S000006135" TargetMode="External"/><Relationship Id="rId18" Type="http://schemas.openxmlformats.org/officeDocument/2006/relationships/hyperlink" Target="https://www.yeastgenome.org/locus/S000002238" TargetMode="External"/><Relationship Id="rId3" Type="http://schemas.openxmlformats.org/officeDocument/2006/relationships/image" Target="../media/image83.png"/><Relationship Id="rId21" Type="http://schemas.openxmlformats.org/officeDocument/2006/relationships/hyperlink" Target="https://www.yeastgenome.org/locus/S000005429" TargetMode="External"/><Relationship Id="rId7" Type="http://schemas.openxmlformats.org/officeDocument/2006/relationships/image" Target="../media/image700.png"/><Relationship Id="rId12" Type="http://schemas.openxmlformats.org/officeDocument/2006/relationships/image" Target="../media/image84.png"/><Relationship Id="rId17" Type="http://schemas.openxmlformats.org/officeDocument/2006/relationships/image" Target="../media/image86.png"/><Relationship Id="rId2" Type="http://schemas.openxmlformats.org/officeDocument/2006/relationships/image" Target="../media/image82.png"/><Relationship Id="rId16" Type="http://schemas.openxmlformats.org/officeDocument/2006/relationships/hyperlink" Target="https://www.yeastgenome.org/locus/S000000444" TargetMode="External"/><Relationship Id="rId20" Type="http://schemas.openxmlformats.org/officeDocument/2006/relationships/hyperlink" Target="https://www.yeastgenome.org/locus/S000002488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0.png"/><Relationship Id="rId11" Type="http://schemas.openxmlformats.org/officeDocument/2006/relationships/image" Target="../media/image740.png"/><Relationship Id="rId5" Type="http://schemas.openxmlformats.org/officeDocument/2006/relationships/image" Target="../media/image680.png"/><Relationship Id="rId15" Type="http://schemas.openxmlformats.org/officeDocument/2006/relationships/image" Target="../media/image85.png"/><Relationship Id="rId10" Type="http://schemas.openxmlformats.org/officeDocument/2006/relationships/image" Target="../media/image730.png"/><Relationship Id="rId19" Type="http://schemas.openxmlformats.org/officeDocument/2006/relationships/image" Target="../media/image87.png"/><Relationship Id="rId4" Type="http://schemas.openxmlformats.org/officeDocument/2006/relationships/image" Target="../media/image670.png"/><Relationship Id="rId9" Type="http://schemas.openxmlformats.org/officeDocument/2006/relationships/image" Target="../media/image720.png"/><Relationship Id="rId14" Type="http://schemas.openxmlformats.org/officeDocument/2006/relationships/hyperlink" Target="https://www.yeastgenome.org/locus/S000003376" TargetMode="External"/><Relationship Id="rId22" Type="http://schemas.openxmlformats.org/officeDocument/2006/relationships/hyperlink" Target="https://www.yeastgenome.org/locus/S000002200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13" Type="http://schemas.openxmlformats.org/officeDocument/2006/relationships/image" Target="../media/image89.png"/><Relationship Id="rId3" Type="http://schemas.openxmlformats.org/officeDocument/2006/relationships/image" Target="../media/image790.png"/><Relationship Id="rId7" Type="http://schemas.openxmlformats.org/officeDocument/2006/relationships/image" Target="../media/image830.png"/><Relationship Id="rId12" Type="http://schemas.openxmlformats.org/officeDocument/2006/relationships/image" Target="../media/image88.png"/><Relationship Id="rId2" Type="http://schemas.openxmlformats.org/officeDocument/2006/relationships/image" Target="../media/image7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0.png"/><Relationship Id="rId11" Type="http://schemas.openxmlformats.org/officeDocument/2006/relationships/hyperlink" Target="https://www.yeastgenome.org/locus/S000000444" TargetMode="External"/><Relationship Id="rId5" Type="http://schemas.openxmlformats.org/officeDocument/2006/relationships/image" Target="../media/image811.png"/><Relationship Id="rId10" Type="http://schemas.openxmlformats.org/officeDocument/2006/relationships/image" Target="../media/image860.png"/><Relationship Id="rId4" Type="http://schemas.openxmlformats.org/officeDocument/2006/relationships/image" Target="../media/image800.png"/><Relationship Id="rId9" Type="http://schemas.openxmlformats.org/officeDocument/2006/relationships/image" Target="../media/image85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0.png"/><Relationship Id="rId13" Type="http://schemas.openxmlformats.org/officeDocument/2006/relationships/image" Target="../media/image430.png"/><Relationship Id="rId18" Type="http://schemas.openxmlformats.org/officeDocument/2006/relationships/image" Target="../media/image90.png"/><Relationship Id="rId3" Type="http://schemas.openxmlformats.org/officeDocument/2006/relationships/image" Target="../media/image330.png"/><Relationship Id="rId21" Type="http://schemas.openxmlformats.org/officeDocument/2006/relationships/image" Target="../media/image510.png"/><Relationship Id="rId7" Type="http://schemas.openxmlformats.org/officeDocument/2006/relationships/image" Target="../media/image370.png"/><Relationship Id="rId12" Type="http://schemas.openxmlformats.org/officeDocument/2006/relationships/image" Target="../media/image420.png"/><Relationship Id="rId17" Type="http://schemas.openxmlformats.org/officeDocument/2006/relationships/image" Target="../media/image47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460.png"/><Relationship Id="rId20" Type="http://schemas.openxmlformats.org/officeDocument/2006/relationships/image" Target="../media/image5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0.png"/><Relationship Id="rId11" Type="http://schemas.openxmlformats.org/officeDocument/2006/relationships/image" Target="../media/image410.png"/><Relationship Id="rId5" Type="http://schemas.openxmlformats.org/officeDocument/2006/relationships/image" Target="../media/image350.png"/><Relationship Id="rId15" Type="http://schemas.openxmlformats.org/officeDocument/2006/relationships/image" Target="../media/image450.png"/><Relationship Id="rId10" Type="http://schemas.openxmlformats.org/officeDocument/2006/relationships/image" Target="../media/image400.png"/><Relationship Id="rId19" Type="http://schemas.openxmlformats.org/officeDocument/2006/relationships/image" Target="../media/image490.png"/><Relationship Id="rId4" Type="http://schemas.openxmlformats.org/officeDocument/2006/relationships/image" Target="../media/image340.png"/><Relationship Id="rId9" Type="http://schemas.openxmlformats.org/officeDocument/2006/relationships/image" Target="../media/image390.png"/><Relationship Id="rId14" Type="http://schemas.openxmlformats.org/officeDocument/2006/relationships/image" Target="../media/image44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3" Type="http://schemas.openxmlformats.org/officeDocument/2006/relationships/image" Target="../media/image91.png"/><Relationship Id="rId7" Type="http://schemas.openxmlformats.org/officeDocument/2006/relationships/image" Target="../media/image260.png"/><Relationship Id="rId12" Type="http://schemas.openxmlformats.org/officeDocument/2006/relationships/image" Target="../media/image3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11" Type="http://schemas.openxmlformats.org/officeDocument/2006/relationships/image" Target="../media/image300.png"/><Relationship Id="rId5" Type="http://schemas.openxmlformats.org/officeDocument/2006/relationships/image" Target="../media/image240.png"/><Relationship Id="rId10" Type="http://schemas.openxmlformats.org/officeDocument/2006/relationships/image" Target="../media/image290.png"/><Relationship Id="rId4" Type="http://schemas.openxmlformats.org/officeDocument/2006/relationships/image" Target="../media/image84.png"/><Relationship Id="rId9" Type="http://schemas.openxmlformats.org/officeDocument/2006/relationships/image" Target="../media/image2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DE442D-7110-890C-5FBC-26F86DE6B4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Associating Metabolic reactions with NN coefficients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56A585-3973-D13F-5415-F2866F0653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193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6E8A0-8921-3D2F-250D-F3FA243A8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14" y="39121"/>
            <a:ext cx="7946912" cy="505057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Fundamentals of Flux Balance Analysis (FBA)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BF14008-41FF-F6D7-E4F7-2799D75CD7FA}"/>
                  </a:ext>
                </a:extLst>
              </p:cNvPr>
              <p:cNvSpPr txBox="1"/>
              <p:nvPr/>
            </p:nvSpPr>
            <p:spPr>
              <a:xfrm>
                <a:off x="1080135" y="2255153"/>
                <a:ext cx="6193747" cy="11738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mets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 × </m:t>
                          </m:r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rxns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rxn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mets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mets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rxns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ij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BF14008-41FF-F6D7-E4F7-2799D75CD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135" y="2255153"/>
                <a:ext cx="6193747" cy="117384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456374-FDEE-A362-D5F3-F808DA76EF0C}"/>
                  </a:ext>
                </a:extLst>
              </p:cNvPr>
              <p:cNvSpPr txBox="1"/>
              <p:nvPr/>
            </p:nvSpPr>
            <p:spPr>
              <a:xfrm>
                <a:off x="1224369" y="879647"/>
                <a:ext cx="3008068" cy="902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456374-FDEE-A362-D5F3-F808DA76EF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4369" y="879647"/>
                <a:ext cx="3008068" cy="9026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1A200DA-0BBD-DB00-CDE0-8F931B0E402D}"/>
                  </a:ext>
                </a:extLst>
              </p:cNvPr>
              <p:cNvSpPr txBox="1"/>
              <p:nvPr/>
            </p:nvSpPr>
            <p:spPr>
              <a:xfrm>
                <a:off x="1060401" y="4078841"/>
                <a:ext cx="1465529" cy="3831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rxns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1A200DA-0BBD-DB00-CDE0-8F931B0E4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401" y="4078841"/>
                <a:ext cx="1465529" cy="383118"/>
              </a:xfrm>
              <a:prstGeom prst="rect">
                <a:avLst/>
              </a:prstGeom>
              <a:blipFill>
                <a:blip r:embed="rId4"/>
                <a:stretch>
                  <a:fillRect l="-2917" t="-6349" r="-4167" b="-6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3207A3C-72EB-9DDE-DBB2-CB818B0955EE}"/>
                  </a:ext>
                </a:extLst>
              </p:cNvPr>
              <p:cNvSpPr txBox="1"/>
              <p:nvPr/>
            </p:nvSpPr>
            <p:spPr>
              <a:xfrm>
                <a:off x="437659" y="4581557"/>
                <a:ext cx="4051045" cy="2169825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2400" dirty="0"/>
                  <a:t>Example:</a:t>
                </a: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2400" dirty="0"/>
                  <a:t>Reaction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+2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=1, 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=2,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3207A3C-72EB-9DDE-DBB2-CB818B095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659" y="4581557"/>
                <a:ext cx="4051045" cy="2169825"/>
              </a:xfrm>
              <a:prstGeom prst="rect">
                <a:avLst/>
              </a:prstGeom>
              <a:blipFill>
                <a:blip r:embed="rId5"/>
                <a:stretch>
                  <a:fillRect l="-2252" t="-1955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FF60AEA-AA81-B8C9-A46C-E81B7A4EA681}"/>
              </a:ext>
            </a:extLst>
          </p:cNvPr>
          <p:cNvSpPr txBox="1"/>
          <p:nvPr/>
        </p:nvSpPr>
        <p:spPr>
          <a:xfrm>
            <a:off x="40005" y="1790046"/>
            <a:ext cx="33661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 err="1"/>
              <a:t>Stoichiometric</a:t>
            </a:r>
            <a:r>
              <a:rPr lang="es-ES" sz="2400" dirty="0"/>
              <a:t> </a:t>
            </a:r>
            <a:r>
              <a:rPr lang="es-ES" sz="2400" dirty="0" err="1"/>
              <a:t>matrix</a:t>
            </a:r>
            <a:r>
              <a:rPr lang="es-ES" sz="2400" dirty="0"/>
              <a:t>: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D79C30-D3BD-4797-6901-C28E17A72661}"/>
              </a:ext>
            </a:extLst>
          </p:cNvPr>
          <p:cNvSpPr txBox="1"/>
          <p:nvPr/>
        </p:nvSpPr>
        <p:spPr>
          <a:xfrm>
            <a:off x="394335" y="3497579"/>
            <a:ext cx="33661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 err="1"/>
              <a:t>Reaction</a:t>
            </a:r>
            <a:r>
              <a:rPr lang="es-ES" sz="2400" dirty="0"/>
              <a:t> flux:</a:t>
            </a:r>
            <a:endParaRPr lang="en-US" sz="2400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7AEA3AF-2383-F6D2-381F-511EE6A9EE8F}"/>
              </a:ext>
            </a:extLst>
          </p:cNvPr>
          <p:cNvSpPr/>
          <p:nvPr/>
        </p:nvSpPr>
        <p:spPr>
          <a:xfrm>
            <a:off x="3051810" y="2160270"/>
            <a:ext cx="937260" cy="142875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66B81DF-2D8A-897E-2C2D-E4AB1CB04296}"/>
              </a:ext>
            </a:extLst>
          </p:cNvPr>
          <p:cNvCxnSpPr/>
          <p:nvPr/>
        </p:nvCxnSpPr>
        <p:spPr>
          <a:xfrm flipH="1">
            <a:off x="3188970" y="3589020"/>
            <a:ext cx="377190" cy="99253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4DD06265-4B5C-C202-69BB-920154DB7577}"/>
              </a:ext>
            </a:extLst>
          </p:cNvPr>
          <p:cNvSpPr txBox="1"/>
          <p:nvPr/>
        </p:nvSpPr>
        <p:spPr>
          <a:xfrm>
            <a:off x="4488704" y="1017001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(1)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97C39CE-6929-E03F-1BBA-0F8ECFA9D038}"/>
              </a:ext>
            </a:extLst>
          </p:cNvPr>
          <p:cNvSpPr txBox="1"/>
          <p:nvPr/>
        </p:nvSpPr>
        <p:spPr>
          <a:xfrm>
            <a:off x="7604290" y="2611243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(3)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F46A66-BC2D-14F0-3AE4-49478E4ADFF4}"/>
              </a:ext>
            </a:extLst>
          </p:cNvPr>
          <p:cNvSpPr txBox="1"/>
          <p:nvPr/>
        </p:nvSpPr>
        <p:spPr>
          <a:xfrm>
            <a:off x="2602508" y="4039567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(4)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815B944-0F82-4E67-C9F9-90816535C656}"/>
                  </a:ext>
                </a:extLst>
              </p:cNvPr>
              <p:cNvSpPr txBox="1"/>
              <p:nvPr/>
            </p:nvSpPr>
            <p:spPr>
              <a:xfrm>
                <a:off x="6389611" y="670542"/>
                <a:ext cx="1379352" cy="13899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2400" dirty="0" err="1"/>
                  <a:t>s.t.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𝑆𝑣</m:t>
                    </m:r>
                    <m:r>
                      <a:rPr lang="de-DE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815B944-0F82-4E67-C9F9-90816535C6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9611" y="670542"/>
                <a:ext cx="1379352" cy="1389932"/>
              </a:xfrm>
              <a:prstGeom prst="rect">
                <a:avLst/>
              </a:prstGeom>
              <a:blipFill>
                <a:blip r:embed="rId6"/>
                <a:stretch>
                  <a:fillRect l="-13274" r="-70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82D8FF4-0E78-2448-3926-F61ED88FE002}"/>
                  </a:ext>
                </a:extLst>
              </p:cNvPr>
              <p:cNvSpPr txBox="1"/>
              <p:nvPr/>
            </p:nvSpPr>
            <p:spPr>
              <a:xfrm>
                <a:off x="5279017" y="1109334"/>
                <a:ext cx="42479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82D8FF4-0E78-2448-3926-F61ED88FE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9017" y="1109334"/>
                <a:ext cx="424796" cy="369332"/>
              </a:xfrm>
              <a:prstGeom prst="rect">
                <a:avLst/>
              </a:prstGeom>
              <a:blipFill>
                <a:blip r:embed="rId7"/>
                <a:stretch>
                  <a:fillRect l="-14286" r="-1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TextBox 51">
            <a:extLst>
              <a:ext uri="{FF2B5EF4-FFF2-40B4-BE49-F238E27FC236}">
                <a16:creationId xmlns:a16="http://schemas.microsoft.com/office/drawing/2014/main" id="{1D13D8E6-6E97-57F0-C182-1AD6EE0324A5}"/>
              </a:ext>
            </a:extLst>
          </p:cNvPr>
          <p:cNvSpPr txBox="1"/>
          <p:nvPr/>
        </p:nvSpPr>
        <p:spPr>
          <a:xfrm>
            <a:off x="8133602" y="964109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(2)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51A3F9-7DF3-0288-5EC2-2581B8F3C17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11042" y="3187220"/>
            <a:ext cx="4692769" cy="3519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62180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35B73-55AC-8E01-1ED3-C73D7EE85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81">
            <a:extLst>
              <a:ext uri="{FF2B5EF4-FFF2-40B4-BE49-F238E27FC236}">
                <a16:creationId xmlns:a16="http://schemas.microsoft.com/office/drawing/2014/main" id="{344E7301-193C-BD3D-28BD-4E2E36DFD83A}"/>
              </a:ext>
            </a:extLst>
          </p:cNvPr>
          <p:cNvSpPr/>
          <p:nvPr/>
        </p:nvSpPr>
        <p:spPr>
          <a:xfrm>
            <a:off x="288234" y="1291167"/>
            <a:ext cx="5605669" cy="28605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DE2198-E1D0-A4E4-C59D-D9EEA378A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39" y="170815"/>
            <a:ext cx="7173785" cy="720725"/>
          </a:xfrm>
        </p:spPr>
        <p:txBody>
          <a:bodyPr>
            <a:normAutofit/>
          </a:bodyPr>
          <a:lstStyle/>
          <a:p>
            <a:r>
              <a:rPr lang="de-DE" sz="3600" dirty="0"/>
              <a:t>Mapping a 2-neuron NN</a:t>
            </a:r>
            <a:endParaRPr lang="en-US" sz="360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AD572CE-A56D-7BEC-26DD-3712AB1ED0AB}"/>
              </a:ext>
            </a:extLst>
          </p:cNvPr>
          <p:cNvSpPr>
            <a:spLocks noChangeAspect="1"/>
          </p:cNvSpPr>
          <p:nvPr/>
        </p:nvSpPr>
        <p:spPr>
          <a:xfrm>
            <a:off x="2974080" y="1340627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CE5EF8C-876B-C050-C454-5E8610EAE629}"/>
              </a:ext>
            </a:extLst>
          </p:cNvPr>
          <p:cNvSpPr>
            <a:spLocks noChangeAspect="1"/>
          </p:cNvSpPr>
          <p:nvPr/>
        </p:nvSpPr>
        <p:spPr>
          <a:xfrm>
            <a:off x="2985510" y="354321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7043DCA-A170-7D8A-92D6-EB08209CAED3}"/>
              </a:ext>
            </a:extLst>
          </p:cNvPr>
          <p:cNvCxnSpPr>
            <a:cxnSpLocks/>
            <a:stCxn id="18" idx="6"/>
            <a:endCxn id="50" idx="3"/>
          </p:cNvCxnSpPr>
          <p:nvPr/>
        </p:nvCxnSpPr>
        <p:spPr>
          <a:xfrm flipV="1">
            <a:off x="3468313" y="2844987"/>
            <a:ext cx="1208754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9A11C32-2C3B-710A-82EE-5FFED132C917}"/>
              </a:ext>
            </a:extLst>
          </p:cNvPr>
          <p:cNvCxnSpPr>
            <a:cxnSpLocks/>
            <a:stCxn id="17" idx="6"/>
            <a:endCxn id="50" idx="1"/>
          </p:cNvCxnSpPr>
          <p:nvPr/>
        </p:nvCxnSpPr>
        <p:spPr>
          <a:xfrm>
            <a:off x="3456883" y="1582029"/>
            <a:ext cx="1220184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04C190E-F055-2DA9-4424-49915440218D}"/>
                  </a:ext>
                </a:extLst>
              </p:cNvPr>
              <p:cNvSpPr txBox="1"/>
              <p:nvPr/>
            </p:nvSpPr>
            <p:spPr>
              <a:xfrm>
                <a:off x="3824334" y="1455840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04C190E-F055-2DA9-4424-4991544021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4334" y="1455840"/>
                <a:ext cx="1006792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3DA95ED-FD71-C551-CFB7-FA56838D6B80}"/>
                  </a:ext>
                </a:extLst>
              </p:cNvPr>
              <p:cNvSpPr txBox="1"/>
              <p:nvPr/>
            </p:nvSpPr>
            <p:spPr>
              <a:xfrm>
                <a:off x="5726911" y="5738296"/>
                <a:ext cx="6271260" cy="491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[0, 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𝑚𝑖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&gt;0,⋯,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&gt;0,⋯,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𝑚𝑘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&lt;0,⋯,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3DA95ED-FD71-C551-CFB7-FA56838D6B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6911" y="5738296"/>
                <a:ext cx="6271260" cy="491417"/>
              </a:xfrm>
              <a:prstGeom prst="rect">
                <a:avLst/>
              </a:prstGeom>
              <a:blipFill>
                <a:blip r:embed="rId4"/>
                <a:stretch>
                  <a:fillRect l="-777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674176D-BA11-AB6E-4DF2-B60D8C509196}"/>
              </a:ext>
            </a:extLst>
          </p:cNvPr>
          <p:cNvSpPr/>
          <p:nvPr/>
        </p:nvSpPr>
        <p:spPr>
          <a:xfrm>
            <a:off x="8898604" y="1817175"/>
            <a:ext cx="643622" cy="2474575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D6A3EA8-AFC3-BDC6-C3CA-DDC9A69455A7}"/>
                  </a:ext>
                </a:extLst>
              </p:cNvPr>
              <p:cNvSpPr txBox="1"/>
              <p:nvPr/>
            </p:nvSpPr>
            <p:spPr>
              <a:xfrm>
                <a:off x="6739921" y="5265341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D6A3EA8-AFC3-BDC6-C3CA-DDC9A69455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9921" y="5265341"/>
                <a:ext cx="656402" cy="461665"/>
              </a:xfrm>
              <a:prstGeom prst="rect">
                <a:avLst/>
              </a:prstGeom>
              <a:blipFill>
                <a:blip r:embed="rId5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0C3A4C1-B43C-3A8F-DAD4-B81EC011E844}"/>
                  </a:ext>
                </a:extLst>
              </p:cNvPr>
              <p:cNvSpPr txBox="1"/>
              <p:nvPr/>
            </p:nvSpPr>
            <p:spPr>
              <a:xfrm>
                <a:off x="8173377" y="5246835"/>
                <a:ext cx="656402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0C3A4C1-B43C-3A8F-DAD4-B81EC011E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3377" y="5246835"/>
                <a:ext cx="656402" cy="495905"/>
              </a:xfrm>
              <a:prstGeom prst="rect">
                <a:avLst/>
              </a:prstGeom>
              <a:blipFill>
                <a:blip r:embed="rId6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9A0B6DE-E530-A42C-8A38-DF8D7EA54001}"/>
                  </a:ext>
                </a:extLst>
              </p:cNvPr>
              <p:cNvSpPr txBox="1"/>
              <p:nvPr/>
            </p:nvSpPr>
            <p:spPr>
              <a:xfrm>
                <a:off x="9625088" y="5246834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9A0B6DE-E530-A42C-8A38-DF8D7EA540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5088" y="5246834"/>
                <a:ext cx="656402" cy="461665"/>
              </a:xfrm>
              <a:prstGeom prst="rect">
                <a:avLst/>
              </a:prstGeom>
              <a:blipFill>
                <a:blip r:embed="rId7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453E609-3D57-9700-2569-398FB7DB8F24}"/>
                  </a:ext>
                </a:extLst>
              </p:cNvPr>
              <p:cNvSpPr txBox="1"/>
              <p:nvPr/>
            </p:nvSpPr>
            <p:spPr>
              <a:xfrm>
                <a:off x="3892920" y="325461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453E609-3D57-9700-2569-398FB7DB8F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2920" y="3254615"/>
                <a:ext cx="1006792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1D1864-3B62-A1F1-50B2-9AEF22FC284C}"/>
                  </a:ext>
                </a:extLst>
              </p:cNvPr>
              <p:cNvSpPr txBox="1"/>
              <p:nvPr/>
            </p:nvSpPr>
            <p:spPr>
              <a:xfrm>
                <a:off x="1511725" y="141449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1D1864-3B62-A1F1-50B2-9AEF22FC28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725" y="1414495"/>
                <a:ext cx="1006792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69926AD-15AB-B5A5-8910-1EDAD6C61D3A}"/>
                  </a:ext>
                </a:extLst>
              </p:cNvPr>
              <p:cNvSpPr txBox="1"/>
              <p:nvPr/>
            </p:nvSpPr>
            <p:spPr>
              <a:xfrm>
                <a:off x="1552507" y="3258379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69926AD-15AB-B5A5-8910-1EDAD6C61D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2507" y="3258379"/>
                <a:ext cx="1006792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8CEBB55A-002F-3AF6-FC90-78457E0BCAD5}"/>
              </a:ext>
            </a:extLst>
          </p:cNvPr>
          <p:cNvSpPr>
            <a:spLocks noChangeAspect="1"/>
          </p:cNvSpPr>
          <p:nvPr/>
        </p:nvSpPr>
        <p:spPr>
          <a:xfrm>
            <a:off x="1152586" y="243288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54DA878-87CA-2E37-254E-C165A227A3E4}"/>
              </a:ext>
            </a:extLst>
          </p:cNvPr>
          <p:cNvCxnSpPr>
            <a:cxnSpLocks/>
            <a:stCxn id="16" idx="7"/>
            <a:endCxn id="17" idx="2"/>
          </p:cNvCxnSpPr>
          <p:nvPr/>
        </p:nvCxnSpPr>
        <p:spPr>
          <a:xfrm flipV="1">
            <a:off x="1564684" y="1582029"/>
            <a:ext cx="1409396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6819AE3-1B6C-207B-7D29-109D314F2055}"/>
                  </a:ext>
                </a:extLst>
              </p:cNvPr>
              <p:cNvSpPr txBox="1"/>
              <p:nvPr/>
            </p:nvSpPr>
            <p:spPr>
              <a:xfrm>
                <a:off x="412353" y="2202056"/>
                <a:ext cx="6427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6819AE3-1B6C-207B-7D29-109D314F20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353" y="2202056"/>
                <a:ext cx="642780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C852FFF-1C2E-D3CC-CE82-E19744FCE3FD}"/>
              </a:ext>
            </a:extLst>
          </p:cNvPr>
          <p:cNvCxnSpPr>
            <a:cxnSpLocks/>
          </p:cNvCxnSpPr>
          <p:nvPr/>
        </p:nvCxnSpPr>
        <p:spPr>
          <a:xfrm>
            <a:off x="477603" y="2663721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159E6C1-F006-07CC-BEDF-1C45F3D3B18C}"/>
              </a:ext>
            </a:extLst>
          </p:cNvPr>
          <p:cNvCxnSpPr>
            <a:cxnSpLocks/>
            <a:stCxn id="16" idx="5"/>
            <a:endCxn id="18" idx="2"/>
          </p:cNvCxnSpPr>
          <p:nvPr/>
        </p:nvCxnSpPr>
        <p:spPr>
          <a:xfrm>
            <a:off x="1564684" y="2844987"/>
            <a:ext cx="1420826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2E11E157-73F2-D296-9357-E32ABAC19064}"/>
              </a:ext>
            </a:extLst>
          </p:cNvPr>
          <p:cNvSpPr>
            <a:spLocks noChangeAspect="1"/>
          </p:cNvSpPr>
          <p:nvPr/>
        </p:nvSpPr>
        <p:spPr>
          <a:xfrm>
            <a:off x="4606362" y="243288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9766C55-D9E8-7F85-845B-0D85F04C9BD7}"/>
              </a:ext>
            </a:extLst>
          </p:cNvPr>
          <p:cNvCxnSpPr>
            <a:cxnSpLocks/>
          </p:cNvCxnSpPr>
          <p:nvPr/>
        </p:nvCxnSpPr>
        <p:spPr>
          <a:xfrm>
            <a:off x="5089165" y="2674290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46419B0-71FB-BBDF-C6AD-4F442982736E}"/>
                  </a:ext>
                </a:extLst>
              </p:cNvPr>
              <p:cNvSpPr txBox="1"/>
              <p:nvPr/>
            </p:nvSpPr>
            <p:spPr>
              <a:xfrm>
                <a:off x="4916075" y="2041929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46419B0-71FB-BBDF-C6AD-4F44298273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6075" y="2041929"/>
                <a:ext cx="1006792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1B5085B-DF5A-ED51-D8C2-1A09E6662B51}"/>
                  </a:ext>
                </a:extLst>
              </p:cNvPr>
              <p:cNvSpPr txBox="1"/>
              <p:nvPr/>
            </p:nvSpPr>
            <p:spPr>
              <a:xfrm>
                <a:off x="7529739" y="2304148"/>
                <a:ext cx="3412601" cy="20355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24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de-DE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/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  <m:e/>
                                    <m:e/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de-DE" sz="28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de-DE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  <m:e/>
                                    <m:e/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de-DE" sz="28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</m:e>
                                  </m:mr>
                                  <m:mr>
                                    <m:e/>
                                  </m:mr>
                                  <m:mr>
                                    <m:e/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</m:mr>
                                  <m:mr>
                                    <m:e>
                                      <m:r>
                                        <a:rPr lang="de-DE" sz="28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</m:e>
                                  </m:mr>
                                  <m:mr>
                                    <m:e/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a:rPr lang="de-DE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de-DE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</m:e>
                                        </m:mr>
                                        <m:mr>
                                          <m:e/>
                                        </m:mr>
                                      </m:m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</m:mr>
                                        <m:mr>
                                          <m:e>
                                            <m:r>
                                              <a:rPr lang="de-DE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de-DE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</m:e>
                                        </m:mr>
                                      </m:m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</m:mr>
                                        <m:mr>
                                          <m:e/>
                                        </m:mr>
                                        <m:mr>
                                          <m:e/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1B5085B-DF5A-ED51-D8C2-1A09E6662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9739" y="2304148"/>
                <a:ext cx="3412601" cy="203555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0A903E1C-C403-CC13-3B91-EB6C50F8C55F}"/>
                  </a:ext>
                </a:extLst>
              </p:cNvPr>
              <p:cNvSpPr txBox="1"/>
              <p:nvPr/>
            </p:nvSpPr>
            <p:spPr>
              <a:xfrm>
                <a:off x="7637736" y="1891989"/>
                <a:ext cx="31008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0A903E1C-C403-CC13-3B91-EB6C50F8C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736" y="1891989"/>
                <a:ext cx="310085" cy="369332"/>
              </a:xfrm>
              <a:prstGeom prst="rect">
                <a:avLst/>
              </a:prstGeom>
              <a:blipFill>
                <a:blip r:embed="rId14"/>
                <a:stretch>
                  <a:fillRect l="-15686" r="-9804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DA01F633-FA9D-13F2-3C39-5D40530DE92C}"/>
                  </a:ext>
                </a:extLst>
              </p:cNvPr>
              <p:cNvSpPr txBox="1"/>
              <p:nvPr/>
            </p:nvSpPr>
            <p:spPr>
              <a:xfrm>
                <a:off x="8346216" y="1847890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DA01F633-FA9D-13F2-3C39-5D40530DE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6216" y="1847890"/>
                <a:ext cx="317202" cy="369332"/>
              </a:xfrm>
              <a:prstGeom prst="rect">
                <a:avLst/>
              </a:prstGeom>
              <a:blipFill>
                <a:blip r:embed="rId15"/>
                <a:stretch>
                  <a:fillRect l="-13462" r="-961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6351346E-8CC8-3D3F-88BF-B1CFD3E331A8}"/>
                  </a:ext>
                </a:extLst>
              </p:cNvPr>
              <p:cNvSpPr txBox="1"/>
              <p:nvPr/>
            </p:nvSpPr>
            <p:spPr>
              <a:xfrm>
                <a:off x="9061814" y="1847890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6351346E-8CC8-3D3F-88BF-B1CFD3E33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1814" y="1847890"/>
                <a:ext cx="317202" cy="369332"/>
              </a:xfrm>
              <a:prstGeom prst="rect">
                <a:avLst/>
              </a:prstGeom>
              <a:blipFill>
                <a:blip r:embed="rId16"/>
                <a:stretch>
                  <a:fillRect l="-15385" r="-961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E4A9EADD-0BD0-234E-13AC-F199711611B9}"/>
                  </a:ext>
                </a:extLst>
              </p:cNvPr>
              <p:cNvSpPr txBox="1"/>
              <p:nvPr/>
            </p:nvSpPr>
            <p:spPr>
              <a:xfrm>
                <a:off x="9793538" y="1847890"/>
                <a:ext cx="30405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E4A9EADD-0BD0-234E-13AC-F199711611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3538" y="1847890"/>
                <a:ext cx="304058" cy="369332"/>
              </a:xfrm>
              <a:prstGeom prst="rect">
                <a:avLst/>
              </a:prstGeom>
              <a:blipFill>
                <a:blip r:embed="rId17"/>
                <a:stretch>
                  <a:fillRect l="-16327" r="-1224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43B2749-7FBD-AB33-D51B-98E9605D8B2B}"/>
                  </a:ext>
                </a:extLst>
              </p:cNvPr>
              <p:cNvSpPr txBox="1"/>
              <p:nvPr/>
            </p:nvSpPr>
            <p:spPr>
              <a:xfrm>
                <a:off x="10425905" y="1863199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43B2749-7FBD-AB33-D51B-98E9605D8B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25905" y="1863199"/>
                <a:ext cx="317202" cy="369332"/>
              </a:xfrm>
              <a:prstGeom prst="rect">
                <a:avLst/>
              </a:prstGeom>
              <a:blipFill>
                <a:blip r:embed="rId18"/>
                <a:stretch>
                  <a:fillRect l="-13462" r="-11538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ACA421F4-37D8-7EB7-4C1D-296F468E0CD5}"/>
                  </a:ext>
                </a:extLst>
              </p:cNvPr>
              <p:cNvSpPr txBox="1"/>
              <p:nvPr/>
            </p:nvSpPr>
            <p:spPr>
              <a:xfrm>
                <a:off x="7013000" y="2159888"/>
                <a:ext cx="4544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ACA421F4-37D8-7EB7-4C1D-296F468E0C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3000" y="2159888"/>
                <a:ext cx="454483" cy="369332"/>
              </a:xfrm>
              <a:prstGeom prst="rect">
                <a:avLst/>
              </a:prstGeom>
              <a:blipFill>
                <a:blip r:embed="rId19"/>
                <a:stretch>
                  <a:fillRect l="-9333" r="-5333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2122DEFC-EC99-CBF4-77D9-9E35FB70CC85}"/>
                  </a:ext>
                </a:extLst>
              </p:cNvPr>
              <p:cNvSpPr txBox="1"/>
              <p:nvPr/>
            </p:nvSpPr>
            <p:spPr>
              <a:xfrm>
                <a:off x="4596414" y="2408689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2122DEFC-EC99-CBF4-77D9-9E35FB70CC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6414" y="2408689"/>
                <a:ext cx="527465" cy="46166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EEEF93A9-BB51-6C0D-3333-19B73DDECF1D}"/>
                  </a:ext>
                </a:extLst>
              </p:cNvPr>
              <p:cNvSpPr txBox="1"/>
              <p:nvPr/>
            </p:nvSpPr>
            <p:spPr>
              <a:xfrm>
                <a:off x="2897863" y="1302222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EEEF93A9-BB51-6C0D-3333-19B73DDEC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7863" y="1302222"/>
                <a:ext cx="656402" cy="46166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401F8F8E-5A57-0616-C24D-4E2CB96B4EC6}"/>
                  </a:ext>
                </a:extLst>
              </p:cNvPr>
              <p:cNvSpPr txBox="1"/>
              <p:nvPr/>
            </p:nvSpPr>
            <p:spPr>
              <a:xfrm>
                <a:off x="2984414" y="3517908"/>
                <a:ext cx="4956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401F8F8E-5A57-0616-C24D-4E2CB96B4E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414" y="3517908"/>
                <a:ext cx="495606" cy="46166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30F7BBBC-AF92-9D91-8F93-9B4D246B009B}"/>
                  </a:ext>
                </a:extLst>
              </p:cNvPr>
              <p:cNvSpPr txBox="1"/>
              <p:nvPr/>
            </p:nvSpPr>
            <p:spPr>
              <a:xfrm>
                <a:off x="1152854" y="2406979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30F7BBBC-AF92-9D91-8F93-9B4D246B00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854" y="2406979"/>
                <a:ext cx="527465" cy="46166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DD0F793F-B90B-7DD8-EF27-A1D1D57E5F2E}"/>
                  </a:ext>
                </a:extLst>
              </p:cNvPr>
              <p:cNvSpPr txBox="1"/>
              <p:nvPr/>
            </p:nvSpPr>
            <p:spPr>
              <a:xfrm>
                <a:off x="7013000" y="2690304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DD0F793F-B90B-7DD8-EF27-A1D1D57E5F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3000" y="2690304"/>
                <a:ext cx="461601" cy="369332"/>
              </a:xfrm>
              <a:prstGeom prst="rect">
                <a:avLst/>
              </a:prstGeom>
              <a:blipFill>
                <a:blip r:embed="rId24"/>
                <a:stretch>
                  <a:fillRect l="-9211" r="-5263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B53FBE4A-ABE9-0778-C597-692AE49F525F}"/>
                  </a:ext>
                </a:extLst>
              </p:cNvPr>
              <p:cNvSpPr txBox="1"/>
              <p:nvPr/>
            </p:nvSpPr>
            <p:spPr>
              <a:xfrm>
                <a:off x="7013001" y="3144130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B53FBE4A-ABE9-0778-C597-692AE49F52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3001" y="3144130"/>
                <a:ext cx="461601" cy="369332"/>
              </a:xfrm>
              <a:prstGeom prst="rect">
                <a:avLst/>
              </a:prstGeom>
              <a:blipFill>
                <a:blip r:embed="rId25"/>
                <a:stretch>
                  <a:fillRect l="-9211" r="-526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15343846-2E23-FE9B-4006-373AB4978E01}"/>
                  </a:ext>
                </a:extLst>
              </p:cNvPr>
              <p:cNvSpPr txBox="1"/>
              <p:nvPr/>
            </p:nvSpPr>
            <p:spPr>
              <a:xfrm>
                <a:off x="7018695" y="3547931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15343846-2E23-FE9B-4006-373AB4978E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8695" y="3547931"/>
                <a:ext cx="461601" cy="369332"/>
              </a:xfrm>
              <a:prstGeom prst="rect">
                <a:avLst/>
              </a:prstGeom>
              <a:blipFill>
                <a:blip r:embed="rId26"/>
                <a:stretch>
                  <a:fillRect l="-9211" r="-5263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32790020-45C0-DFF7-B09D-2A8833225D13}"/>
                  </a:ext>
                </a:extLst>
              </p:cNvPr>
              <p:cNvSpPr txBox="1"/>
              <p:nvPr/>
            </p:nvSpPr>
            <p:spPr>
              <a:xfrm>
                <a:off x="7037383" y="3932184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32790020-45C0-DFF7-B09D-2A8833225D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7383" y="3932184"/>
                <a:ext cx="461601" cy="369332"/>
              </a:xfrm>
              <a:prstGeom prst="rect">
                <a:avLst/>
              </a:prstGeom>
              <a:blipFill>
                <a:blip r:embed="rId27"/>
                <a:stretch>
                  <a:fillRect l="-9211" r="-6579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3C5D91A-12A1-E394-A5F1-6BE96861049A}"/>
              </a:ext>
            </a:extLst>
          </p:cNvPr>
          <p:cNvSpPr/>
          <p:nvPr/>
        </p:nvSpPr>
        <p:spPr>
          <a:xfrm>
            <a:off x="8173377" y="1826941"/>
            <a:ext cx="643622" cy="2474575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D572F9A-ADCB-FB4B-DB84-6466D145BD73}"/>
              </a:ext>
            </a:extLst>
          </p:cNvPr>
          <p:cNvSpPr/>
          <p:nvPr/>
        </p:nvSpPr>
        <p:spPr>
          <a:xfrm>
            <a:off x="6865071" y="2675781"/>
            <a:ext cx="1951928" cy="46373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D576257-AC55-649E-5B94-3BE4DF255D35}"/>
              </a:ext>
            </a:extLst>
          </p:cNvPr>
          <p:cNvSpPr/>
          <p:nvPr/>
        </p:nvSpPr>
        <p:spPr>
          <a:xfrm>
            <a:off x="6844466" y="3137705"/>
            <a:ext cx="2697760" cy="435111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B4D697D-EFD1-886B-3097-CEBCE81B48D0}"/>
              </a:ext>
            </a:extLst>
          </p:cNvPr>
          <p:cNvSpPr/>
          <p:nvPr/>
        </p:nvSpPr>
        <p:spPr>
          <a:xfrm>
            <a:off x="6815502" y="3559545"/>
            <a:ext cx="2697760" cy="413523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A87441-29FE-E805-8C5E-42EE05ED2B68}"/>
              </a:ext>
            </a:extLst>
          </p:cNvPr>
          <p:cNvSpPr txBox="1"/>
          <p:nvPr/>
        </p:nvSpPr>
        <p:spPr>
          <a:xfrm>
            <a:off x="6484645" y="941669"/>
            <a:ext cx="44576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Pattern within the Stoichiometry Matrix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234585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5011B-300E-9536-C2AB-0442B8971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81">
            <a:extLst>
              <a:ext uri="{FF2B5EF4-FFF2-40B4-BE49-F238E27FC236}">
                <a16:creationId xmlns:a16="http://schemas.microsoft.com/office/drawing/2014/main" id="{E6614964-11D3-71CA-8C63-01799941A78A}"/>
              </a:ext>
            </a:extLst>
          </p:cNvPr>
          <p:cNvSpPr/>
          <p:nvPr/>
        </p:nvSpPr>
        <p:spPr>
          <a:xfrm>
            <a:off x="288234" y="1291167"/>
            <a:ext cx="5605669" cy="28605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7808BAB-E390-4181-4D85-47C1204661C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265564" y="159471"/>
                <a:ext cx="5628339" cy="720725"/>
              </a:xfrm>
            </p:spPr>
            <p:txBody>
              <a:bodyPr>
                <a:noAutofit/>
              </a:bodyPr>
              <a:lstStyle/>
              <a:p>
                <a:r>
                  <a:rPr lang="de-DE" sz="2400" dirty="0"/>
                  <a:t>Step 1: Find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m4-like </a:t>
                </a:r>
                <a:r>
                  <a:rPr lang="de-DE" sz="2400" dirty="0" err="1"/>
                  <a:t>metabolites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reactions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400" i="1" dirty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en-GB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’s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400" i="1" dirty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en-GB" sz="2400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400" dirty="0"/>
                  <a:t>’s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7808BAB-E390-4181-4D85-47C1204661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65564" y="159471"/>
                <a:ext cx="5628339" cy="720725"/>
              </a:xfrm>
              <a:blipFill>
                <a:blip r:embed="rId3"/>
                <a:stretch>
                  <a:fillRect l="-1733" t="-12712" r="-650" b="-228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Oval 16">
            <a:extLst>
              <a:ext uri="{FF2B5EF4-FFF2-40B4-BE49-F238E27FC236}">
                <a16:creationId xmlns:a16="http://schemas.microsoft.com/office/drawing/2014/main" id="{E77C1AC9-FA4A-EF5A-C960-85C259C837BE}"/>
              </a:ext>
            </a:extLst>
          </p:cNvPr>
          <p:cNvSpPr>
            <a:spLocks noChangeAspect="1"/>
          </p:cNvSpPr>
          <p:nvPr/>
        </p:nvSpPr>
        <p:spPr>
          <a:xfrm>
            <a:off x="2974080" y="1340627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6B24B30-E9F6-83E6-E5FD-BD1D0F3F3CE0}"/>
              </a:ext>
            </a:extLst>
          </p:cNvPr>
          <p:cNvSpPr>
            <a:spLocks noChangeAspect="1"/>
          </p:cNvSpPr>
          <p:nvPr/>
        </p:nvSpPr>
        <p:spPr>
          <a:xfrm>
            <a:off x="2985510" y="354321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8D0AA79-B687-A333-E241-47908D60EBF9}"/>
              </a:ext>
            </a:extLst>
          </p:cNvPr>
          <p:cNvCxnSpPr>
            <a:cxnSpLocks/>
            <a:stCxn id="18" idx="6"/>
            <a:endCxn id="50" idx="3"/>
          </p:cNvCxnSpPr>
          <p:nvPr/>
        </p:nvCxnSpPr>
        <p:spPr>
          <a:xfrm flipV="1">
            <a:off x="3468313" y="2844987"/>
            <a:ext cx="1208754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8095DF5-FEE5-B5ED-C101-532B85CFA14F}"/>
              </a:ext>
            </a:extLst>
          </p:cNvPr>
          <p:cNvCxnSpPr>
            <a:cxnSpLocks/>
            <a:stCxn id="17" idx="6"/>
            <a:endCxn id="50" idx="1"/>
          </p:cNvCxnSpPr>
          <p:nvPr/>
        </p:nvCxnSpPr>
        <p:spPr>
          <a:xfrm>
            <a:off x="3456883" y="1582029"/>
            <a:ext cx="1220184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E72E7D6-BBB6-52F9-70D9-DBD8E9F1C0CB}"/>
                  </a:ext>
                </a:extLst>
              </p:cNvPr>
              <p:cNvSpPr txBox="1"/>
              <p:nvPr/>
            </p:nvSpPr>
            <p:spPr>
              <a:xfrm>
                <a:off x="3824334" y="1455840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E72E7D6-BBB6-52F9-70D9-DBD8E9F1C0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4334" y="1455840"/>
                <a:ext cx="1006792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5E52EB5-733F-DA1D-C3AE-1015474077FA}"/>
                  </a:ext>
                </a:extLst>
              </p:cNvPr>
              <p:cNvSpPr txBox="1"/>
              <p:nvPr/>
            </p:nvSpPr>
            <p:spPr>
              <a:xfrm>
                <a:off x="5083562" y="5299089"/>
                <a:ext cx="673406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𝑚𝑖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 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&gt;0,⋯,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43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&gt;0,⋯,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44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&lt;0,⋯,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m:rPr>
                              <m:sty m:val="p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5E52EB5-733F-DA1D-C3AE-101547407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3562" y="5299089"/>
                <a:ext cx="6734064" cy="461665"/>
              </a:xfrm>
              <a:prstGeom prst="rect">
                <a:avLst/>
              </a:prstGeom>
              <a:blipFill>
                <a:blip r:embed="rId5"/>
                <a:stretch>
                  <a:fillRect l="-814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0F90BE5-2DB4-3B9A-B389-7953E6F05538}"/>
              </a:ext>
            </a:extLst>
          </p:cNvPr>
          <p:cNvSpPr/>
          <p:nvPr/>
        </p:nvSpPr>
        <p:spPr>
          <a:xfrm>
            <a:off x="8898604" y="1817175"/>
            <a:ext cx="643622" cy="2474575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7DE3E32-A910-5356-FC4A-8A6BD14B0F8D}"/>
                  </a:ext>
                </a:extLst>
              </p:cNvPr>
              <p:cNvSpPr txBox="1"/>
              <p:nvPr/>
            </p:nvSpPr>
            <p:spPr>
              <a:xfrm>
                <a:off x="6325169" y="4826134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7DE3E32-A910-5356-FC4A-8A6BD14B0F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5169" y="4826134"/>
                <a:ext cx="656402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E0D21A0-A17E-B4E2-32F7-E3BD8DE23880}"/>
                  </a:ext>
                </a:extLst>
              </p:cNvPr>
              <p:cNvSpPr txBox="1"/>
              <p:nvPr/>
            </p:nvSpPr>
            <p:spPr>
              <a:xfrm>
                <a:off x="8023809" y="4778723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E0D21A0-A17E-B4E2-32F7-E3BD8DE238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3809" y="4778723"/>
                <a:ext cx="656402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0954CA7-105D-D28C-85A1-F03C9277EF3A}"/>
                  </a:ext>
                </a:extLst>
              </p:cNvPr>
              <p:cNvSpPr txBox="1"/>
              <p:nvPr/>
            </p:nvSpPr>
            <p:spPr>
              <a:xfrm>
                <a:off x="9513262" y="4671147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0954CA7-105D-D28C-85A1-F03C9277EF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262" y="4671147"/>
                <a:ext cx="656402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8DD360F-49AF-6D94-6DB4-8B50FB701A77}"/>
                  </a:ext>
                </a:extLst>
              </p:cNvPr>
              <p:cNvSpPr txBox="1"/>
              <p:nvPr/>
            </p:nvSpPr>
            <p:spPr>
              <a:xfrm>
                <a:off x="3892920" y="325461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8DD360F-49AF-6D94-6DB4-8B50FB701A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2920" y="3254615"/>
                <a:ext cx="1006792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E3C407-D448-AFC0-FF3A-6D46B6E513CB}"/>
                  </a:ext>
                </a:extLst>
              </p:cNvPr>
              <p:cNvSpPr txBox="1"/>
              <p:nvPr/>
            </p:nvSpPr>
            <p:spPr>
              <a:xfrm>
                <a:off x="1511725" y="141449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E3C407-D448-AFC0-FF3A-6D46B6E513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725" y="1414495"/>
                <a:ext cx="1006792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F2F68AF-DAA5-43BE-FC09-0E8816F011D0}"/>
                  </a:ext>
                </a:extLst>
              </p:cNvPr>
              <p:cNvSpPr txBox="1"/>
              <p:nvPr/>
            </p:nvSpPr>
            <p:spPr>
              <a:xfrm>
                <a:off x="1552507" y="3258379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F2F68AF-DAA5-43BE-FC09-0E8816F011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2507" y="3258379"/>
                <a:ext cx="1006792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8B891D55-8402-9DE6-025C-B9621033F703}"/>
              </a:ext>
            </a:extLst>
          </p:cNvPr>
          <p:cNvSpPr>
            <a:spLocks noChangeAspect="1"/>
          </p:cNvSpPr>
          <p:nvPr/>
        </p:nvSpPr>
        <p:spPr>
          <a:xfrm>
            <a:off x="1152586" y="243288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66CBD52-B984-4849-0E12-247E0AFA2FA7}"/>
              </a:ext>
            </a:extLst>
          </p:cNvPr>
          <p:cNvCxnSpPr>
            <a:cxnSpLocks/>
            <a:stCxn id="16" idx="7"/>
            <a:endCxn id="17" idx="2"/>
          </p:cNvCxnSpPr>
          <p:nvPr/>
        </p:nvCxnSpPr>
        <p:spPr>
          <a:xfrm flipV="1">
            <a:off x="1564684" y="1582029"/>
            <a:ext cx="1409396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11F0BB6-0C07-B00A-A817-34E7EF2EC510}"/>
                  </a:ext>
                </a:extLst>
              </p:cNvPr>
              <p:cNvSpPr txBox="1"/>
              <p:nvPr/>
            </p:nvSpPr>
            <p:spPr>
              <a:xfrm>
                <a:off x="412353" y="2202056"/>
                <a:ext cx="6427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11F0BB6-0C07-B00A-A817-34E7EF2EC5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353" y="2202056"/>
                <a:ext cx="642780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0C1E9FE-CABE-6E62-B931-678F223D98FA}"/>
              </a:ext>
            </a:extLst>
          </p:cNvPr>
          <p:cNvCxnSpPr>
            <a:cxnSpLocks/>
          </p:cNvCxnSpPr>
          <p:nvPr/>
        </p:nvCxnSpPr>
        <p:spPr>
          <a:xfrm>
            <a:off x="477603" y="2663721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BB0586D-D6BB-AC57-5DF7-96D58F2FDDAF}"/>
              </a:ext>
            </a:extLst>
          </p:cNvPr>
          <p:cNvCxnSpPr>
            <a:cxnSpLocks/>
            <a:stCxn id="16" idx="5"/>
            <a:endCxn id="18" idx="2"/>
          </p:cNvCxnSpPr>
          <p:nvPr/>
        </p:nvCxnSpPr>
        <p:spPr>
          <a:xfrm>
            <a:off x="1564684" y="2844987"/>
            <a:ext cx="1420826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A0C827D1-47E5-D065-19D5-03F36DFBF16A}"/>
              </a:ext>
            </a:extLst>
          </p:cNvPr>
          <p:cNvSpPr>
            <a:spLocks noChangeAspect="1"/>
          </p:cNvSpPr>
          <p:nvPr/>
        </p:nvSpPr>
        <p:spPr>
          <a:xfrm>
            <a:off x="4606362" y="243288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C6BAA56-97AA-6913-9F8A-EF4A3CA9F545}"/>
              </a:ext>
            </a:extLst>
          </p:cNvPr>
          <p:cNvCxnSpPr>
            <a:cxnSpLocks/>
          </p:cNvCxnSpPr>
          <p:nvPr/>
        </p:nvCxnSpPr>
        <p:spPr>
          <a:xfrm>
            <a:off x="5089165" y="2674290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0478A04-8C99-4B41-3DC2-045E8E1208F4}"/>
                  </a:ext>
                </a:extLst>
              </p:cNvPr>
              <p:cNvSpPr txBox="1"/>
              <p:nvPr/>
            </p:nvSpPr>
            <p:spPr>
              <a:xfrm>
                <a:off x="4916075" y="2041929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0478A04-8C99-4B41-3DC2-045E8E120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6075" y="2041929"/>
                <a:ext cx="1006792" cy="46166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DDD4330-C27E-BA8E-5C0B-D70930D95A33}"/>
                  </a:ext>
                </a:extLst>
              </p:cNvPr>
              <p:cNvSpPr txBox="1"/>
              <p:nvPr/>
            </p:nvSpPr>
            <p:spPr>
              <a:xfrm>
                <a:off x="7529739" y="2304148"/>
                <a:ext cx="3412601" cy="20355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24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de-DE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/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  <m:e/>
                                    <m:e/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de-DE" sz="28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de-DE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  <m:e/>
                                    <m:e/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de-DE" sz="28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</m:e>
                                  </m:mr>
                                  <m:mr>
                                    <m:e/>
                                  </m:mr>
                                  <m:mr>
                                    <m:e/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</m:mr>
                                  <m:mr>
                                    <m:e>
                                      <m:r>
                                        <a:rPr lang="de-DE" sz="28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</m:e>
                                  </m:mr>
                                  <m:mr>
                                    <m:e/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a:rPr lang="de-DE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de-DE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</m:e>
                                        </m:mr>
                                        <m:mr>
                                          <m:e/>
                                        </m:mr>
                                      </m:m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</m:mr>
                                        <m:mr>
                                          <m:e>
                                            <m:r>
                                              <a:rPr lang="de-DE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de-DE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</m:e>
                                        </m:mr>
                                      </m:m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</m:mr>
                                        <m:mr>
                                          <m:e/>
                                        </m:mr>
                                        <m:mr>
                                          <m:e/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DDD4330-C27E-BA8E-5C0B-D70930D95A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9739" y="2304148"/>
                <a:ext cx="3412601" cy="203555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83B7D8E-2F66-247E-7C86-0362195E0668}"/>
                  </a:ext>
                </a:extLst>
              </p:cNvPr>
              <p:cNvSpPr txBox="1"/>
              <p:nvPr/>
            </p:nvSpPr>
            <p:spPr>
              <a:xfrm>
                <a:off x="7637736" y="1891989"/>
                <a:ext cx="31008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83B7D8E-2F66-247E-7C86-0362195E0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736" y="1891989"/>
                <a:ext cx="310085" cy="369332"/>
              </a:xfrm>
              <a:prstGeom prst="rect">
                <a:avLst/>
              </a:prstGeom>
              <a:blipFill>
                <a:blip r:embed="rId15"/>
                <a:stretch>
                  <a:fillRect l="-15686" r="-9804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C8DF565-A87D-A37C-3FFD-6B64A7E1B2C5}"/>
                  </a:ext>
                </a:extLst>
              </p:cNvPr>
              <p:cNvSpPr txBox="1"/>
              <p:nvPr/>
            </p:nvSpPr>
            <p:spPr>
              <a:xfrm>
                <a:off x="8346216" y="1847890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C8DF565-A87D-A37C-3FFD-6B64A7E1B2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6216" y="1847890"/>
                <a:ext cx="317202" cy="369332"/>
              </a:xfrm>
              <a:prstGeom prst="rect">
                <a:avLst/>
              </a:prstGeom>
              <a:blipFill>
                <a:blip r:embed="rId16"/>
                <a:stretch>
                  <a:fillRect l="-13462" r="-961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FAD0B2DB-A8C6-E331-3571-BD6E5FAEF08B}"/>
                  </a:ext>
                </a:extLst>
              </p:cNvPr>
              <p:cNvSpPr txBox="1"/>
              <p:nvPr/>
            </p:nvSpPr>
            <p:spPr>
              <a:xfrm>
                <a:off x="9061814" y="1847890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FAD0B2DB-A8C6-E331-3571-BD6E5FAEF0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1814" y="1847890"/>
                <a:ext cx="317202" cy="369332"/>
              </a:xfrm>
              <a:prstGeom prst="rect">
                <a:avLst/>
              </a:prstGeom>
              <a:blipFill>
                <a:blip r:embed="rId17"/>
                <a:stretch>
                  <a:fillRect l="-15385" r="-961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B25EEE08-7C55-5BC0-B1C9-E579F41D7C13}"/>
                  </a:ext>
                </a:extLst>
              </p:cNvPr>
              <p:cNvSpPr txBox="1"/>
              <p:nvPr/>
            </p:nvSpPr>
            <p:spPr>
              <a:xfrm>
                <a:off x="9793538" y="1847890"/>
                <a:ext cx="30405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B25EEE08-7C55-5BC0-B1C9-E579F41D7C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3538" y="1847890"/>
                <a:ext cx="304058" cy="369332"/>
              </a:xfrm>
              <a:prstGeom prst="rect">
                <a:avLst/>
              </a:prstGeom>
              <a:blipFill>
                <a:blip r:embed="rId18"/>
                <a:stretch>
                  <a:fillRect l="-16327" r="-1224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AB29F5BE-54D2-BA83-4516-37F25E148E39}"/>
                  </a:ext>
                </a:extLst>
              </p:cNvPr>
              <p:cNvSpPr txBox="1"/>
              <p:nvPr/>
            </p:nvSpPr>
            <p:spPr>
              <a:xfrm>
                <a:off x="10425905" y="1863199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AB29F5BE-54D2-BA83-4516-37F25E148E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25905" y="1863199"/>
                <a:ext cx="317202" cy="369332"/>
              </a:xfrm>
              <a:prstGeom prst="rect">
                <a:avLst/>
              </a:prstGeom>
              <a:blipFill>
                <a:blip r:embed="rId19"/>
                <a:stretch>
                  <a:fillRect l="-13462" r="-11538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33AE38-4C90-18F8-032B-799D72582F4A}"/>
                  </a:ext>
                </a:extLst>
              </p:cNvPr>
              <p:cNvSpPr txBox="1"/>
              <p:nvPr/>
            </p:nvSpPr>
            <p:spPr>
              <a:xfrm>
                <a:off x="7013000" y="2159888"/>
                <a:ext cx="4544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33AE38-4C90-18F8-032B-799D72582F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3000" y="2159888"/>
                <a:ext cx="454483" cy="369332"/>
              </a:xfrm>
              <a:prstGeom prst="rect">
                <a:avLst/>
              </a:prstGeom>
              <a:blipFill>
                <a:blip r:embed="rId20"/>
                <a:stretch>
                  <a:fillRect l="-9333" r="-5333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39E46BE-F33A-EEA1-CB7A-AFDDAA254E0D}"/>
                  </a:ext>
                </a:extLst>
              </p:cNvPr>
              <p:cNvSpPr txBox="1"/>
              <p:nvPr/>
            </p:nvSpPr>
            <p:spPr>
              <a:xfrm>
                <a:off x="4596414" y="2408689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39E46BE-F33A-EEA1-CB7A-AFDDAA254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6414" y="2408689"/>
                <a:ext cx="527465" cy="46166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FAE38295-40BD-BA4A-3530-AB31BFD7A087}"/>
                  </a:ext>
                </a:extLst>
              </p:cNvPr>
              <p:cNvSpPr txBox="1"/>
              <p:nvPr/>
            </p:nvSpPr>
            <p:spPr>
              <a:xfrm>
                <a:off x="2897863" y="1302222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FAE38295-40BD-BA4A-3530-AB31BFD7A0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7863" y="1302222"/>
                <a:ext cx="656402" cy="46166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BF8F4E5A-FB0B-75A8-3AE9-184BC9913FA8}"/>
                  </a:ext>
                </a:extLst>
              </p:cNvPr>
              <p:cNvSpPr txBox="1"/>
              <p:nvPr/>
            </p:nvSpPr>
            <p:spPr>
              <a:xfrm>
                <a:off x="2984414" y="3517908"/>
                <a:ext cx="4956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BF8F4E5A-FB0B-75A8-3AE9-184BC9913F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414" y="3517908"/>
                <a:ext cx="495606" cy="46166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6A2B5EC-7B31-8992-91C8-3763014032A5}"/>
                  </a:ext>
                </a:extLst>
              </p:cNvPr>
              <p:cNvSpPr txBox="1"/>
              <p:nvPr/>
            </p:nvSpPr>
            <p:spPr>
              <a:xfrm>
                <a:off x="1152854" y="2406979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6A2B5EC-7B31-8992-91C8-3763014032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854" y="2406979"/>
                <a:ext cx="527465" cy="46166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15E93B5-D657-4CD6-63EE-5BB7B72937CF}"/>
                  </a:ext>
                </a:extLst>
              </p:cNvPr>
              <p:cNvSpPr txBox="1"/>
              <p:nvPr/>
            </p:nvSpPr>
            <p:spPr>
              <a:xfrm>
                <a:off x="7013000" y="2690304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15E93B5-D657-4CD6-63EE-5BB7B7293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3000" y="2690304"/>
                <a:ext cx="461601" cy="369332"/>
              </a:xfrm>
              <a:prstGeom prst="rect">
                <a:avLst/>
              </a:prstGeom>
              <a:blipFill>
                <a:blip r:embed="rId25"/>
                <a:stretch>
                  <a:fillRect l="-9211" r="-5263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A033F64-ACB6-4047-81B4-25BDADBB1918}"/>
                  </a:ext>
                </a:extLst>
              </p:cNvPr>
              <p:cNvSpPr txBox="1"/>
              <p:nvPr/>
            </p:nvSpPr>
            <p:spPr>
              <a:xfrm>
                <a:off x="7013001" y="3144130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A033F64-ACB6-4047-81B4-25BDADBB19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3001" y="3144130"/>
                <a:ext cx="461601" cy="369332"/>
              </a:xfrm>
              <a:prstGeom prst="rect">
                <a:avLst/>
              </a:prstGeom>
              <a:blipFill>
                <a:blip r:embed="rId26"/>
                <a:stretch>
                  <a:fillRect l="-9211" r="-526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B081466-2F80-3DE5-1AF7-322386F2C97F}"/>
                  </a:ext>
                </a:extLst>
              </p:cNvPr>
              <p:cNvSpPr txBox="1"/>
              <p:nvPr/>
            </p:nvSpPr>
            <p:spPr>
              <a:xfrm>
                <a:off x="7018695" y="3547931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B081466-2F80-3DE5-1AF7-322386F2C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8695" y="3547931"/>
                <a:ext cx="461601" cy="369332"/>
              </a:xfrm>
              <a:prstGeom prst="rect">
                <a:avLst/>
              </a:prstGeom>
              <a:blipFill>
                <a:blip r:embed="rId27"/>
                <a:stretch>
                  <a:fillRect l="-9211" r="-5263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D2311BA2-503C-65AF-5841-A5FB73156ABC}"/>
                  </a:ext>
                </a:extLst>
              </p:cNvPr>
              <p:cNvSpPr txBox="1"/>
              <p:nvPr/>
            </p:nvSpPr>
            <p:spPr>
              <a:xfrm>
                <a:off x="7037383" y="3932184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D2311BA2-503C-65AF-5841-A5FB73156A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7383" y="3932184"/>
                <a:ext cx="461601" cy="369332"/>
              </a:xfrm>
              <a:prstGeom prst="rect">
                <a:avLst/>
              </a:prstGeom>
              <a:blipFill>
                <a:blip r:embed="rId28"/>
                <a:stretch>
                  <a:fillRect l="-9211" r="-6579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498ADAC-7BD1-DE7C-0DC8-7DC58FA7A7B2}"/>
              </a:ext>
            </a:extLst>
          </p:cNvPr>
          <p:cNvSpPr/>
          <p:nvPr/>
        </p:nvSpPr>
        <p:spPr>
          <a:xfrm>
            <a:off x="8173377" y="1826941"/>
            <a:ext cx="643622" cy="2474575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FBAFB37-F212-1D8E-5A06-F1D2E65E1158}"/>
              </a:ext>
            </a:extLst>
          </p:cNvPr>
          <p:cNvSpPr/>
          <p:nvPr/>
        </p:nvSpPr>
        <p:spPr>
          <a:xfrm>
            <a:off x="6815502" y="3559545"/>
            <a:ext cx="2697760" cy="413523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1F007B-6DF9-73B1-815A-10D79BEE27E0}"/>
              </a:ext>
            </a:extLst>
          </p:cNvPr>
          <p:cNvSpPr txBox="1"/>
          <p:nvPr/>
        </p:nvSpPr>
        <p:spPr>
          <a:xfrm>
            <a:off x="6484645" y="941669"/>
            <a:ext cx="44576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Pattern within the Stoichiometry Matrix</a:t>
            </a:r>
            <a:endParaRPr lang="en-US" sz="2000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F3A4A8F5-8B96-F249-BFFE-80F9723BF399}"/>
              </a:ext>
            </a:extLst>
          </p:cNvPr>
          <p:cNvCxnSpPr>
            <a:cxnSpLocks/>
            <a:stCxn id="9" idx="1"/>
            <a:endCxn id="6" idx="1"/>
          </p:cNvCxnSpPr>
          <p:nvPr/>
        </p:nvCxnSpPr>
        <p:spPr>
          <a:xfrm rot="10800000" flipV="1">
            <a:off x="5083562" y="3766306"/>
            <a:ext cx="1731940" cy="1763615"/>
          </a:xfrm>
          <a:prstGeom prst="bentConnector3">
            <a:avLst>
              <a:gd name="adj1" fmla="val 113199"/>
            </a:avLst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E7106BDD-F7D9-0133-0CBA-0294BEB76218}"/>
              </a:ext>
            </a:extLst>
          </p:cNvPr>
          <p:cNvSpPr/>
          <p:nvPr/>
        </p:nvSpPr>
        <p:spPr>
          <a:xfrm>
            <a:off x="6096000" y="4892741"/>
            <a:ext cx="1267960" cy="1023589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453F189-CEAD-EB25-26C9-2AE52C5CEFBB}"/>
              </a:ext>
            </a:extLst>
          </p:cNvPr>
          <p:cNvSpPr/>
          <p:nvPr/>
        </p:nvSpPr>
        <p:spPr>
          <a:xfrm>
            <a:off x="7688853" y="4851726"/>
            <a:ext cx="1267960" cy="1023589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263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C54B6-0B01-A4E7-4694-8BD4DA44B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81">
            <a:extLst>
              <a:ext uri="{FF2B5EF4-FFF2-40B4-BE49-F238E27FC236}">
                <a16:creationId xmlns:a16="http://schemas.microsoft.com/office/drawing/2014/main" id="{029AAA68-E906-18ED-83E1-4240C08B6D08}"/>
              </a:ext>
            </a:extLst>
          </p:cNvPr>
          <p:cNvSpPr/>
          <p:nvPr/>
        </p:nvSpPr>
        <p:spPr>
          <a:xfrm>
            <a:off x="265564" y="1012872"/>
            <a:ext cx="5605669" cy="28605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FC9CB0B-FC0F-A50F-A6C6-B4466180A14A}"/>
              </a:ext>
            </a:extLst>
          </p:cNvPr>
          <p:cNvSpPr>
            <a:spLocks noChangeAspect="1"/>
          </p:cNvSpPr>
          <p:nvPr/>
        </p:nvSpPr>
        <p:spPr>
          <a:xfrm>
            <a:off x="2951410" y="1062332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093A078-82D3-5165-5F2A-D34385CB8875}"/>
              </a:ext>
            </a:extLst>
          </p:cNvPr>
          <p:cNvSpPr>
            <a:spLocks noChangeAspect="1"/>
          </p:cNvSpPr>
          <p:nvPr/>
        </p:nvSpPr>
        <p:spPr>
          <a:xfrm>
            <a:off x="2962840" y="3264924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AAFDC15-258F-8C51-94E4-2D899648D7E4}"/>
              </a:ext>
            </a:extLst>
          </p:cNvPr>
          <p:cNvCxnSpPr>
            <a:cxnSpLocks/>
            <a:stCxn id="18" idx="6"/>
            <a:endCxn id="50" idx="3"/>
          </p:cNvCxnSpPr>
          <p:nvPr/>
        </p:nvCxnSpPr>
        <p:spPr>
          <a:xfrm flipV="1">
            <a:off x="3445643" y="2566692"/>
            <a:ext cx="1208754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B4C423C-1EDE-31FE-EB43-94CB337FB6F3}"/>
              </a:ext>
            </a:extLst>
          </p:cNvPr>
          <p:cNvCxnSpPr>
            <a:cxnSpLocks/>
            <a:stCxn id="17" idx="6"/>
            <a:endCxn id="50" idx="1"/>
          </p:cNvCxnSpPr>
          <p:nvPr/>
        </p:nvCxnSpPr>
        <p:spPr>
          <a:xfrm>
            <a:off x="3434213" y="1303734"/>
            <a:ext cx="1220184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2009217-EF08-6D2F-FE29-897076EE9FE5}"/>
                  </a:ext>
                </a:extLst>
              </p:cNvPr>
              <p:cNvSpPr txBox="1"/>
              <p:nvPr/>
            </p:nvSpPr>
            <p:spPr>
              <a:xfrm>
                <a:off x="3801664" y="117754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2009217-EF08-6D2F-FE29-897076EE9F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664" y="1177545"/>
                <a:ext cx="1006792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C0BDC80-018A-88FC-FABE-683995D4CE63}"/>
                  </a:ext>
                </a:extLst>
              </p:cNvPr>
              <p:cNvSpPr txBox="1"/>
              <p:nvPr/>
            </p:nvSpPr>
            <p:spPr>
              <a:xfrm>
                <a:off x="3870250" y="2976320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C0BDC80-018A-88FC-FABE-683995D4CE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0250" y="2976320"/>
                <a:ext cx="1006792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13FDB0B-35DA-39B5-0515-4BC1D17E7DB7}"/>
                  </a:ext>
                </a:extLst>
              </p:cNvPr>
              <p:cNvSpPr txBox="1"/>
              <p:nvPr/>
            </p:nvSpPr>
            <p:spPr>
              <a:xfrm>
                <a:off x="1489055" y="1136200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13FDB0B-35DA-39B5-0515-4BC1D17E7D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055" y="1136200"/>
                <a:ext cx="1006792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9EB86F-199D-E9F5-70DC-E089C778E434}"/>
                  </a:ext>
                </a:extLst>
              </p:cNvPr>
              <p:cNvSpPr txBox="1"/>
              <p:nvPr/>
            </p:nvSpPr>
            <p:spPr>
              <a:xfrm>
                <a:off x="1529837" y="2980084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9EB86F-199D-E9F5-70DC-E089C778E4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9837" y="2980084"/>
                <a:ext cx="1006792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F1006F1C-FB1D-A4F1-BC72-E4EA667B64AF}"/>
              </a:ext>
            </a:extLst>
          </p:cNvPr>
          <p:cNvSpPr>
            <a:spLocks noChangeAspect="1"/>
          </p:cNvSpPr>
          <p:nvPr/>
        </p:nvSpPr>
        <p:spPr>
          <a:xfrm>
            <a:off x="1129916" y="2154594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6F2692B-6FF3-967D-ED93-AE4B5FF8863D}"/>
              </a:ext>
            </a:extLst>
          </p:cNvPr>
          <p:cNvCxnSpPr>
            <a:cxnSpLocks/>
            <a:stCxn id="16" idx="7"/>
            <a:endCxn id="17" idx="2"/>
          </p:cNvCxnSpPr>
          <p:nvPr/>
        </p:nvCxnSpPr>
        <p:spPr>
          <a:xfrm flipV="1">
            <a:off x="1542014" y="1303734"/>
            <a:ext cx="1409396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AD64C57-B43D-2A3E-850F-2D1E3E8825AE}"/>
                  </a:ext>
                </a:extLst>
              </p:cNvPr>
              <p:cNvSpPr txBox="1"/>
              <p:nvPr/>
            </p:nvSpPr>
            <p:spPr>
              <a:xfrm>
                <a:off x="389683" y="1923761"/>
                <a:ext cx="6427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AD64C57-B43D-2A3E-850F-2D1E3E882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683" y="1923761"/>
                <a:ext cx="642780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A6B6450-822F-88D9-FB36-B0CB86018DEA}"/>
              </a:ext>
            </a:extLst>
          </p:cNvPr>
          <p:cNvCxnSpPr>
            <a:cxnSpLocks/>
          </p:cNvCxnSpPr>
          <p:nvPr/>
        </p:nvCxnSpPr>
        <p:spPr>
          <a:xfrm>
            <a:off x="454933" y="2385426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F7F17CD-2C61-9331-22E5-6058BFD438C8}"/>
              </a:ext>
            </a:extLst>
          </p:cNvPr>
          <p:cNvCxnSpPr>
            <a:cxnSpLocks/>
            <a:stCxn id="16" idx="5"/>
            <a:endCxn id="18" idx="2"/>
          </p:cNvCxnSpPr>
          <p:nvPr/>
        </p:nvCxnSpPr>
        <p:spPr>
          <a:xfrm>
            <a:off x="1542014" y="2566692"/>
            <a:ext cx="1420826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B03CDD10-BACF-E8C5-C940-9A92B3F7AB9A}"/>
              </a:ext>
            </a:extLst>
          </p:cNvPr>
          <p:cNvSpPr>
            <a:spLocks noChangeAspect="1"/>
          </p:cNvSpPr>
          <p:nvPr/>
        </p:nvSpPr>
        <p:spPr>
          <a:xfrm>
            <a:off x="4583692" y="2154594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B80D20D8-B760-950B-5692-40739F076A72}"/>
              </a:ext>
            </a:extLst>
          </p:cNvPr>
          <p:cNvCxnSpPr>
            <a:cxnSpLocks/>
          </p:cNvCxnSpPr>
          <p:nvPr/>
        </p:nvCxnSpPr>
        <p:spPr>
          <a:xfrm>
            <a:off x="5066495" y="2395995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1E7E8E3-6E46-44BC-E4E7-A321251D7CA6}"/>
                  </a:ext>
                </a:extLst>
              </p:cNvPr>
              <p:cNvSpPr txBox="1"/>
              <p:nvPr/>
            </p:nvSpPr>
            <p:spPr>
              <a:xfrm>
                <a:off x="4893405" y="1763634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1E7E8E3-6E46-44BC-E4E7-A321251D7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3405" y="1763634"/>
                <a:ext cx="1006792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3ADA4AAC-888E-4219-07C1-3F968822ABFA}"/>
                  </a:ext>
                </a:extLst>
              </p:cNvPr>
              <p:cNvSpPr txBox="1"/>
              <p:nvPr/>
            </p:nvSpPr>
            <p:spPr>
              <a:xfrm>
                <a:off x="4573744" y="2130394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3ADA4AAC-888E-4219-07C1-3F968822AB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3744" y="2130394"/>
                <a:ext cx="527465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A6671DEB-2884-0BC7-BC6F-F0794C1DD9ED}"/>
                  </a:ext>
                </a:extLst>
              </p:cNvPr>
              <p:cNvSpPr txBox="1"/>
              <p:nvPr/>
            </p:nvSpPr>
            <p:spPr>
              <a:xfrm>
                <a:off x="2875193" y="1023927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A6671DEB-2884-0BC7-BC6F-F0794C1DD9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5193" y="1023927"/>
                <a:ext cx="656402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450CA0DC-1D41-AD46-8AAD-53296F335789}"/>
                  </a:ext>
                </a:extLst>
              </p:cNvPr>
              <p:cNvSpPr txBox="1"/>
              <p:nvPr/>
            </p:nvSpPr>
            <p:spPr>
              <a:xfrm>
                <a:off x="2961744" y="3239613"/>
                <a:ext cx="4956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450CA0DC-1D41-AD46-8AAD-53296F3357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1744" y="3239613"/>
                <a:ext cx="495606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ECECDA6-9B48-3D74-AC57-EBB2FC14294B}"/>
                  </a:ext>
                </a:extLst>
              </p:cNvPr>
              <p:cNvSpPr txBox="1"/>
              <p:nvPr/>
            </p:nvSpPr>
            <p:spPr>
              <a:xfrm>
                <a:off x="1130184" y="2128684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ECECDA6-9B48-3D74-AC57-EBB2FC1429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0184" y="2128684"/>
                <a:ext cx="527465" cy="46166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Picture 25">
            <a:extLst>
              <a:ext uri="{FF2B5EF4-FFF2-40B4-BE49-F238E27FC236}">
                <a16:creationId xmlns:a16="http://schemas.microsoft.com/office/drawing/2014/main" id="{E9094ED9-2B84-E5CE-B871-C8F39ACBA1A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77306" y="4275050"/>
            <a:ext cx="9726813" cy="242347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itle 1">
                <a:extLst>
                  <a:ext uri="{FF2B5EF4-FFF2-40B4-BE49-F238E27FC236}">
                    <a16:creationId xmlns:a16="http://schemas.microsoft.com/office/drawing/2014/main" id="{FA6D6D4E-B218-F205-2A1F-A7E77D9351D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265564" y="159471"/>
                <a:ext cx="5628339" cy="720725"/>
              </a:xfrm>
            </p:spPr>
            <p:txBody>
              <a:bodyPr>
                <a:noAutofit/>
              </a:bodyPr>
              <a:lstStyle/>
              <a:p>
                <a:r>
                  <a:rPr lang="de-DE" sz="2400" dirty="0"/>
                  <a:t>Step 1: Find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m4-like </a:t>
                </a:r>
                <a:r>
                  <a:rPr lang="de-DE" sz="2400" dirty="0" err="1"/>
                  <a:t>metabolites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reactions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400" i="1" dirty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en-GB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’s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2400" i="1" dirty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en-GB" sz="2400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400" dirty="0"/>
                  <a:t>’s</a:t>
                </a:r>
              </a:p>
            </p:txBody>
          </p:sp>
        </mc:Choice>
        <mc:Fallback>
          <p:sp>
            <p:nvSpPr>
              <p:cNvPr id="6" name="Title 1">
                <a:extLst>
                  <a:ext uri="{FF2B5EF4-FFF2-40B4-BE49-F238E27FC236}">
                    <a16:creationId xmlns:a16="http://schemas.microsoft.com/office/drawing/2014/main" id="{FA6D6D4E-B218-F205-2A1F-A7E77D9351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65564" y="159471"/>
                <a:ext cx="5628339" cy="720725"/>
              </a:xfrm>
              <a:blipFill>
                <a:blip r:embed="rId15"/>
                <a:stretch>
                  <a:fillRect l="-1733" t="-12712" r="-650" b="-228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6104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3EE72-4105-60B1-7443-F156038BF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81">
            <a:extLst>
              <a:ext uri="{FF2B5EF4-FFF2-40B4-BE49-F238E27FC236}">
                <a16:creationId xmlns:a16="http://schemas.microsoft.com/office/drawing/2014/main" id="{5109B5F4-4428-2C3A-D06D-EA7C5C23A7DE}"/>
              </a:ext>
            </a:extLst>
          </p:cNvPr>
          <p:cNvSpPr/>
          <p:nvPr/>
        </p:nvSpPr>
        <p:spPr>
          <a:xfrm>
            <a:off x="288234" y="1291167"/>
            <a:ext cx="5605669" cy="28605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1F305E4-67BD-3370-ECEF-1FFB44FD6F9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29539" y="170815"/>
                <a:ext cx="7173785" cy="720725"/>
              </a:xfrm>
            </p:spPr>
            <p:txBody>
              <a:bodyPr>
                <a:normAutofit/>
              </a:bodyPr>
              <a:lstStyle/>
              <a:p>
                <a:r>
                  <a:rPr lang="de-DE" sz="3200" dirty="0" err="1"/>
                  <a:t>Step</a:t>
                </a:r>
                <a:r>
                  <a:rPr lang="de-DE" sz="3200" dirty="0"/>
                  <a:t> 2: Find </a:t>
                </a:r>
                <a:r>
                  <a:rPr lang="de-DE" sz="3200" dirty="0" err="1"/>
                  <a:t>reaction</a:t>
                </a:r>
                <a:r>
                  <a:rPr lang="de-DE" sz="3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3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3200" b="0" i="1" dirty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en-GB" sz="3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3200" dirty="0"/>
                  <a:t>- like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1F305E4-67BD-3370-ECEF-1FFB44FD6F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29539" y="170815"/>
                <a:ext cx="7173785" cy="720725"/>
              </a:xfrm>
              <a:blipFill>
                <a:blip r:embed="rId3"/>
                <a:stretch>
                  <a:fillRect l="-2124" t="-3390" b="-161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Oval 16">
            <a:extLst>
              <a:ext uri="{FF2B5EF4-FFF2-40B4-BE49-F238E27FC236}">
                <a16:creationId xmlns:a16="http://schemas.microsoft.com/office/drawing/2014/main" id="{71821E34-F37C-A3D8-B304-88FD1FEF17E4}"/>
              </a:ext>
            </a:extLst>
          </p:cNvPr>
          <p:cNvSpPr>
            <a:spLocks noChangeAspect="1"/>
          </p:cNvSpPr>
          <p:nvPr/>
        </p:nvSpPr>
        <p:spPr>
          <a:xfrm>
            <a:off x="2974080" y="1340627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007E5A2-74A5-E778-FA40-76276B7E8BDD}"/>
              </a:ext>
            </a:extLst>
          </p:cNvPr>
          <p:cNvSpPr>
            <a:spLocks noChangeAspect="1"/>
          </p:cNvSpPr>
          <p:nvPr/>
        </p:nvSpPr>
        <p:spPr>
          <a:xfrm>
            <a:off x="2985510" y="354321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0879C9F-A70D-B1FA-6F74-56D8AA6F4916}"/>
              </a:ext>
            </a:extLst>
          </p:cNvPr>
          <p:cNvCxnSpPr>
            <a:cxnSpLocks/>
            <a:stCxn id="18" idx="6"/>
            <a:endCxn id="50" idx="3"/>
          </p:cNvCxnSpPr>
          <p:nvPr/>
        </p:nvCxnSpPr>
        <p:spPr>
          <a:xfrm flipV="1">
            <a:off x="3468313" y="2844987"/>
            <a:ext cx="1208754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3CC7932-56CD-4209-56AE-EF5CA6643DB3}"/>
              </a:ext>
            </a:extLst>
          </p:cNvPr>
          <p:cNvCxnSpPr>
            <a:cxnSpLocks/>
            <a:stCxn id="17" idx="6"/>
            <a:endCxn id="50" idx="1"/>
          </p:cNvCxnSpPr>
          <p:nvPr/>
        </p:nvCxnSpPr>
        <p:spPr>
          <a:xfrm>
            <a:off x="3456883" y="1582029"/>
            <a:ext cx="1220184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1A7DFED-6A87-48B9-3F69-3346B8F7BB64}"/>
                  </a:ext>
                </a:extLst>
              </p:cNvPr>
              <p:cNvSpPr txBox="1"/>
              <p:nvPr/>
            </p:nvSpPr>
            <p:spPr>
              <a:xfrm>
                <a:off x="3824334" y="1455840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1A7DFED-6A87-48B9-3F69-3346B8F7B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4334" y="1455840"/>
                <a:ext cx="1006792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2FEBEF3-88C7-FCB6-0802-BE372B7FCFC1}"/>
              </a:ext>
            </a:extLst>
          </p:cNvPr>
          <p:cNvSpPr/>
          <p:nvPr/>
        </p:nvSpPr>
        <p:spPr>
          <a:xfrm>
            <a:off x="8436987" y="939355"/>
            <a:ext cx="643622" cy="2474575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BE18D9C-AA9B-CEDE-2BC4-0CD0534E768F}"/>
                  </a:ext>
                </a:extLst>
              </p:cNvPr>
              <p:cNvSpPr txBox="1"/>
              <p:nvPr/>
            </p:nvSpPr>
            <p:spPr>
              <a:xfrm>
                <a:off x="3892920" y="325461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BE18D9C-AA9B-CEDE-2BC4-0CD0534E76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2920" y="3254615"/>
                <a:ext cx="1006792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F2485B-6C0A-1142-68A4-9B2F6393FE24}"/>
                  </a:ext>
                </a:extLst>
              </p:cNvPr>
              <p:cNvSpPr txBox="1"/>
              <p:nvPr/>
            </p:nvSpPr>
            <p:spPr>
              <a:xfrm>
                <a:off x="1511725" y="141449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F2485B-6C0A-1142-68A4-9B2F6393F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725" y="1414495"/>
                <a:ext cx="1006792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033653-9F0E-B550-5486-C7D35DAAB1F0}"/>
                  </a:ext>
                </a:extLst>
              </p:cNvPr>
              <p:cNvSpPr txBox="1"/>
              <p:nvPr/>
            </p:nvSpPr>
            <p:spPr>
              <a:xfrm>
                <a:off x="1552507" y="3258379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033653-9F0E-B550-5486-C7D35DAAB1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2507" y="3258379"/>
                <a:ext cx="1006792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9A66AF7E-5F0D-AB65-F558-A123AC1F2F83}"/>
              </a:ext>
            </a:extLst>
          </p:cNvPr>
          <p:cNvSpPr>
            <a:spLocks noChangeAspect="1"/>
          </p:cNvSpPr>
          <p:nvPr/>
        </p:nvSpPr>
        <p:spPr>
          <a:xfrm>
            <a:off x="1152586" y="243288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99404CE-C422-A87A-BA06-501402DD47A0}"/>
              </a:ext>
            </a:extLst>
          </p:cNvPr>
          <p:cNvCxnSpPr>
            <a:cxnSpLocks/>
            <a:stCxn id="16" idx="7"/>
            <a:endCxn id="17" idx="2"/>
          </p:cNvCxnSpPr>
          <p:nvPr/>
        </p:nvCxnSpPr>
        <p:spPr>
          <a:xfrm flipV="1">
            <a:off x="1564684" y="1582029"/>
            <a:ext cx="1409396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7CABFBD-C203-6793-8EF8-797463D56876}"/>
                  </a:ext>
                </a:extLst>
              </p:cNvPr>
              <p:cNvSpPr txBox="1"/>
              <p:nvPr/>
            </p:nvSpPr>
            <p:spPr>
              <a:xfrm>
                <a:off x="412353" y="2202056"/>
                <a:ext cx="6427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7CABFBD-C203-6793-8EF8-797463D568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353" y="2202056"/>
                <a:ext cx="642780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5436295-16EF-F055-8179-D866F2C9ED4B}"/>
              </a:ext>
            </a:extLst>
          </p:cNvPr>
          <p:cNvCxnSpPr>
            <a:cxnSpLocks/>
          </p:cNvCxnSpPr>
          <p:nvPr/>
        </p:nvCxnSpPr>
        <p:spPr>
          <a:xfrm>
            <a:off x="477603" y="2663721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B1F3044-1E2B-C884-6C25-7BE43CE02418}"/>
              </a:ext>
            </a:extLst>
          </p:cNvPr>
          <p:cNvCxnSpPr>
            <a:cxnSpLocks/>
            <a:stCxn id="16" idx="5"/>
            <a:endCxn id="18" idx="2"/>
          </p:cNvCxnSpPr>
          <p:nvPr/>
        </p:nvCxnSpPr>
        <p:spPr>
          <a:xfrm>
            <a:off x="1564684" y="2844987"/>
            <a:ext cx="1420826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C4AD9299-BD07-7B9E-263C-252EC0D53099}"/>
              </a:ext>
            </a:extLst>
          </p:cNvPr>
          <p:cNvSpPr>
            <a:spLocks noChangeAspect="1"/>
          </p:cNvSpPr>
          <p:nvPr/>
        </p:nvSpPr>
        <p:spPr>
          <a:xfrm>
            <a:off x="4606362" y="2432889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DEF2F226-957F-8CC1-1393-B23D8E771D6B}"/>
              </a:ext>
            </a:extLst>
          </p:cNvPr>
          <p:cNvCxnSpPr>
            <a:cxnSpLocks/>
          </p:cNvCxnSpPr>
          <p:nvPr/>
        </p:nvCxnSpPr>
        <p:spPr>
          <a:xfrm>
            <a:off x="5089165" y="2674290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192D539-2B4F-64F0-8A8C-2D498C5E1B94}"/>
                  </a:ext>
                </a:extLst>
              </p:cNvPr>
              <p:cNvSpPr txBox="1"/>
              <p:nvPr/>
            </p:nvSpPr>
            <p:spPr>
              <a:xfrm>
                <a:off x="4916075" y="2041929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192D539-2B4F-64F0-8A8C-2D498C5E1B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6075" y="2041929"/>
                <a:ext cx="1006792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8B325D87-7582-D90B-39EB-E8A2C9CDB803}"/>
                  </a:ext>
                </a:extLst>
              </p:cNvPr>
              <p:cNvSpPr txBox="1"/>
              <p:nvPr/>
            </p:nvSpPr>
            <p:spPr>
              <a:xfrm>
                <a:off x="7068122" y="1426328"/>
                <a:ext cx="3412601" cy="20355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24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de-DE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/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  <m:e/>
                                    <m:e/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de-DE" sz="28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de-DE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  <m:e/>
                                    <m:e/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de-DE" sz="28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</m:e>
                                  </m:mr>
                                  <m:mr>
                                    <m:e/>
                                  </m:mr>
                                  <m:mr>
                                    <m:e/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</m:mr>
                                  <m:mr>
                                    <m:e>
                                      <m:r>
                                        <a:rPr lang="de-DE" sz="28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</m:e>
                                  </m:mr>
                                  <m:mr>
                                    <m:e/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a:rPr lang="de-DE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de-DE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</m:e>
                                        </m:mr>
                                        <m:mr>
                                          <m:e/>
                                        </m:mr>
                                      </m:m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</m:mr>
                                        <m:mr>
                                          <m:e>
                                            <m:r>
                                              <a:rPr lang="de-DE" sz="28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de-DE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</m:e>
                                        </m:mr>
                                      </m:m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</m:mr>
                                        <m:mr>
                                          <m:e/>
                                        </m:mr>
                                        <m:mr>
                                          <m:e/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8B325D87-7582-D90B-39EB-E8A2C9CDB8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8122" y="1426328"/>
                <a:ext cx="3412601" cy="203555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2A1D673-9F45-CAC6-7837-26A0F9A2DCFD}"/>
                  </a:ext>
                </a:extLst>
              </p:cNvPr>
              <p:cNvSpPr txBox="1"/>
              <p:nvPr/>
            </p:nvSpPr>
            <p:spPr>
              <a:xfrm>
                <a:off x="7176119" y="1014169"/>
                <a:ext cx="31008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2A1D673-9F45-CAC6-7837-26A0F9A2DC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119" y="1014169"/>
                <a:ext cx="310085" cy="369332"/>
              </a:xfrm>
              <a:prstGeom prst="rect">
                <a:avLst/>
              </a:prstGeom>
              <a:blipFill>
                <a:blip r:embed="rId14"/>
                <a:stretch>
                  <a:fillRect l="-13725" r="-9804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B8CD813-1B63-2A10-49F8-8C3DF38DC83E}"/>
                  </a:ext>
                </a:extLst>
              </p:cNvPr>
              <p:cNvSpPr txBox="1"/>
              <p:nvPr/>
            </p:nvSpPr>
            <p:spPr>
              <a:xfrm>
                <a:off x="7884599" y="970070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B8CD813-1B63-2A10-49F8-8C3DF38DC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4599" y="970070"/>
                <a:ext cx="317202" cy="369332"/>
              </a:xfrm>
              <a:prstGeom prst="rect">
                <a:avLst/>
              </a:prstGeom>
              <a:blipFill>
                <a:blip r:embed="rId15"/>
                <a:stretch>
                  <a:fillRect l="-13462" r="-961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60B889B-C448-2D7F-1F19-98D46BF790AE}"/>
                  </a:ext>
                </a:extLst>
              </p:cNvPr>
              <p:cNvSpPr txBox="1"/>
              <p:nvPr/>
            </p:nvSpPr>
            <p:spPr>
              <a:xfrm>
                <a:off x="8600197" y="970070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60B889B-C448-2D7F-1F19-98D46BF790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0197" y="970070"/>
                <a:ext cx="317202" cy="369332"/>
              </a:xfrm>
              <a:prstGeom prst="rect">
                <a:avLst/>
              </a:prstGeom>
              <a:blipFill>
                <a:blip r:embed="rId16"/>
                <a:stretch>
                  <a:fillRect l="-15385" r="-961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04F64FD-F9FD-4F2F-3267-BDCC4FD98ACE}"/>
                  </a:ext>
                </a:extLst>
              </p:cNvPr>
              <p:cNvSpPr txBox="1"/>
              <p:nvPr/>
            </p:nvSpPr>
            <p:spPr>
              <a:xfrm>
                <a:off x="9331921" y="970070"/>
                <a:ext cx="30405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04F64FD-F9FD-4F2F-3267-BDCC4FD98A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1921" y="970070"/>
                <a:ext cx="304058" cy="369332"/>
              </a:xfrm>
              <a:prstGeom prst="rect">
                <a:avLst/>
              </a:prstGeom>
              <a:blipFill>
                <a:blip r:embed="rId17"/>
                <a:stretch>
                  <a:fillRect l="-16000" r="-10000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C502589E-6252-3888-775F-9E40FACCAF58}"/>
                  </a:ext>
                </a:extLst>
              </p:cNvPr>
              <p:cNvSpPr txBox="1"/>
              <p:nvPr/>
            </p:nvSpPr>
            <p:spPr>
              <a:xfrm>
                <a:off x="9964288" y="985379"/>
                <a:ext cx="31720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C502589E-6252-3888-775F-9E40FACCAF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4288" y="985379"/>
                <a:ext cx="317202" cy="369332"/>
              </a:xfrm>
              <a:prstGeom prst="rect">
                <a:avLst/>
              </a:prstGeom>
              <a:blipFill>
                <a:blip r:embed="rId18"/>
                <a:stretch>
                  <a:fillRect l="-15385" r="-9615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B1071E2-A5E5-EA18-97BF-2B7A3886834B}"/>
                  </a:ext>
                </a:extLst>
              </p:cNvPr>
              <p:cNvSpPr txBox="1"/>
              <p:nvPr/>
            </p:nvSpPr>
            <p:spPr>
              <a:xfrm>
                <a:off x="6551383" y="1282068"/>
                <a:ext cx="4544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B1071E2-A5E5-EA18-97BF-2B7A388683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1383" y="1282068"/>
                <a:ext cx="454483" cy="369332"/>
              </a:xfrm>
              <a:prstGeom prst="rect">
                <a:avLst/>
              </a:prstGeom>
              <a:blipFill>
                <a:blip r:embed="rId19"/>
                <a:stretch>
                  <a:fillRect l="-10811" r="-6757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695C865-6537-357F-E740-4FCBB764175A}"/>
                  </a:ext>
                </a:extLst>
              </p:cNvPr>
              <p:cNvSpPr txBox="1"/>
              <p:nvPr/>
            </p:nvSpPr>
            <p:spPr>
              <a:xfrm>
                <a:off x="4596414" y="2408689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695C865-6537-357F-E740-4FCBB76417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6414" y="2408689"/>
                <a:ext cx="527465" cy="46166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6D7F4E63-CF2C-A91D-E9A3-58DAA35CCE9A}"/>
                  </a:ext>
                </a:extLst>
              </p:cNvPr>
              <p:cNvSpPr txBox="1"/>
              <p:nvPr/>
            </p:nvSpPr>
            <p:spPr>
              <a:xfrm>
                <a:off x="2897863" y="1302222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6D7F4E63-CF2C-A91D-E9A3-58DAA35CCE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7863" y="1302222"/>
                <a:ext cx="656402" cy="46166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61520EA-D790-DD29-D272-01CFBE32B4C1}"/>
                  </a:ext>
                </a:extLst>
              </p:cNvPr>
              <p:cNvSpPr txBox="1"/>
              <p:nvPr/>
            </p:nvSpPr>
            <p:spPr>
              <a:xfrm>
                <a:off x="2984414" y="3517908"/>
                <a:ext cx="4956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61520EA-D790-DD29-D272-01CFBE32B4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414" y="3517908"/>
                <a:ext cx="495606" cy="46166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875D9339-B241-B2AB-DFAC-04F6396D7927}"/>
                  </a:ext>
                </a:extLst>
              </p:cNvPr>
              <p:cNvSpPr txBox="1"/>
              <p:nvPr/>
            </p:nvSpPr>
            <p:spPr>
              <a:xfrm>
                <a:off x="1152854" y="2406979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875D9339-B241-B2AB-DFAC-04F6396D7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854" y="2406979"/>
                <a:ext cx="527465" cy="46166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692253F-752D-DC06-E8E0-FE6070AA3522}"/>
                  </a:ext>
                </a:extLst>
              </p:cNvPr>
              <p:cNvSpPr txBox="1"/>
              <p:nvPr/>
            </p:nvSpPr>
            <p:spPr>
              <a:xfrm>
                <a:off x="6551383" y="1812484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692253F-752D-DC06-E8E0-FE6070AA3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1383" y="1812484"/>
                <a:ext cx="461601" cy="369332"/>
              </a:xfrm>
              <a:prstGeom prst="rect">
                <a:avLst/>
              </a:prstGeom>
              <a:blipFill>
                <a:blip r:embed="rId24"/>
                <a:stretch>
                  <a:fillRect l="-10667" r="-6667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9078123-9871-FF1B-1792-534ACE024C15}"/>
                  </a:ext>
                </a:extLst>
              </p:cNvPr>
              <p:cNvSpPr txBox="1"/>
              <p:nvPr/>
            </p:nvSpPr>
            <p:spPr>
              <a:xfrm>
                <a:off x="6551384" y="2266310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9078123-9871-FF1B-1792-534ACE024C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1384" y="2266310"/>
                <a:ext cx="461601" cy="369332"/>
              </a:xfrm>
              <a:prstGeom prst="rect">
                <a:avLst/>
              </a:prstGeom>
              <a:blipFill>
                <a:blip r:embed="rId25"/>
                <a:stretch>
                  <a:fillRect l="-10667" r="-6667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269AC06E-385A-0311-7E1D-C06D20F31926}"/>
                  </a:ext>
                </a:extLst>
              </p:cNvPr>
              <p:cNvSpPr txBox="1"/>
              <p:nvPr/>
            </p:nvSpPr>
            <p:spPr>
              <a:xfrm>
                <a:off x="6557078" y="2600538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269AC06E-385A-0311-7E1D-C06D20F319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78" y="2600538"/>
                <a:ext cx="461601" cy="369332"/>
              </a:xfrm>
              <a:prstGeom prst="rect">
                <a:avLst/>
              </a:prstGeom>
              <a:blipFill>
                <a:blip r:embed="rId26"/>
                <a:stretch>
                  <a:fillRect l="-10667" r="-6667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C658C1E7-BE13-CD2E-7DD9-050E072F3084}"/>
                  </a:ext>
                </a:extLst>
              </p:cNvPr>
              <p:cNvSpPr txBox="1"/>
              <p:nvPr/>
            </p:nvSpPr>
            <p:spPr>
              <a:xfrm>
                <a:off x="6575766" y="3054364"/>
                <a:ext cx="46160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C658C1E7-BE13-CD2E-7DD9-050E072F30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5766" y="3054364"/>
                <a:ext cx="461601" cy="369332"/>
              </a:xfrm>
              <a:prstGeom prst="rect">
                <a:avLst/>
              </a:prstGeom>
              <a:blipFill>
                <a:blip r:embed="rId27"/>
                <a:stretch>
                  <a:fillRect l="-10667" r="-6667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88872D8-2F0A-D8C7-CF4B-783D4CCDA233}"/>
              </a:ext>
            </a:extLst>
          </p:cNvPr>
          <p:cNvSpPr/>
          <p:nvPr/>
        </p:nvSpPr>
        <p:spPr>
          <a:xfrm>
            <a:off x="7711760" y="949121"/>
            <a:ext cx="643622" cy="2474575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20C41D9-76DE-19B9-EACD-3649255FEBC1}"/>
              </a:ext>
            </a:extLst>
          </p:cNvPr>
          <p:cNvSpPr/>
          <p:nvPr/>
        </p:nvSpPr>
        <p:spPr>
          <a:xfrm>
            <a:off x="6403454" y="1797961"/>
            <a:ext cx="1951928" cy="46373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CE29CCC-4FAA-1C79-C59F-F9C91FA5E8EB}"/>
              </a:ext>
            </a:extLst>
          </p:cNvPr>
          <p:cNvSpPr/>
          <p:nvPr/>
        </p:nvSpPr>
        <p:spPr>
          <a:xfrm>
            <a:off x="6382849" y="2259885"/>
            <a:ext cx="2697760" cy="435111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6438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F0D50-9C91-7531-B02D-559A44C56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81">
            <a:extLst>
              <a:ext uri="{FF2B5EF4-FFF2-40B4-BE49-F238E27FC236}">
                <a16:creationId xmlns:a16="http://schemas.microsoft.com/office/drawing/2014/main" id="{3EA00E2C-C5AD-DA99-E334-6592C6284CD8}"/>
              </a:ext>
            </a:extLst>
          </p:cNvPr>
          <p:cNvSpPr/>
          <p:nvPr/>
        </p:nvSpPr>
        <p:spPr>
          <a:xfrm>
            <a:off x="129539" y="992993"/>
            <a:ext cx="5605669" cy="28605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A81812-46B8-93BC-219E-652349E15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" y="170815"/>
            <a:ext cx="1917922" cy="720725"/>
          </a:xfrm>
        </p:spPr>
        <p:txBody>
          <a:bodyPr>
            <a:normAutofit/>
          </a:bodyPr>
          <a:lstStyle/>
          <a:p>
            <a:r>
              <a:rPr lang="de-DE" sz="3200" dirty="0"/>
              <a:t>Solutions</a:t>
            </a:r>
            <a:endParaRPr lang="en-US" sz="320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A81D2A0-78B9-D489-9F77-C53BACADC0DB}"/>
              </a:ext>
            </a:extLst>
          </p:cNvPr>
          <p:cNvSpPr>
            <a:spLocks noChangeAspect="1"/>
          </p:cNvSpPr>
          <p:nvPr/>
        </p:nvSpPr>
        <p:spPr>
          <a:xfrm>
            <a:off x="2815385" y="1042453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1680303-7B30-57F4-EC36-CA3302793D5D}"/>
              </a:ext>
            </a:extLst>
          </p:cNvPr>
          <p:cNvSpPr>
            <a:spLocks noChangeAspect="1"/>
          </p:cNvSpPr>
          <p:nvPr/>
        </p:nvSpPr>
        <p:spPr>
          <a:xfrm>
            <a:off x="2826815" y="3245045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8531265-F331-06A1-A87B-28CD7CFA3972}"/>
              </a:ext>
            </a:extLst>
          </p:cNvPr>
          <p:cNvCxnSpPr>
            <a:cxnSpLocks/>
            <a:stCxn id="18" idx="6"/>
            <a:endCxn id="50" idx="3"/>
          </p:cNvCxnSpPr>
          <p:nvPr/>
        </p:nvCxnSpPr>
        <p:spPr>
          <a:xfrm flipV="1">
            <a:off x="3309618" y="2546813"/>
            <a:ext cx="1208754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0AB3249-1A2B-9FBB-F28C-D841A2433CE4}"/>
              </a:ext>
            </a:extLst>
          </p:cNvPr>
          <p:cNvCxnSpPr>
            <a:cxnSpLocks/>
            <a:stCxn id="17" idx="6"/>
            <a:endCxn id="50" idx="1"/>
          </p:cNvCxnSpPr>
          <p:nvPr/>
        </p:nvCxnSpPr>
        <p:spPr>
          <a:xfrm>
            <a:off x="3298188" y="1283855"/>
            <a:ext cx="1220184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9AFBB9D-7139-122C-7D69-EEDE1F6AC581}"/>
                  </a:ext>
                </a:extLst>
              </p:cNvPr>
              <p:cNvSpPr txBox="1"/>
              <p:nvPr/>
            </p:nvSpPr>
            <p:spPr>
              <a:xfrm>
                <a:off x="3665639" y="1157666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9AFBB9D-7139-122C-7D69-EEDE1F6AC5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5639" y="1157666"/>
                <a:ext cx="1006792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959F68-D6A4-BD82-6764-10CC63BFF6FC}"/>
                  </a:ext>
                </a:extLst>
              </p:cNvPr>
              <p:cNvSpPr txBox="1"/>
              <p:nvPr/>
            </p:nvSpPr>
            <p:spPr>
              <a:xfrm>
                <a:off x="3734225" y="2956441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959F68-D6A4-BD82-6764-10CC63BFF6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4225" y="2956441"/>
                <a:ext cx="1006792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074C2C-D337-E0CA-4EFF-2150F14A183A}"/>
                  </a:ext>
                </a:extLst>
              </p:cNvPr>
              <p:cNvSpPr txBox="1"/>
              <p:nvPr/>
            </p:nvSpPr>
            <p:spPr>
              <a:xfrm>
                <a:off x="1353030" y="1116321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074C2C-D337-E0CA-4EFF-2150F14A18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3030" y="1116321"/>
                <a:ext cx="1006792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3E09733-124D-3F49-EFAD-93E3CF87C1F1}"/>
                  </a:ext>
                </a:extLst>
              </p:cNvPr>
              <p:cNvSpPr txBox="1"/>
              <p:nvPr/>
            </p:nvSpPr>
            <p:spPr>
              <a:xfrm>
                <a:off x="1393812" y="296020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3E09733-124D-3F49-EFAD-93E3CF87C1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3812" y="2960205"/>
                <a:ext cx="1006792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E2FA917D-6C29-28D4-BDBB-7F188C7CF5D9}"/>
              </a:ext>
            </a:extLst>
          </p:cNvPr>
          <p:cNvSpPr>
            <a:spLocks noChangeAspect="1"/>
          </p:cNvSpPr>
          <p:nvPr/>
        </p:nvSpPr>
        <p:spPr>
          <a:xfrm>
            <a:off x="993891" y="2134715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4F10531-369F-1CB1-AB8A-40EFC5940199}"/>
              </a:ext>
            </a:extLst>
          </p:cNvPr>
          <p:cNvCxnSpPr>
            <a:cxnSpLocks/>
            <a:stCxn id="16" idx="7"/>
            <a:endCxn id="17" idx="2"/>
          </p:cNvCxnSpPr>
          <p:nvPr/>
        </p:nvCxnSpPr>
        <p:spPr>
          <a:xfrm flipV="1">
            <a:off x="1405989" y="1283855"/>
            <a:ext cx="1409396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DEA319D-5B61-4717-D608-393D93524ABF}"/>
                  </a:ext>
                </a:extLst>
              </p:cNvPr>
              <p:cNvSpPr txBox="1"/>
              <p:nvPr/>
            </p:nvSpPr>
            <p:spPr>
              <a:xfrm>
                <a:off x="253658" y="1903882"/>
                <a:ext cx="6427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DEA319D-5B61-4717-D608-393D93524A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658" y="1903882"/>
                <a:ext cx="642780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80A376A-2BAE-ECF6-E192-9026242F70F5}"/>
              </a:ext>
            </a:extLst>
          </p:cNvPr>
          <p:cNvCxnSpPr>
            <a:cxnSpLocks/>
          </p:cNvCxnSpPr>
          <p:nvPr/>
        </p:nvCxnSpPr>
        <p:spPr>
          <a:xfrm>
            <a:off x="318908" y="2365547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5D0AB80-2C80-6882-8E48-9B82BF7E8239}"/>
              </a:ext>
            </a:extLst>
          </p:cNvPr>
          <p:cNvCxnSpPr>
            <a:cxnSpLocks/>
            <a:stCxn id="16" idx="5"/>
            <a:endCxn id="18" idx="2"/>
          </p:cNvCxnSpPr>
          <p:nvPr/>
        </p:nvCxnSpPr>
        <p:spPr>
          <a:xfrm>
            <a:off x="1405989" y="2546813"/>
            <a:ext cx="1420826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F82D3813-453A-CE0C-F0E7-FA399D878A67}"/>
              </a:ext>
            </a:extLst>
          </p:cNvPr>
          <p:cNvSpPr>
            <a:spLocks noChangeAspect="1"/>
          </p:cNvSpPr>
          <p:nvPr/>
        </p:nvSpPr>
        <p:spPr>
          <a:xfrm>
            <a:off x="4447667" y="2134715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010D37B-0A0D-D1B1-8D87-8E391EDD1C2C}"/>
              </a:ext>
            </a:extLst>
          </p:cNvPr>
          <p:cNvCxnSpPr>
            <a:cxnSpLocks/>
          </p:cNvCxnSpPr>
          <p:nvPr/>
        </p:nvCxnSpPr>
        <p:spPr>
          <a:xfrm>
            <a:off x="4942345" y="2447366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B6DD358-ABC5-E124-FD7A-9EEB1BA1EF65}"/>
                  </a:ext>
                </a:extLst>
              </p:cNvPr>
              <p:cNvSpPr txBox="1"/>
              <p:nvPr/>
            </p:nvSpPr>
            <p:spPr>
              <a:xfrm>
                <a:off x="4757380" y="174375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B6DD358-ABC5-E124-FD7A-9EEB1BA1EF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7380" y="1743755"/>
                <a:ext cx="1006792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9A33F79-9EF5-9B98-FE8F-65F713E45A52}"/>
                  </a:ext>
                </a:extLst>
              </p:cNvPr>
              <p:cNvSpPr txBox="1"/>
              <p:nvPr/>
            </p:nvSpPr>
            <p:spPr>
              <a:xfrm>
                <a:off x="4437719" y="2110515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9A33F79-9EF5-9B98-FE8F-65F713E45A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7719" y="2110515"/>
                <a:ext cx="527465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21338760-763F-AF87-AA2C-E7AAF1E86D9B}"/>
                  </a:ext>
                </a:extLst>
              </p:cNvPr>
              <p:cNvSpPr txBox="1"/>
              <p:nvPr/>
            </p:nvSpPr>
            <p:spPr>
              <a:xfrm>
                <a:off x="2739168" y="1004048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21338760-763F-AF87-AA2C-E7AAF1E86D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9168" y="1004048"/>
                <a:ext cx="656402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19F357C6-6F66-78A4-78BC-D2A251CC9F40}"/>
                  </a:ext>
                </a:extLst>
              </p:cNvPr>
              <p:cNvSpPr txBox="1"/>
              <p:nvPr/>
            </p:nvSpPr>
            <p:spPr>
              <a:xfrm>
                <a:off x="2825719" y="3219734"/>
                <a:ext cx="4956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19F357C6-6F66-78A4-78BC-D2A251CC9F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5719" y="3219734"/>
                <a:ext cx="495606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C4E61A6-A24B-7322-43FF-F7D1F0A246D8}"/>
                  </a:ext>
                </a:extLst>
              </p:cNvPr>
              <p:cNvSpPr txBox="1"/>
              <p:nvPr/>
            </p:nvSpPr>
            <p:spPr>
              <a:xfrm>
                <a:off x="994159" y="2108805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C4E61A6-A24B-7322-43FF-F7D1F0A246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159" y="2108805"/>
                <a:ext cx="527465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B0ED0FD4-A073-8BEA-50AB-521B8F76A738}"/>
              </a:ext>
            </a:extLst>
          </p:cNvPr>
          <p:cNvSpPr txBox="1"/>
          <p:nvPr/>
        </p:nvSpPr>
        <p:spPr>
          <a:xfrm>
            <a:off x="6599560" y="224900"/>
            <a:ext cx="5404918" cy="176971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de-DE" sz="1400" dirty="0" err="1"/>
              <a:t>Reaction</a:t>
            </a:r>
            <a:r>
              <a:rPr lang="de-DE" sz="1400" dirty="0"/>
              <a:t> 1:  </a:t>
            </a:r>
            <a:r>
              <a:rPr lang="es-ES" sz="1400" dirty="0" err="1"/>
              <a:t>peroxisomal</a:t>
            </a:r>
            <a:r>
              <a:rPr lang="es-ES" sz="1400" dirty="0"/>
              <a:t> </a:t>
            </a:r>
            <a:r>
              <a:rPr lang="es-ES" sz="1400" dirty="0" err="1"/>
              <a:t>acyl-CoA</a:t>
            </a:r>
            <a:r>
              <a:rPr lang="es-ES" sz="1400" dirty="0"/>
              <a:t> </a:t>
            </a:r>
            <a:r>
              <a:rPr lang="es-ES" sz="1400" dirty="0" err="1"/>
              <a:t>thioesterase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s-ES" sz="1400" b="1" dirty="0">
                <a:hlinkClick r:id="rId13"/>
              </a:rPr>
              <a:t>EC </a:t>
            </a:r>
            <a:r>
              <a:rPr lang="es-ES" sz="1400" b="1" dirty="0" err="1">
                <a:hlinkClick r:id="rId13"/>
              </a:rPr>
              <a:t>code</a:t>
            </a:r>
            <a:r>
              <a:rPr lang="es-ES" sz="1400" b="1" dirty="0">
                <a:hlinkClick r:id="rId13"/>
              </a:rPr>
              <a:t>: 3.1.2.2</a:t>
            </a:r>
            <a:endParaRPr lang="en-US" sz="1400" b="1" dirty="0"/>
          </a:p>
          <a:p>
            <a:pPr>
              <a:spcAft>
                <a:spcPts val="600"/>
              </a:spcAft>
            </a:pPr>
            <a:r>
              <a:rPr lang="en-US" sz="1400" dirty="0"/>
              <a:t>Gene:  </a:t>
            </a:r>
            <a:r>
              <a:rPr lang="en-US" sz="1400" b="1" dirty="0"/>
              <a:t>YJR019C</a:t>
            </a:r>
          </a:p>
          <a:p>
            <a:pPr>
              <a:spcAft>
                <a:spcPts val="600"/>
              </a:spcAft>
            </a:pPr>
            <a:r>
              <a:rPr lang="pt-BR" sz="1400" dirty="0"/>
              <a:t>Formula:</a:t>
            </a:r>
          </a:p>
          <a:p>
            <a:pPr>
              <a:spcAft>
                <a:spcPts val="600"/>
              </a:spcAft>
            </a:pPr>
            <a:r>
              <a:rPr lang="pt-BR" sz="1400" dirty="0"/>
              <a:t>C31H50N7O17P3S + H2O  -&gt;  </a:t>
            </a:r>
            <a:r>
              <a:rPr lang="pt-BR" sz="1400" b="1" dirty="0">
                <a:solidFill>
                  <a:srgbClr val="0070C0"/>
                </a:solidFill>
              </a:rPr>
              <a:t>C21H32N7O16P3S</a:t>
            </a:r>
            <a:r>
              <a:rPr lang="pt-BR" sz="1400" dirty="0"/>
              <a:t> + </a:t>
            </a:r>
            <a:r>
              <a:rPr lang="pt-BR" sz="1400" b="1" dirty="0">
                <a:solidFill>
                  <a:schemeClr val="accent6">
                    <a:lumMod val="75000"/>
                  </a:schemeClr>
                </a:solidFill>
              </a:rPr>
              <a:t>C10H19O2</a:t>
            </a:r>
            <a:r>
              <a:rPr lang="pt-BR" sz="1400" dirty="0"/>
              <a:t> + H</a:t>
            </a:r>
          </a:p>
          <a:p>
            <a:pPr>
              <a:spcAft>
                <a:spcPts val="600"/>
              </a:spcAft>
            </a:pPr>
            <a:r>
              <a:rPr lang="pt-BR" sz="1400" dirty="0"/>
              <a:t>Location: Peroxisome</a:t>
            </a:r>
            <a:endParaRPr lang="en-US" sz="14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07D6AC-AE7C-7151-E9BE-71952226D8A2}"/>
              </a:ext>
            </a:extLst>
          </p:cNvPr>
          <p:cNvSpPr txBox="1"/>
          <p:nvPr/>
        </p:nvSpPr>
        <p:spPr>
          <a:xfrm>
            <a:off x="6599560" y="2488722"/>
            <a:ext cx="5404918" cy="169277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dirty="0"/>
              <a:t>Reaction 2: acetyl-CoA C-acyltransferase (decanoyl-CoA)</a:t>
            </a:r>
          </a:p>
          <a:p>
            <a:pPr>
              <a:spcAft>
                <a:spcPts val="600"/>
              </a:spcAft>
            </a:pPr>
            <a:r>
              <a:rPr lang="en-US" sz="1400" b="1" dirty="0">
                <a:hlinkClick r:id="rId14"/>
              </a:rPr>
              <a:t>EC code: 2.3.1.16</a:t>
            </a:r>
            <a:endParaRPr lang="en-US" sz="1400" b="1" dirty="0"/>
          </a:p>
          <a:p>
            <a:pPr>
              <a:spcAft>
                <a:spcPts val="600"/>
              </a:spcAft>
            </a:pPr>
            <a:r>
              <a:rPr lang="es-ES" sz="1400" dirty="0"/>
              <a:t>Gene:  </a:t>
            </a:r>
            <a:r>
              <a:rPr lang="es-ES" sz="1400" b="1" dirty="0"/>
              <a:t>YIL160C</a:t>
            </a:r>
          </a:p>
          <a:p>
            <a:pPr>
              <a:spcAft>
                <a:spcPts val="600"/>
              </a:spcAft>
            </a:pPr>
            <a:r>
              <a:rPr lang="es-ES" sz="1400" dirty="0"/>
              <a:t>C33H52N7O18P3S + </a:t>
            </a:r>
            <a:r>
              <a:rPr lang="es-ES" sz="1400" b="1" dirty="0">
                <a:solidFill>
                  <a:srgbClr val="0070C0"/>
                </a:solidFill>
              </a:rPr>
              <a:t>C21H32N7O16P3S</a:t>
            </a:r>
            <a:r>
              <a:rPr lang="es-ES" sz="1400" dirty="0"/>
              <a:t>  -&gt;  </a:t>
            </a:r>
            <a:r>
              <a:rPr lang="es-ES" sz="1400" dirty="0">
                <a:solidFill>
                  <a:srgbClr val="C00000"/>
                </a:solidFill>
              </a:rPr>
              <a:t>C23H34N7O17P3S</a:t>
            </a:r>
            <a:r>
              <a:rPr lang="es-ES" sz="1400" dirty="0"/>
              <a:t> + C31H50N7O17P3S</a:t>
            </a:r>
          </a:p>
          <a:p>
            <a:pPr>
              <a:spcAft>
                <a:spcPts val="600"/>
              </a:spcAft>
            </a:pPr>
            <a:r>
              <a:rPr lang="pt-BR" sz="1400" dirty="0"/>
              <a:t>Location: Peroxisome</a:t>
            </a:r>
            <a:endParaRPr lang="en-US" sz="14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FD323D-6EB9-8CC2-5776-C5FFA2E0EF51}"/>
              </a:ext>
            </a:extLst>
          </p:cNvPr>
          <p:cNvSpPr txBox="1"/>
          <p:nvPr/>
        </p:nvSpPr>
        <p:spPr>
          <a:xfrm>
            <a:off x="6599560" y="4724397"/>
            <a:ext cx="5404918" cy="169277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dirty="0"/>
              <a:t>Reaction 3: fatty-acid--CoA ligase (decanoate)</a:t>
            </a:r>
          </a:p>
          <a:p>
            <a:pPr>
              <a:spcAft>
                <a:spcPts val="600"/>
              </a:spcAft>
            </a:pPr>
            <a:r>
              <a:rPr lang="es-ES" sz="1400" b="1" dirty="0">
                <a:hlinkClick r:id="rId15"/>
              </a:rPr>
              <a:t>EC </a:t>
            </a:r>
            <a:r>
              <a:rPr lang="es-ES" sz="1400" b="1" dirty="0" err="1">
                <a:hlinkClick r:id="rId15"/>
              </a:rPr>
              <a:t>code</a:t>
            </a:r>
            <a:r>
              <a:rPr lang="es-ES" sz="1400" b="1" dirty="0">
                <a:hlinkClick r:id="rId15"/>
              </a:rPr>
              <a:t>: 6.2.1.3</a:t>
            </a:r>
            <a:endParaRPr lang="es-ES" sz="1400" dirty="0"/>
          </a:p>
          <a:p>
            <a:pPr>
              <a:spcAft>
                <a:spcPts val="600"/>
              </a:spcAft>
            </a:pPr>
            <a:r>
              <a:rPr lang="es-ES" sz="1400" dirty="0"/>
              <a:t>Gene:  </a:t>
            </a:r>
            <a:r>
              <a:rPr lang="es-ES" sz="1400" b="1" dirty="0"/>
              <a:t>YER015W</a:t>
            </a:r>
          </a:p>
          <a:p>
            <a:pPr>
              <a:spcAft>
                <a:spcPts val="600"/>
              </a:spcAft>
            </a:pPr>
            <a:r>
              <a:rPr lang="pt-BR" sz="1400" dirty="0"/>
              <a:t>C10H12N5O13P3 + C21H32N7O16P3S + </a:t>
            </a:r>
            <a:r>
              <a:rPr lang="pt-BR" sz="1400" b="1" dirty="0">
                <a:solidFill>
                  <a:schemeClr val="accent3"/>
                </a:solidFill>
              </a:rPr>
              <a:t>C10H19O2</a:t>
            </a:r>
            <a:r>
              <a:rPr lang="pt-BR" sz="1400" dirty="0"/>
              <a:t>  -&gt;  C10H12N5O7P + </a:t>
            </a:r>
            <a:r>
              <a:rPr lang="pt-BR" sz="1400" dirty="0">
                <a:solidFill>
                  <a:srgbClr val="C00000"/>
                </a:solidFill>
              </a:rPr>
              <a:t>C31H50N7O17P3S</a:t>
            </a:r>
            <a:r>
              <a:rPr lang="pt-BR" sz="1400" dirty="0"/>
              <a:t> + HO7P2</a:t>
            </a:r>
          </a:p>
          <a:p>
            <a:pPr>
              <a:spcAft>
                <a:spcPts val="600"/>
              </a:spcAft>
            </a:pPr>
            <a:r>
              <a:rPr lang="pt-BR" sz="1400" dirty="0"/>
              <a:t>Location: Peroxisome</a:t>
            </a:r>
            <a:endParaRPr lang="en-US" sz="14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0AA647-B081-D2A6-9132-C3BFAD789FB3}"/>
              </a:ext>
            </a:extLst>
          </p:cNvPr>
          <p:cNvSpPr txBox="1"/>
          <p:nvPr/>
        </p:nvSpPr>
        <p:spPr>
          <a:xfrm>
            <a:off x="129539" y="4534594"/>
            <a:ext cx="61125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pt-BR" sz="1400" dirty="0"/>
              <a:t>Metabolite m2: </a:t>
            </a:r>
            <a:r>
              <a:rPr lang="pt-BR" sz="1400" b="1" dirty="0">
                <a:solidFill>
                  <a:srgbClr val="0070C0"/>
                </a:solidFill>
              </a:rPr>
              <a:t>C21H32N7O16P3S</a:t>
            </a:r>
            <a:r>
              <a:rPr lang="pt-BR" sz="1400" dirty="0"/>
              <a:t> | Name: coenzyme A| 405   | ID: s_0534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B2B6895-11D6-61A3-64CA-461D31AD02DF}"/>
              </a:ext>
            </a:extLst>
          </p:cNvPr>
          <p:cNvSpPr txBox="1"/>
          <p:nvPr/>
        </p:nvSpPr>
        <p:spPr>
          <a:xfrm>
            <a:off x="129015" y="4930770"/>
            <a:ext cx="61125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pt-BR" sz="1400" dirty="0"/>
              <a:t>Metabolite m3: </a:t>
            </a:r>
            <a:r>
              <a:rPr lang="pt-BR" sz="1400" b="1" dirty="0">
                <a:solidFill>
                  <a:schemeClr val="accent6">
                    <a:lumMod val="75000"/>
                  </a:schemeClr>
                </a:solidFill>
              </a:rPr>
              <a:t>C10H19O2</a:t>
            </a:r>
            <a:r>
              <a:rPr lang="pt-BR" sz="1400" dirty="0"/>
              <a:t> | Name: decanoate| 460   | ID: s_0600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71CDCD-CDF0-B672-C4AD-1A85FAEB1BD0}"/>
              </a:ext>
            </a:extLst>
          </p:cNvPr>
          <p:cNvSpPr txBox="1"/>
          <p:nvPr/>
        </p:nvSpPr>
        <p:spPr>
          <a:xfrm>
            <a:off x="129015" y="5371803"/>
            <a:ext cx="61125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1400" dirty="0" err="1"/>
              <a:t>Metabolite</a:t>
            </a:r>
            <a:r>
              <a:rPr lang="es-ES" sz="1400" dirty="0"/>
              <a:t> m4: </a:t>
            </a:r>
            <a:r>
              <a:rPr lang="es-ES" sz="1400" dirty="0">
                <a:solidFill>
                  <a:srgbClr val="C00000"/>
                </a:solidFill>
              </a:rPr>
              <a:t>C31H50N7O17P3S</a:t>
            </a:r>
            <a:endParaRPr lang="es-E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45805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raphic 45">
            <a:extLst>
              <a:ext uri="{FF2B5EF4-FFF2-40B4-BE49-F238E27FC236}">
                <a16:creationId xmlns:a16="http://schemas.microsoft.com/office/drawing/2014/main" id="{626ADE63-46A6-CCA2-2409-373D63232E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7324" y="857690"/>
            <a:ext cx="6667500" cy="60293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23179B-9D2D-F996-9FD9-84BA3DCD3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119" y="113154"/>
            <a:ext cx="4639918" cy="723446"/>
          </a:xfrm>
        </p:spPr>
        <p:txBody>
          <a:bodyPr>
            <a:normAutofit/>
          </a:bodyPr>
          <a:lstStyle/>
          <a:p>
            <a:r>
              <a:rPr lang="en-US" sz="3200" dirty="0"/>
              <a:t>Mapping with restrictions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FFBB67B-5A73-1EF5-2CB8-3A325AF07879}"/>
                  </a:ext>
                </a:extLst>
              </p:cNvPr>
              <p:cNvSpPr txBox="1"/>
              <p:nvPr/>
            </p:nvSpPr>
            <p:spPr>
              <a:xfrm>
                <a:off x="6690692" y="95616"/>
                <a:ext cx="5501308" cy="15542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de-DE" dirty="0" err="1"/>
                  <a:t>Restrictions</a:t>
                </a:r>
                <a:r>
                  <a:rPr lang="de-DE" dirty="0"/>
                  <a:t>: 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de-DE" dirty="0"/>
                  <a:t>The metabolite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dirty="0"/>
                  <a:t> is a rich extracellular metabolite.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dirty="0"/>
                  <a:t>The metabolic network associated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dirty="0"/>
                  <a:t> is the least impactful. </a:t>
                </a: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FFBB67B-5A73-1EF5-2CB8-3A325AF078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0692" y="95616"/>
                <a:ext cx="5501308" cy="1554272"/>
              </a:xfrm>
              <a:prstGeom prst="rect">
                <a:avLst/>
              </a:prstGeom>
              <a:blipFill>
                <a:blip r:embed="rId4"/>
                <a:stretch>
                  <a:fillRect l="-998" t="-1961" b="-5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Oval 47">
            <a:extLst>
              <a:ext uri="{FF2B5EF4-FFF2-40B4-BE49-F238E27FC236}">
                <a16:creationId xmlns:a16="http://schemas.microsoft.com/office/drawing/2014/main" id="{381E688D-F7B1-B9C2-68AE-0A741E28239E}"/>
              </a:ext>
            </a:extLst>
          </p:cNvPr>
          <p:cNvSpPr>
            <a:spLocks noChangeAspect="1"/>
          </p:cNvSpPr>
          <p:nvPr/>
        </p:nvSpPr>
        <p:spPr>
          <a:xfrm>
            <a:off x="9243213" y="2639025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3C8BA605-8A53-A383-773F-09F414DD9D61}"/>
              </a:ext>
            </a:extLst>
          </p:cNvPr>
          <p:cNvSpPr>
            <a:spLocks noChangeAspect="1"/>
          </p:cNvSpPr>
          <p:nvPr/>
        </p:nvSpPr>
        <p:spPr>
          <a:xfrm>
            <a:off x="9254643" y="4841617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C570875-FA04-5983-08A4-9CD3F7198087}"/>
              </a:ext>
            </a:extLst>
          </p:cNvPr>
          <p:cNvCxnSpPr>
            <a:cxnSpLocks/>
            <a:stCxn id="49" idx="6"/>
            <a:endCxn id="61" idx="3"/>
          </p:cNvCxnSpPr>
          <p:nvPr/>
        </p:nvCxnSpPr>
        <p:spPr>
          <a:xfrm flipV="1">
            <a:off x="9737446" y="4143385"/>
            <a:ext cx="1208754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B4E7AA1-3299-D0A5-38F4-0607CDAE63AA}"/>
              </a:ext>
            </a:extLst>
          </p:cNvPr>
          <p:cNvCxnSpPr>
            <a:cxnSpLocks/>
            <a:stCxn id="48" idx="6"/>
            <a:endCxn id="61" idx="1"/>
          </p:cNvCxnSpPr>
          <p:nvPr/>
        </p:nvCxnSpPr>
        <p:spPr>
          <a:xfrm>
            <a:off x="9726016" y="2880427"/>
            <a:ext cx="1220184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2D5619C-07E5-3A24-75A8-7F054F67BDFA}"/>
                  </a:ext>
                </a:extLst>
              </p:cNvPr>
              <p:cNvSpPr txBox="1"/>
              <p:nvPr/>
            </p:nvSpPr>
            <p:spPr>
              <a:xfrm>
                <a:off x="10093467" y="2754238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2D5619C-07E5-3A24-75A8-7F054F67BD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93467" y="2754238"/>
                <a:ext cx="1006792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E527C76-CE34-2DE5-13B7-8858B3AF5588}"/>
                  </a:ext>
                </a:extLst>
              </p:cNvPr>
              <p:cNvSpPr txBox="1"/>
              <p:nvPr/>
            </p:nvSpPr>
            <p:spPr>
              <a:xfrm>
                <a:off x="10162053" y="4553013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E527C76-CE34-2DE5-13B7-8858B3AF55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2053" y="4553013"/>
                <a:ext cx="1006792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160E4DF-CAE3-24B0-F913-7684C9DD8037}"/>
                  </a:ext>
                </a:extLst>
              </p:cNvPr>
              <p:cNvSpPr txBox="1"/>
              <p:nvPr/>
            </p:nvSpPr>
            <p:spPr>
              <a:xfrm>
                <a:off x="7780858" y="2712893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160E4DF-CAE3-24B0-F913-7684C9DD80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0858" y="2712893"/>
                <a:ext cx="1006792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64B5B1A-1541-DCA8-34F8-DC0758820845}"/>
                  </a:ext>
                </a:extLst>
              </p:cNvPr>
              <p:cNvSpPr txBox="1"/>
              <p:nvPr/>
            </p:nvSpPr>
            <p:spPr>
              <a:xfrm>
                <a:off x="7821640" y="4556777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64B5B1A-1541-DCA8-34F8-DC07588208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1640" y="4556777"/>
                <a:ext cx="1006792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Oval 55">
            <a:extLst>
              <a:ext uri="{FF2B5EF4-FFF2-40B4-BE49-F238E27FC236}">
                <a16:creationId xmlns:a16="http://schemas.microsoft.com/office/drawing/2014/main" id="{A0117D18-8DB2-37E0-D8C7-975965FBBAB4}"/>
              </a:ext>
            </a:extLst>
          </p:cNvPr>
          <p:cNvSpPr>
            <a:spLocks noChangeAspect="1"/>
          </p:cNvSpPr>
          <p:nvPr/>
        </p:nvSpPr>
        <p:spPr>
          <a:xfrm>
            <a:off x="7421719" y="3731287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5CF489CC-2598-77BA-3929-F6D82A31D9F8}"/>
              </a:ext>
            </a:extLst>
          </p:cNvPr>
          <p:cNvCxnSpPr>
            <a:cxnSpLocks/>
            <a:stCxn id="56" idx="7"/>
            <a:endCxn id="48" idx="2"/>
          </p:cNvCxnSpPr>
          <p:nvPr/>
        </p:nvCxnSpPr>
        <p:spPr>
          <a:xfrm flipV="1">
            <a:off x="7833817" y="2880427"/>
            <a:ext cx="1409396" cy="9215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8BDDC60-A96B-BAAE-A671-068F13349521}"/>
                  </a:ext>
                </a:extLst>
              </p:cNvPr>
              <p:cNvSpPr txBox="1"/>
              <p:nvPr/>
            </p:nvSpPr>
            <p:spPr>
              <a:xfrm>
                <a:off x="6681486" y="3500454"/>
                <a:ext cx="6427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8BDDC60-A96B-BAAE-A671-068F133495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1486" y="3500454"/>
                <a:ext cx="642780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1EBB81A-06DA-29CA-4D4F-3035101FC845}"/>
              </a:ext>
            </a:extLst>
          </p:cNvPr>
          <p:cNvCxnSpPr>
            <a:cxnSpLocks/>
          </p:cNvCxnSpPr>
          <p:nvPr/>
        </p:nvCxnSpPr>
        <p:spPr>
          <a:xfrm>
            <a:off x="6746736" y="3962119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0059042-5FBA-9A9C-171E-9CC239A92D15}"/>
              </a:ext>
            </a:extLst>
          </p:cNvPr>
          <p:cNvCxnSpPr>
            <a:cxnSpLocks/>
            <a:stCxn id="56" idx="5"/>
            <a:endCxn id="49" idx="2"/>
          </p:cNvCxnSpPr>
          <p:nvPr/>
        </p:nvCxnSpPr>
        <p:spPr>
          <a:xfrm>
            <a:off x="7833817" y="4143385"/>
            <a:ext cx="1420826" cy="9396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>
            <a:extLst>
              <a:ext uri="{FF2B5EF4-FFF2-40B4-BE49-F238E27FC236}">
                <a16:creationId xmlns:a16="http://schemas.microsoft.com/office/drawing/2014/main" id="{AF0D208A-3297-6E61-B6C6-E76ABA542FF0}"/>
              </a:ext>
            </a:extLst>
          </p:cNvPr>
          <p:cNvSpPr>
            <a:spLocks noChangeAspect="1"/>
          </p:cNvSpPr>
          <p:nvPr/>
        </p:nvSpPr>
        <p:spPr>
          <a:xfrm>
            <a:off x="10875495" y="3731287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6450E29-4B18-783F-8012-BD44F728A77C}"/>
              </a:ext>
            </a:extLst>
          </p:cNvPr>
          <p:cNvCxnSpPr>
            <a:cxnSpLocks/>
          </p:cNvCxnSpPr>
          <p:nvPr/>
        </p:nvCxnSpPr>
        <p:spPr>
          <a:xfrm>
            <a:off x="11370173" y="4043938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B99AFF1-891C-14CE-91BA-8474EF1F0C36}"/>
                  </a:ext>
                </a:extLst>
              </p:cNvPr>
              <p:cNvSpPr txBox="1"/>
              <p:nvPr/>
            </p:nvSpPr>
            <p:spPr>
              <a:xfrm>
                <a:off x="11185208" y="3340327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B99AFF1-891C-14CE-91BA-8474EF1F0C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85208" y="3340327"/>
                <a:ext cx="1006792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9269D2D-FF3E-67DF-2686-65BCB1C7F834}"/>
                  </a:ext>
                </a:extLst>
              </p:cNvPr>
              <p:cNvSpPr txBox="1"/>
              <p:nvPr/>
            </p:nvSpPr>
            <p:spPr>
              <a:xfrm>
                <a:off x="10865547" y="3707087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9269D2D-FF3E-67DF-2686-65BCB1C7F8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5547" y="3707087"/>
                <a:ext cx="527465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5D3C1859-8246-98F9-DCE1-853234CF86D2}"/>
                  </a:ext>
                </a:extLst>
              </p:cNvPr>
              <p:cNvSpPr txBox="1"/>
              <p:nvPr/>
            </p:nvSpPr>
            <p:spPr>
              <a:xfrm>
                <a:off x="9166996" y="2600620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5D3C1859-8246-98F9-DCE1-853234CF86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6996" y="2600620"/>
                <a:ext cx="656402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4AD945A-9B68-249B-6B9D-07D01CA66632}"/>
                  </a:ext>
                </a:extLst>
              </p:cNvPr>
              <p:cNvSpPr txBox="1"/>
              <p:nvPr/>
            </p:nvSpPr>
            <p:spPr>
              <a:xfrm>
                <a:off x="9253547" y="4816306"/>
                <a:ext cx="4956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4AD945A-9B68-249B-6B9D-07D01CA66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53547" y="4816306"/>
                <a:ext cx="495606" cy="46166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BA195E55-FCB0-F83C-3F4E-83E2D76AF7A5}"/>
                  </a:ext>
                </a:extLst>
              </p:cNvPr>
              <p:cNvSpPr txBox="1"/>
              <p:nvPr/>
            </p:nvSpPr>
            <p:spPr>
              <a:xfrm>
                <a:off x="7421987" y="3705377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BA195E55-FCB0-F83C-3F4E-83E2D76AF7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1987" y="3705377"/>
                <a:ext cx="527465" cy="46166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59288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C4E27-BC73-7E99-527A-F1C0E0D41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Picture 68">
            <a:extLst>
              <a:ext uri="{FF2B5EF4-FFF2-40B4-BE49-F238E27FC236}">
                <a16:creationId xmlns:a16="http://schemas.microsoft.com/office/drawing/2014/main" id="{CB495D52-D6F2-CF72-AE1B-9A0B77268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4302" y="3474994"/>
            <a:ext cx="3495675" cy="217099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5687D1C9-6731-8560-7CA1-1BDA047930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282" y="1150165"/>
            <a:ext cx="3495675" cy="220027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grpSp>
        <p:nvGrpSpPr>
          <p:cNvPr id="52" name="Group 51">
            <a:extLst>
              <a:ext uri="{FF2B5EF4-FFF2-40B4-BE49-F238E27FC236}">
                <a16:creationId xmlns:a16="http://schemas.microsoft.com/office/drawing/2014/main" id="{4BDF12EA-5A4A-4549-412E-1A122F171A3F}"/>
              </a:ext>
            </a:extLst>
          </p:cNvPr>
          <p:cNvGrpSpPr>
            <a:grpSpLocks noChangeAspect="1"/>
          </p:cNvGrpSpPr>
          <p:nvPr/>
        </p:nvGrpSpPr>
        <p:grpSpPr>
          <a:xfrm>
            <a:off x="75552" y="5122759"/>
            <a:ext cx="3073558" cy="1475770"/>
            <a:chOff x="7813777" y="-1763"/>
            <a:chExt cx="4378223" cy="210220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387F881-0772-3C46-6A1C-9737522A2F2C}"/>
                </a:ext>
              </a:extLst>
            </p:cNvPr>
            <p:cNvSpPr/>
            <p:nvPr/>
          </p:nvSpPr>
          <p:spPr>
            <a:xfrm>
              <a:off x="7813777" y="-1763"/>
              <a:ext cx="4378223" cy="2102209"/>
            </a:xfrm>
            <a:prstGeom prst="rect">
              <a:avLst/>
            </a:prstGeom>
            <a:solidFill>
              <a:srgbClr val="12121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81B4E578-70C8-A34F-77FA-85DBC4E773C1}"/>
                </a:ext>
              </a:extLst>
            </p:cNvPr>
            <p:cNvGrpSpPr/>
            <p:nvPr/>
          </p:nvGrpSpPr>
          <p:grpSpPr>
            <a:xfrm>
              <a:off x="8130932" y="61972"/>
              <a:ext cx="3616284" cy="1993796"/>
              <a:chOff x="431855" y="1391826"/>
              <a:chExt cx="3616284" cy="199379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B8640B44-C564-4296-217C-0B091D498A50}"/>
                      </a:ext>
                    </a:extLst>
                  </p:cNvPr>
                  <p:cNvSpPr txBox="1"/>
                  <p:nvPr/>
                </p:nvSpPr>
                <p:spPr>
                  <a:xfrm>
                    <a:off x="3419061" y="1887881"/>
                    <a:ext cx="629078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B8640B44-C564-4296-217C-0B091D498A5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9061" y="1887881"/>
                    <a:ext cx="629078" cy="48226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CD395584-8D71-2EC6-044A-F1B4499B284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315417" y="1484012"/>
                <a:ext cx="365760" cy="3657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09A541A6-A6CD-3E3C-C67D-D6F1871FDB6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326847" y="2951311"/>
                <a:ext cx="365760" cy="3657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2F1B90FF-2921-5471-0009-227385AC9A7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858467" y="2257891"/>
                <a:ext cx="365760" cy="36576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6C2DF129-8EC0-DE93-AB30-3E4B9F5853A2}"/>
                  </a:ext>
                </a:extLst>
              </p:cNvPr>
              <p:cNvCxnSpPr>
                <a:cxnSpLocks/>
                <a:stCxn id="36" idx="6"/>
                <a:endCxn id="37" idx="3"/>
              </p:cNvCxnSpPr>
              <p:nvPr/>
            </p:nvCxnSpPr>
            <p:spPr>
              <a:xfrm flipV="1">
                <a:off x="1692607" y="2570087"/>
                <a:ext cx="1219424" cy="564104"/>
              </a:xfrm>
              <a:prstGeom prst="straightConnector1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5DF70F31-30D1-659C-51F1-B7327518926E}"/>
                  </a:ext>
                </a:extLst>
              </p:cNvPr>
              <p:cNvCxnSpPr>
                <a:stCxn id="35" idx="6"/>
                <a:endCxn id="37" idx="1"/>
              </p:cNvCxnSpPr>
              <p:nvPr/>
            </p:nvCxnSpPr>
            <p:spPr>
              <a:xfrm>
                <a:off x="1681177" y="1666892"/>
                <a:ext cx="1230854" cy="644563"/>
              </a:xfrm>
              <a:prstGeom prst="straightConnector1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D4D8E2A3-AA5D-B11F-63FC-A31FA2573E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5317" y="1666892"/>
                <a:ext cx="800100" cy="0"/>
              </a:xfrm>
              <a:prstGeom prst="straightConnector1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1EE58497-0AC3-4C85-8E3F-3C944C97BD7D}"/>
                  </a:ext>
                </a:extLst>
              </p:cNvPr>
              <p:cNvCxnSpPr>
                <a:cxnSpLocks/>
                <a:endCxn id="36" idx="2"/>
              </p:cNvCxnSpPr>
              <p:nvPr/>
            </p:nvCxnSpPr>
            <p:spPr>
              <a:xfrm>
                <a:off x="515317" y="3134191"/>
                <a:ext cx="811530" cy="0"/>
              </a:xfrm>
              <a:prstGeom prst="straightConnector1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453D914B-EBC9-4DCA-C4C4-472F11BD86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4227" y="2425082"/>
                <a:ext cx="800100" cy="0"/>
              </a:xfrm>
              <a:prstGeom prst="straightConnector1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0F27555F-AD6B-8DAF-29DD-E1DEB25241FD}"/>
                      </a:ext>
                    </a:extLst>
                  </p:cNvPr>
                  <p:cNvSpPr txBox="1"/>
                  <p:nvPr/>
                </p:nvSpPr>
                <p:spPr>
                  <a:xfrm>
                    <a:off x="431855" y="1666892"/>
                    <a:ext cx="675668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0F27555F-AD6B-8DAF-29DD-E1DEB25241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1855" y="1666892"/>
                    <a:ext cx="675668" cy="48226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C803C8B0-945C-68BD-EF65-1DC539AA81F4}"/>
                      </a:ext>
                    </a:extLst>
                  </p:cNvPr>
                  <p:cNvSpPr txBox="1"/>
                  <p:nvPr/>
                </p:nvSpPr>
                <p:spPr>
                  <a:xfrm>
                    <a:off x="2298433" y="2903358"/>
                    <a:ext cx="641032" cy="482264"/>
                  </a:xfrm>
                  <a:prstGeom prst="rect">
                    <a:avLst/>
                  </a:prstGeom>
                  <a:noFill/>
                  <a:ln w="19050">
                    <a:solidFill>
                      <a:srgbClr val="C00000"/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de-DE" sz="1600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𝐳</m:t>
                              </m:r>
                            </m:sub>
                          </m:sSub>
                        </m:oMath>
                      </m:oMathPara>
                    </a14:m>
                    <a:endParaRPr lang="en-US" sz="1600" b="1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C803C8B0-945C-68BD-EF65-1DC539AA81F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98433" y="2903358"/>
                    <a:ext cx="641032" cy="48226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9050">
                    <a:solidFill>
                      <a:srgbClr val="C00000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1D6EFC8C-9700-D71B-F9FB-6B17274F59A2}"/>
                      </a:ext>
                    </a:extLst>
                  </p:cNvPr>
                  <p:cNvSpPr txBox="1"/>
                  <p:nvPr/>
                </p:nvSpPr>
                <p:spPr>
                  <a:xfrm>
                    <a:off x="465983" y="2632489"/>
                    <a:ext cx="740342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1D6EFC8C-9700-D71B-F9FB-6B17274F59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5983" y="2632489"/>
                    <a:ext cx="740342" cy="48226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D8258DD7-F843-00AC-1646-EBEC2EACBD9F}"/>
                      </a:ext>
                    </a:extLst>
                  </p:cNvPr>
                  <p:cNvSpPr txBox="1"/>
                  <p:nvPr/>
                </p:nvSpPr>
                <p:spPr>
                  <a:xfrm>
                    <a:off x="2121068" y="1391826"/>
                    <a:ext cx="651146" cy="482264"/>
                  </a:xfrm>
                  <a:prstGeom prst="rect">
                    <a:avLst/>
                  </a:prstGeom>
                  <a:noFill/>
                  <a:ln w="19050">
                    <a:solidFill>
                      <a:srgbClr val="C00000"/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de-DE" sz="1600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sub>
                          </m:sSub>
                        </m:oMath>
                      </m:oMathPara>
                    </a14:m>
                    <a:endParaRPr lang="en-US" sz="1600" b="1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D8258DD7-F843-00AC-1646-EBEC2EACBD9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21068" y="1391826"/>
                    <a:ext cx="651146" cy="48226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19050">
                    <a:solidFill>
                      <a:srgbClr val="C00000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FCAD0005-D28A-F12E-F7F7-AA531253C494}"/>
                      </a:ext>
                    </a:extLst>
                  </p:cNvPr>
                  <p:cNvSpPr txBox="1"/>
                  <p:nvPr/>
                </p:nvSpPr>
                <p:spPr>
                  <a:xfrm>
                    <a:off x="1057861" y="1831144"/>
                    <a:ext cx="970607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FCAD0005-D28A-F12E-F7F7-AA531253C4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57861" y="1831144"/>
                    <a:ext cx="970607" cy="48226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4021F2A5-6F44-C8F8-B892-FC8816B90930}"/>
                      </a:ext>
                    </a:extLst>
                  </p:cNvPr>
                  <p:cNvSpPr txBox="1"/>
                  <p:nvPr/>
                </p:nvSpPr>
                <p:spPr>
                  <a:xfrm>
                    <a:off x="1086781" y="2439570"/>
                    <a:ext cx="970607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4021F2A5-6F44-C8F8-B892-FC8816B909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86781" y="2439570"/>
                    <a:ext cx="970607" cy="482264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0620BAE1-1E9B-43EA-64AA-747A6FA0716F}"/>
                      </a:ext>
                    </a:extLst>
                  </p:cNvPr>
                  <p:cNvSpPr txBox="1"/>
                  <p:nvPr/>
                </p:nvSpPr>
                <p:spPr>
                  <a:xfrm>
                    <a:off x="2871649" y="1730967"/>
                    <a:ext cx="480274" cy="4822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a:rPr lang="de-DE" sz="1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0620BAE1-1E9B-43EA-64AA-747A6FA071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71649" y="1730967"/>
                    <a:ext cx="480274" cy="482264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7BA293E9-9185-6E4F-E81E-B1966326174C}"/>
              </a:ext>
            </a:extLst>
          </p:cNvPr>
          <p:cNvSpPr txBox="1"/>
          <p:nvPr/>
        </p:nvSpPr>
        <p:spPr>
          <a:xfrm>
            <a:off x="2880475" y="53233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Reaction 1 </a:t>
            </a:r>
          </a:p>
        </p:txBody>
      </p:sp>
      <p:pic>
        <p:nvPicPr>
          <p:cNvPr id="51" name="Picture 50" descr="A diagram of dna sequence&#10;&#10;AI-generated content may be incorrect.">
            <a:extLst>
              <a:ext uri="{FF2B5EF4-FFF2-40B4-BE49-F238E27FC236}">
                <a16:creationId xmlns:a16="http://schemas.microsoft.com/office/drawing/2014/main" id="{A0ED6B0A-41D7-23DF-FB14-C4465E4E596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0761" y="1606269"/>
            <a:ext cx="2916786" cy="3091475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50EB439C-EAB6-7789-92FC-64AE859620AC}"/>
              </a:ext>
            </a:extLst>
          </p:cNvPr>
          <p:cNvSpPr txBox="1"/>
          <p:nvPr/>
        </p:nvSpPr>
        <p:spPr>
          <a:xfrm>
            <a:off x="6969059" y="0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Reaction 2 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C9A963E-FFCD-5C8D-6835-0AB284DDCE29}"/>
              </a:ext>
            </a:extLst>
          </p:cNvPr>
          <p:cNvSpPr txBox="1"/>
          <p:nvPr/>
        </p:nvSpPr>
        <p:spPr>
          <a:xfrm>
            <a:off x="4280350" y="635072"/>
            <a:ext cx="16943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0" i="0" dirty="0">
                <a:effectLst/>
                <a:latin typeface="Menlo"/>
                <a:hlinkClick r:id="rId13"/>
              </a:rPr>
              <a:t>YPL214C (THI6)</a:t>
            </a:r>
            <a:endParaRPr lang="en-U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B02CB41-0232-245B-CA26-2987E2366761}"/>
              </a:ext>
            </a:extLst>
          </p:cNvPr>
          <p:cNvSpPr txBox="1"/>
          <p:nvPr/>
        </p:nvSpPr>
        <p:spPr>
          <a:xfrm>
            <a:off x="8204752" y="573356"/>
            <a:ext cx="18253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0" i="0" dirty="0">
                <a:effectLst/>
                <a:latin typeface="Menlo"/>
                <a:hlinkClick r:id="rId14"/>
              </a:rPr>
              <a:t>YGR144W (THI4)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C323123-73EA-33DB-90F1-8CBA4153D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9" y="59081"/>
            <a:ext cx="3139911" cy="755065"/>
          </a:xfrm>
        </p:spPr>
        <p:txBody>
          <a:bodyPr>
            <a:normAutofit/>
          </a:bodyPr>
          <a:lstStyle/>
          <a:p>
            <a:r>
              <a:rPr lang="en-US" sz="3600" dirty="0"/>
              <a:t>Enzymes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AB3561-0988-0221-FEAD-D3304EC6023B}"/>
              </a:ext>
            </a:extLst>
          </p:cNvPr>
          <p:cNvSpPr txBox="1"/>
          <p:nvPr/>
        </p:nvSpPr>
        <p:spPr>
          <a:xfrm>
            <a:off x="3373028" y="635072"/>
            <a:ext cx="718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8D5721-8CD6-9079-9756-C0FD953E1571}"/>
              </a:ext>
            </a:extLst>
          </p:cNvPr>
          <p:cNvSpPr txBox="1"/>
          <p:nvPr/>
        </p:nvSpPr>
        <p:spPr>
          <a:xfrm>
            <a:off x="2951834" y="1121859"/>
            <a:ext cx="107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Enzymes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B0021DB-4F7E-7960-BE12-FEBF74107A8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953594" y="1113849"/>
            <a:ext cx="2990850" cy="153352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F1AEDEE-7DEE-F0D7-D9E5-2A9702B06649}"/>
              </a:ext>
            </a:extLst>
          </p:cNvPr>
          <p:cNvSpPr txBox="1"/>
          <p:nvPr/>
        </p:nvSpPr>
        <p:spPr>
          <a:xfrm>
            <a:off x="4617561" y="1119436"/>
            <a:ext cx="8484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16"/>
              </a:rPr>
              <a:t>THI2</a:t>
            </a:r>
            <a:endParaRPr lang="en-US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5AE9DED2-07A1-4109-EB50-A406630B479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3594" y="2688742"/>
            <a:ext cx="1408718" cy="213508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9F65830-6D78-7426-A2BF-EA7DBD05EB6A}"/>
              </a:ext>
            </a:extLst>
          </p:cNvPr>
          <p:cNvSpPr txBox="1"/>
          <p:nvPr/>
        </p:nvSpPr>
        <p:spPr>
          <a:xfrm>
            <a:off x="3968501" y="2692151"/>
            <a:ext cx="689065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dirty="0">
                <a:hlinkClick r:id="rId18"/>
              </a:rPr>
              <a:t>THI3</a:t>
            </a:r>
            <a:endParaRPr lang="en-US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BBD8FE98-34DC-08E1-D0A4-64A89B2F2383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434108" y="2699143"/>
            <a:ext cx="2460017" cy="211428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3742EBDA-B6E1-320F-978E-447F499FC2D1}"/>
              </a:ext>
            </a:extLst>
          </p:cNvPr>
          <p:cNvSpPr txBox="1"/>
          <p:nvPr/>
        </p:nvSpPr>
        <p:spPr>
          <a:xfrm>
            <a:off x="5527373" y="2709545"/>
            <a:ext cx="8945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0"/>
              </a:rPr>
              <a:t>PDC2</a:t>
            </a:r>
            <a:endParaRPr 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060448E-52D5-72D1-8F24-C803CA718873}"/>
              </a:ext>
            </a:extLst>
          </p:cNvPr>
          <p:cNvSpPr txBox="1"/>
          <p:nvPr/>
        </p:nvSpPr>
        <p:spPr>
          <a:xfrm>
            <a:off x="7412661" y="573356"/>
            <a:ext cx="718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4DE34FA-2FC0-6731-1D69-9E01AC817A94}"/>
              </a:ext>
            </a:extLst>
          </p:cNvPr>
          <p:cNvSpPr txBox="1"/>
          <p:nvPr/>
        </p:nvSpPr>
        <p:spPr>
          <a:xfrm>
            <a:off x="7146384" y="1126228"/>
            <a:ext cx="107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Enzymes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2C11B94-76A0-6DEB-0C81-453A9B5641E0}"/>
              </a:ext>
            </a:extLst>
          </p:cNvPr>
          <p:cNvSpPr txBox="1"/>
          <p:nvPr/>
        </p:nvSpPr>
        <p:spPr>
          <a:xfrm>
            <a:off x="8220974" y="1113849"/>
            <a:ext cx="707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1"/>
              </a:rPr>
              <a:t>HST1</a:t>
            </a:r>
            <a:endParaRPr lang="en-US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BB22A07-1EF7-796C-1976-EC7E63331085}"/>
              </a:ext>
            </a:extLst>
          </p:cNvPr>
          <p:cNvSpPr txBox="1"/>
          <p:nvPr/>
        </p:nvSpPr>
        <p:spPr>
          <a:xfrm>
            <a:off x="8340747" y="3558233"/>
            <a:ext cx="968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2"/>
              </a:rPr>
              <a:t>Sir2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1053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6ED07-B438-DA2A-9475-7CD2E7604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98" y="149682"/>
            <a:ext cx="4124417" cy="602541"/>
          </a:xfrm>
        </p:spPr>
        <p:txBody>
          <a:bodyPr>
            <a:normAutofit/>
          </a:bodyPr>
          <a:lstStyle/>
          <a:p>
            <a:r>
              <a:rPr lang="es-ES" sz="2000" dirty="0"/>
              <a:t>THz-</a:t>
            </a:r>
            <a:r>
              <a:rPr lang="es-ES" sz="2000" dirty="0" err="1"/>
              <a:t>Induced</a:t>
            </a:r>
            <a:r>
              <a:rPr lang="es-ES" sz="2000" dirty="0"/>
              <a:t> </a:t>
            </a:r>
            <a:r>
              <a:rPr lang="es-ES" sz="2000" dirty="0" err="1"/>
              <a:t>Enzyme</a:t>
            </a:r>
            <a:r>
              <a:rPr lang="es-ES" sz="2000" dirty="0"/>
              <a:t> </a:t>
            </a:r>
            <a:r>
              <a:rPr lang="es-ES" sz="2000" dirty="0" err="1"/>
              <a:t>Unfolding</a:t>
            </a:r>
            <a:r>
              <a:rPr lang="es-ES" sz="2000" dirty="0"/>
              <a:t> </a:t>
            </a:r>
            <a:r>
              <a:rPr lang="es-ES" sz="2000" dirty="0" err="1"/>
              <a:t>Model</a:t>
            </a:r>
            <a:endParaRPr 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B9D6A3-59F7-3469-F596-F9D7D21583FA}"/>
              </a:ext>
            </a:extLst>
          </p:cNvPr>
          <p:cNvSpPr txBox="1"/>
          <p:nvPr/>
        </p:nvSpPr>
        <p:spPr>
          <a:xfrm>
            <a:off x="111483" y="6376036"/>
            <a:ext cx="1174351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[1] Hadeel Elayan, Andrew W. Eckford, and Raviraj S. Adve. 2023. Terahertz Induced Protein Interactions in a Random Medium. IEEE Transactions on Molecular, Biological and Multi-Scale Communications 9, 4 (Dec. 2023), 435–446. https: //doi.org/10.1109/tmbmc.2023.3327302</a:t>
            </a:r>
          </a:p>
          <a:p>
            <a:endParaRPr lang="en-US" sz="9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A5A38E-152E-2D88-FF83-2BD41CDDC078}"/>
                  </a:ext>
                </a:extLst>
              </p:cNvPr>
              <p:cNvSpPr txBox="1"/>
              <p:nvPr/>
            </p:nvSpPr>
            <p:spPr>
              <a:xfrm>
                <a:off x="366192" y="734535"/>
                <a:ext cx="2716567" cy="8068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i="0" dirty="0" smtClean="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d>
                                            <m:dPr>
                                              <m:begChr m:val="⟨"/>
                                              <m:endChr m:val="⟩"/>
                                              <m:ctrlPr>
                                                <a:rPr lang="en-US" i="1" dirty="0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i="1" dirty="0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i="1" dirty="0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𝐸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 dirty="0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𝑡𝑜𝑡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b>
                                          <m: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  <m:t>𝑠𝑠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sub>
                                      </m:sSub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A5A38E-152E-2D88-FF83-2BD41CDDC0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192" y="734535"/>
                <a:ext cx="2716567" cy="8068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D8FCC9F-6F72-EA63-42AE-107091808056}"/>
                  </a:ext>
                </a:extLst>
              </p:cNvPr>
              <p:cNvSpPr txBox="1"/>
              <p:nvPr/>
            </p:nvSpPr>
            <p:spPr>
              <a:xfrm>
                <a:off x="518522" y="1751460"/>
                <a:ext cx="3264763" cy="391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de-DE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en-US" dirty="0"/>
                  <a:t> : free energy</a:t>
                </a:r>
                <a:r>
                  <a:rPr lang="en-US" i="1" dirty="0"/>
                  <a:t>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D8FCC9F-6F72-EA63-42AE-1070918080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522" y="1751460"/>
                <a:ext cx="3264763" cy="391582"/>
              </a:xfrm>
              <a:prstGeom prst="rect">
                <a:avLst/>
              </a:prstGeom>
              <a:blipFill>
                <a:blip r:embed="rId3"/>
                <a:stretch>
                  <a:fillRect t="-4615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CF8BB0-8B3B-ACD6-63F4-2F98484E9D53}"/>
                  </a:ext>
                </a:extLst>
              </p:cNvPr>
              <p:cNvSpPr txBox="1"/>
              <p:nvPr/>
            </p:nvSpPr>
            <p:spPr>
              <a:xfrm>
                <a:off x="83598" y="2330532"/>
                <a:ext cx="5552161" cy="5311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𝑡𝑜𝑡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𝑠𝑠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𝑚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i="1" dirty="0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i="1" dirty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i="1" dirty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b>
                                        <m:sup>
                                          <m:r>
                                            <a:rPr lang="en-US" i="1" dirty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sub>
                                        <m:sup>
                                          <m: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i="1" dirty="0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sub>
                                      </m:sSub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 dirty="0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 dirty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𝛾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den>
                      </m:f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  <m:sup>
                              <m:r>
                                <a:rPr lang="en-US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CF8BB0-8B3B-ACD6-63F4-2F98484E9D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98" y="2330532"/>
                <a:ext cx="5552161" cy="531107"/>
              </a:xfrm>
              <a:prstGeom prst="rect">
                <a:avLst/>
              </a:prstGeom>
              <a:blipFill>
                <a:blip r:embed="rId4"/>
                <a:stretch>
                  <a:fillRect b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650A18F-AA7B-CC05-AC43-0821909B161A}"/>
                  </a:ext>
                </a:extLst>
              </p:cNvPr>
              <p:cNvSpPr txBox="1"/>
              <p:nvPr/>
            </p:nvSpPr>
            <p:spPr>
              <a:xfrm>
                <a:off x="454159" y="3172361"/>
                <a:ext cx="5098383" cy="4912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  <m:sup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</m:oMath>
                </a14:m>
                <a:r>
                  <a:rPr lang="en-US" i="1" dirty="0"/>
                  <a:t>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is the natural frequency of the protein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650A18F-AA7B-CC05-AC43-0821909B16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159" y="3172361"/>
                <a:ext cx="5098383" cy="491288"/>
              </a:xfrm>
              <a:prstGeom prst="rect">
                <a:avLst/>
              </a:prstGeom>
              <a:blipFill>
                <a:blip r:embed="rId5"/>
                <a:stretch>
                  <a:fillRect r="-239" b="-86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B8140D9-A5BB-2CDD-16C8-EE8CE49E9893}"/>
                  </a:ext>
                </a:extLst>
              </p:cNvPr>
              <p:cNvSpPr txBox="1"/>
              <p:nvPr/>
            </p:nvSpPr>
            <p:spPr>
              <a:xfrm>
                <a:off x="454159" y="3673423"/>
                <a:ext cx="1112258" cy="6815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acc>
                      <m:r>
                        <a:rPr lang="de-DE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̈"/>
                              <m:ctrlPr>
                                <a:rPr lang="de-DE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</m:num>
                        <m:den>
                          <m:r>
                            <a:rPr lang="de-DE" b="0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B8140D9-A5BB-2CDD-16C8-EE8CE49E98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159" y="3673423"/>
                <a:ext cx="1112258" cy="68153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F87FEDF-92AA-8B90-0A98-D4BECAEB1333}"/>
                  </a:ext>
                </a:extLst>
              </p:cNvPr>
              <p:cNvSpPr txBox="1"/>
              <p:nvPr/>
            </p:nvSpPr>
            <p:spPr>
              <a:xfrm>
                <a:off x="560370" y="4397154"/>
                <a:ext cx="3870985" cy="3854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de-DE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r>
                  <a:rPr lang="en-US" dirty="0"/>
                  <a:t>: Damping coefficient of the protein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F87FEDF-92AA-8B90-0A98-D4BECAEB13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370" y="4397154"/>
                <a:ext cx="3870985" cy="385427"/>
              </a:xfrm>
              <a:prstGeom prst="rect">
                <a:avLst/>
              </a:prstGeom>
              <a:blipFill>
                <a:blip r:embed="rId7"/>
                <a:stretch>
                  <a:fillRect l="-472" t="-156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94F89C1-9FCA-84B5-953A-9404443B3B8F}"/>
                  </a:ext>
                </a:extLst>
              </p:cNvPr>
              <p:cNvSpPr txBox="1"/>
              <p:nvPr/>
            </p:nvSpPr>
            <p:spPr>
              <a:xfrm>
                <a:off x="558472" y="4947309"/>
                <a:ext cx="26473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: </a:t>
                </a:r>
                <a:r>
                  <a:rPr lang="en-US" dirty="0"/>
                  <a:t>Protein mass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94F89C1-9FCA-84B5-953A-9404443B3B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72" y="4947309"/>
                <a:ext cx="2647384" cy="369332"/>
              </a:xfrm>
              <a:prstGeom prst="rect">
                <a:avLst/>
              </a:prstGeom>
              <a:blipFill>
                <a:blip r:embed="rId8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1E805A-C64D-599C-F4C7-E2F65E153468}"/>
                  </a:ext>
                </a:extLst>
              </p:cNvPr>
              <p:cNvSpPr txBox="1"/>
              <p:nvPr/>
            </p:nvSpPr>
            <p:spPr>
              <a:xfrm>
                <a:off x="567189" y="5442786"/>
                <a:ext cx="321609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:</a:t>
                </a:r>
                <a:r>
                  <a:rPr lang="en-US" dirty="0"/>
                  <a:t> Protein spring constant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1E805A-C64D-599C-F4C7-E2F65E1534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189" y="5442786"/>
                <a:ext cx="3216096" cy="369332"/>
              </a:xfrm>
              <a:prstGeom prst="rect">
                <a:avLst/>
              </a:prstGeom>
              <a:blipFill>
                <a:blip r:embed="rId9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B514ED2-1CD7-E15E-1BB0-9225DFE8855E}"/>
                  </a:ext>
                </a:extLst>
              </p:cNvPr>
              <p:cNvSpPr txBox="1"/>
              <p:nvPr/>
            </p:nvSpPr>
            <p:spPr>
              <a:xfrm>
                <a:off x="481533" y="5812118"/>
                <a:ext cx="45079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r>
                  <a:rPr lang="en-US" dirty="0"/>
                  <a:t>: Antenna radiation angular frequency 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B514ED2-1CD7-E15E-1BB0-9225DFE885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33" y="5812118"/>
                <a:ext cx="4507958" cy="369332"/>
              </a:xfrm>
              <a:prstGeom prst="rect">
                <a:avLst/>
              </a:prstGeom>
              <a:blipFill>
                <a:blip r:embed="rId10"/>
                <a:stretch>
                  <a:fillRect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BF064904-313D-4876-FF49-2B7188FBDA4F}"/>
              </a:ext>
            </a:extLst>
          </p:cNvPr>
          <p:cNvSpPr txBox="1"/>
          <p:nvPr/>
        </p:nvSpPr>
        <p:spPr>
          <a:xfrm>
            <a:off x="3065421" y="850337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(1)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76E999-D418-5C4C-0604-7C20145C94A1}"/>
              </a:ext>
            </a:extLst>
          </p:cNvPr>
          <p:cNvSpPr txBox="1"/>
          <p:nvPr/>
        </p:nvSpPr>
        <p:spPr>
          <a:xfrm>
            <a:off x="5775490" y="2442196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(3)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86BB83-1865-C31D-4307-87CA6E106E24}"/>
              </a:ext>
            </a:extLst>
          </p:cNvPr>
          <p:cNvSpPr txBox="1"/>
          <p:nvPr/>
        </p:nvSpPr>
        <p:spPr>
          <a:xfrm>
            <a:off x="5582168" y="3221647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(4)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763AD4-BAAE-9453-6AFB-A1A7F9DBD2EA}"/>
              </a:ext>
            </a:extLst>
          </p:cNvPr>
          <p:cNvSpPr txBox="1"/>
          <p:nvPr/>
        </p:nvSpPr>
        <p:spPr>
          <a:xfrm>
            <a:off x="3396641" y="1692652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(2)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1B4445D-060C-5310-A139-74A343F8E18E}"/>
              </a:ext>
            </a:extLst>
          </p:cNvPr>
          <p:cNvSpPr txBox="1"/>
          <p:nvPr/>
        </p:nvSpPr>
        <p:spPr>
          <a:xfrm>
            <a:off x="1566417" y="3872308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(5)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0A81EA-525C-CDAC-4316-AB6600D4982E}"/>
              </a:ext>
            </a:extLst>
          </p:cNvPr>
          <p:cNvSpPr txBox="1"/>
          <p:nvPr/>
        </p:nvSpPr>
        <p:spPr>
          <a:xfrm>
            <a:off x="2320014" y="4939504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(7)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F51B2F-2D3C-0908-2732-66CC3C47C5CA}"/>
              </a:ext>
            </a:extLst>
          </p:cNvPr>
          <p:cNvSpPr txBox="1"/>
          <p:nvPr/>
        </p:nvSpPr>
        <p:spPr>
          <a:xfrm>
            <a:off x="3273170" y="5442786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(8)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7FA41C-D511-593F-6DFA-391B4101C9E5}"/>
              </a:ext>
            </a:extLst>
          </p:cNvPr>
          <p:cNvSpPr txBox="1"/>
          <p:nvPr/>
        </p:nvSpPr>
        <p:spPr>
          <a:xfrm>
            <a:off x="4431355" y="4420590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(6)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FEBE6D2-9003-73BC-31AF-F94FF69D9C7F}"/>
              </a:ext>
            </a:extLst>
          </p:cNvPr>
          <p:cNvSpPr txBox="1"/>
          <p:nvPr/>
        </p:nvSpPr>
        <p:spPr>
          <a:xfrm>
            <a:off x="4659649" y="5827507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(9)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9666714F-C084-6C34-A7FD-C1982C53D86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69333" y="1990193"/>
            <a:ext cx="2990850" cy="153352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176F00EA-2BF8-AC26-052B-E1712B05FCB0}"/>
              </a:ext>
            </a:extLst>
          </p:cNvPr>
          <p:cNvSpPr txBox="1"/>
          <p:nvPr/>
        </p:nvSpPr>
        <p:spPr>
          <a:xfrm>
            <a:off x="7633300" y="1995780"/>
            <a:ext cx="8484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11"/>
              </a:rPr>
              <a:t>THI2</a:t>
            </a:r>
            <a:endParaRPr lang="en-US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D539B949-CA00-A240-362B-6BF455610EB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29258" y="3608385"/>
            <a:ext cx="4363059" cy="242921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2EC85DC-E98E-7170-6816-F88FF6ED304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51846" y="78424"/>
            <a:ext cx="3140154" cy="1592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6162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B02AF7A-8B19-B3C4-5CE0-D3F26865C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98009-42B3-E2E5-552E-49EFADBCA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" y="170815"/>
            <a:ext cx="6076950" cy="720725"/>
          </a:xfrm>
        </p:spPr>
        <p:txBody>
          <a:bodyPr>
            <a:normAutofit/>
          </a:bodyPr>
          <a:lstStyle/>
          <a:p>
            <a:r>
              <a:rPr lang="de-DE" sz="3200" dirty="0" err="1"/>
              <a:t>Step</a:t>
            </a:r>
            <a:r>
              <a:rPr lang="de-DE" sz="3200" dirty="0"/>
              <a:t> 1: Looking </a:t>
            </a:r>
            <a:r>
              <a:rPr lang="de-DE" sz="3200" dirty="0" err="1"/>
              <a:t>for</a:t>
            </a:r>
            <a:r>
              <a:rPr lang="de-DE" sz="3200" dirty="0"/>
              <a:t> 2-neuron NNs</a:t>
            </a:r>
            <a:endParaRPr lang="en-US" sz="320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052BB14-CAD3-E8A0-6B17-F49B83196F1A}"/>
              </a:ext>
            </a:extLst>
          </p:cNvPr>
          <p:cNvSpPr>
            <a:spLocks noChangeAspect="1"/>
          </p:cNvSpPr>
          <p:nvPr/>
        </p:nvSpPr>
        <p:spPr>
          <a:xfrm>
            <a:off x="1833698" y="1169256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5E4C32F-71F2-3A4A-6C69-48090A9A177E}"/>
              </a:ext>
            </a:extLst>
          </p:cNvPr>
          <p:cNvSpPr>
            <a:spLocks noChangeAspect="1"/>
          </p:cNvSpPr>
          <p:nvPr/>
        </p:nvSpPr>
        <p:spPr>
          <a:xfrm>
            <a:off x="1845128" y="3371848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DF170D4-6674-F755-734F-8E5643786674}"/>
              </a:ext>
            </a:extLst>
          </p:cNvPr>
          <p:cNvSpPr>
            <a:spLocks noChangeAspect="1"/>
          </p:cNvSpPr>
          <p:nvPr/>
        </p:nvSpPr>
        <p:spPr>
          <a:xfrm>
            <a:off x="3744396" y="2291928"/>
            <a:ext cx="482803" cy="48280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EB44425-486B-C2F9-7980-74DA8D18450D}"/>
              </a:ext>
            </a:extLst>
          </p:cNvPr>
          <p:cNvCxnSpPr>
            <a:cxnSpLocks/>
            <a:stCxn id="18" idx="6"/>
            <a:endCxn id="19" idx="3"/>
          </p:cNvCxnSpPr>
          <p:nvPr/>
        </p:nvCxnSpPr>
        <p:spPr>
          <a:xfrm flipV="1">
            <a:off x="2327931" y="2704026"/>
            <a:ext cx="1487170" cy="909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21DAA69-FD9E-7F8F-F0FC-8F0F2C401B1D}"/>
              </a:ext>
            </a:extLst>
          </p:cNvPr>
          <p:cNvCxnSpPr>
            <a:stCxn id="17" idx="6"/>
            <a:endCxn id="19" idx="1"/>
          </p:cNvCxnSpPr>
          <p:nvPr/>
        </p:nvCxnSpPr>
        <p:spPr>
          <a:xfrm>
            <a:off x="2316501" y="1410658"/>
            <a:ext cx="1498600" cy="95197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712C721-FB48-A7D0-D5B6-EF0A679A1985}"/>
              </a:ext>
            </a:extLst>
          </p:cNvPr>
          <p:cNvCxnSpPr>
            <a:cxnSpLocks/>
          </p:cNvCxnSpPr>
          <p:nvPr/>
        </p:nvCxnSpPr>
        <p:spPr>
          <a:xfrm>
            <a:off x="1033604" y="1352142"/>
            <a:ext cx="8001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D413448-63DE-6AAA-8B00-96DDA6A7502D}"/>
              </a:ext>
            </a:extLst>
          </p:cNvPr>
          <p:cNvCxnSpPr>
            <a:cxnSpLocks/>
            <a:endCxn id="18" idx="2"/>
          </p:cNvCxnSpPr>
          <p:nvPr/>
        </p:nvCxnSpPr>
        <p:spPr>
          <a:xfrm>
            <a:off x="1005179" y="3613250"/>
            <a:ext cx="839949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84098E8-7765-E6EF-57DB-F9C9B338F6D9}"/>
              </a:ext>
            </a:extLst>
          </p:cNvPr>
          <p:cNvCxnSpPr>
            <a:cxnSpLocks/>
          </p:cNvCxnSpPr>
          <p:nvPr/>
        </p:nvCxnSpPr>
        <p:spPr>
          <a:xfrm>
            <a:off x="4227199" y="2533329"/>
            <a:ext cx="66531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EF7D28C-4526-9289-877E-D1DB34249CEF}"/>
                  </a:ext>
                </a:extLst>
              </p:cNvPr>
              <p:cNvSpPr txBox="1"/>
              <p:nvPr/>
            </p:nvSpPr>
            <p:spPr>
              <a:xfrm>
                <a:off x="989799" y="777277"/>
                <a:ext cx="99155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𝑎𝑖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EF7D28C-4526-9289-877E-D1DB34249C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799" y="777277"/>
                <a:ext cx="991552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D273F2E-921D-3C86-BD75-1F9710A24019}"/>
                  </a:ext>
                </a:extLst>
              </p:cNvPr>
              <p:cNvSpPr txBox="1"/>
              <p:nvPr/>
            </p:nvSpPr>
            <p:spPr>
              <a:xfrm>
                <a:off x="4059506" y="2599424"/>
                <a:ext cx="76150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𝑚𝑘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D273F2E-921D-3C86-BD75-1F9710A240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9506" y="2599424"/>
                <a:ext cx="761501" cy="461665"/>
              </a:xfrm>
              <a:prstGeom prst="rect">
                <a:avLst/>
              </a:prstGeom>
              <a:blipFill>
                <a:blip r:embed="rId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7128B6B-3EC4-E70E-8180-CBBF0DB7939F}"/>
                  </a:ext>
                </a:extLst>
              </p:cNvPr>
              <p:cNvSpPr txBox="1"/>
              <p:nvPr/>
            </p:nvSpPr>
            <p:spPr>
              <a:xfrm>
                <a:off x="2848204" y="1339207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met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7128B6B-3EC4-E70E-8180-CBBF0DB793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8204" y="1339207"/>
                <a:ext cx="1006792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9EFC513-28C1-CC8B-1532-E79495407BDE}"/>
                  </a:ext>
                </a:extLst>
              </p:cNvPr>
              <p:cNvSpPr txBox="1"/>
              <p:nvPr/>
            </p:nvSpPr>
            <p:spPr>
              <a:xfrm>
                <a:off x="4054109" y="1900968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met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9EFC513-28C1-CC8B-1532-E79495407B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4109" y="1900968"/>
                <a:ext cx="1006792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C61A18C-C160-EE4A-4DD0-F0E98BA53646}"/>
                  </a:ext>
                </a:extLst>
              </p:cNvPr>
              <p:cNvSpPr txBox="1"/>
              <p:nvPr/>
            </p:nvSpPr>
            <p:spPr>
              <a:xfrm>
                <a:off x="1757481" y="1170607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C61A18C-C160-EE4A-4DD0-F0E98BA536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7481" y="1170607"/>
                <a:ext cx="656402" cy="461665"/>
              </a:xfrm>
              <a:prstGeom prst="rect">
                <a:avLst/>
              </a:prstGeom>
              <a:blipFill>
                <a:blip r:embed="rId7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B41E71E-C414-DC94-FAAC-BC93E7301AD7}"/>
                  </a:ext>
                </a:extLst>
              </p:cNvPr>
              <p:cNvSpPr txBox="1"/>
              <p:nvPr/>
            </p:nvSpPr>
            <p:spPr>
              <a:xfrm>
                <a:off x="1853971" y="3306781"/>
                <a:ext cx="495606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B41E71E-C414-DC94-FAAC-BC93E7301A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3971" y="3306781"/>
                <a:ext cx="495606" cy="495905"/>
              </a:xfrm>
              <a:prstGeom prst="rect">
                <a:avLst/>
              </a:prstGeom>
              <a:blipFill>
                <a:blip r:embed="rId8"/>
                <a:stretch>
                  <a:fillRect b="-85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372E9A87-D73D-8818-CCE7-F4565C3512BC}"/>
                  </a:ext>
                </a:extLst>
              </p:cNvPr>
              <p:cNvSpPr txBox="1"/>
              <p:nvPr/>
            </p:nvSpPr>
            <p:spPr>
              <a:xfrm>
                <a:off x="1005179" y="3070734"/>
                <a:ext cx="991552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372E9A87-D73D-8818-CCE7-F4565C351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179" y="3070734"/>
                <a:ext cx="991552" cy="495905"/>
              </a:xfrm>
              <a:prstGeom prst="rect">
                <a:avLst/>
              </a:prstGeom>
              <a:blipFill>
                <a:blip r:embed="rId9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BD8EE0A-2A3F-6CD8-D54C-48DDC8632FF7}"/>
                  </a:ext>
                </a:extLst>
              </p:cNvPr>
              <p:cNvSpPr txBox="1"/>
              <p:nvPr/>
            </p:nvSpPr>
            <p:spPr>
              <a:xfrm>
                <a:off x="3734725" y="2236201"/>
                <a:ext cx="52746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BD8EE0A-2A3F-6CD8-D54C-48DDC8632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4725" y="2236201"/>
                <a:ext cx="527465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6E05109-60F7-5EDE-28E5-D41AE30ABE41}"/>
                  </a:ext>
                </a:extLst>
              </p:cNvPr>
              <p:cNvSpPr txBox="1"/>
              <p:nvPr/>
            </p:nvSpPr>
            <p:spPr>
              <a:xfrm>
                <a:off x="6096000" y="861364"/>
                <a:ext cx="4941417" cy="18302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mets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 × </m:t>
                          </m:r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rxns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12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  <m:e>
                                            <m:r>
                                              <a:rPr lang="de-DE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⋱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𝑏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𝑚</m:t>
                                                </m:r>
                                                <m: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r>
                                              <a:rPr lang="de-DE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⋯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  <m:e>
                                            <m:r>
                                              <a:rPr lang="de-DE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⋱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6E05109-60F7-5EDE-28E5-D41AE30ABE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861364"/>
                <a:ext cx="4941417" cy="183024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9C25E7A-EC46-AFC3-A6B2-C0EBEEE33621}"/>
                  </a:ext>
                </a:extLst>
              </p:cNvPr>
              <p:cNvSpPr txBox="1"/>
              <p:nvPr/>
            </p:nvSpPr>
            <p:spPr>
              <a:xfrm>
                <a:off x="5257800" y="3719302"/>
                <a:ext cx="6880937" cy="491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 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𝑚𝑖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𝑚𝑘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,⋯,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9C25E7A-EC46-AFC3-A6B2-C0EBEEE336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3719302"/>
                <a:ext cx="6880937" cy="491417"/>
              </a:xfrm>
              <a:prstGeom prst="rect">
                <a:avLst/>
              </a:prstGeom>
              <a:blipFill>
                <a:blip r:embed="rId12"/>
                <a:stretch>
                  <a:fillRect l="-798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45C3F30-D811-94E1-442D-196CAE30135A}"/>
              </a:ext>
            </a:extLst>
          </p:cNvPr>
          <p:cNvSpPr/>
          <p:nvPr/>
        </p:nvSpPr>
        <p:spPr>
          <a:xfrm>
            <a:off x="7916096" y="1520650"/>
            <a:ext cx="3209103" cy="600201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9D9CFCE-92CE-2A13-8A75-9A230345C31F}"/>
              </a:ext>
            </a:extLst>
          </p:cNvPr>
          <p:cNvCxnSpPr>
            <a:cxnSpLocks/>
          </p:cNvCxnSpPr>
          <p:nvPr/>
        </p:nvCxnSpPr>
        <p:spPr>
          <a:xfrm>
            <a:off x="9065371" y="2131800"/>
            <a:ext cx="0" cy="951631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1FA4368-6500-21E7-61F9-0F065E342276}"/>
                  </a:ext>
                </a:extLst>
              </p:cNvPr>
              <p:cNvSpPr txBox="1"/>
              <p:nvPr/>
            </p:nvSpPr>
            <p:spPr>
              <a:xfrm>
                <a:off x="2166934" y="1502987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𝑚𝑖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1FA4368-6500-21E7-61F9-0F065E3422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6934" y="1502987"/>
                <a:ext cx="656402" cy="461665"/>
              </a:xfrm>
              <a:prstGeom prst="rect">
                <a:avLst/>
              </a:prstGeom>
              <a:blipFill>
                <a:blip r:embed="rId13"/>
                <a:stretch>
                  <a:fillRect l="-1852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5DBE052-9DAD-0A56-0429-6488D4052B62}"/>
                  </a:ext>
                </a:extLst>
              </p:cNvPr>
              <p:cNvSpPr txBox="1"/>
              <p:nvPr/>
            </p:nvSpPr>
            <p:spPr>
              <a:xfrm>
                <a:off x="2249689" y="3554733"/>
                <a:ext cx="656402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5DBE052-9DAD-0A56-0429-6488D4052B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9689" y="3554733"/>
                <a:ext cx="656402" cy="495905"/>
              </a:xfrm>
              <a:prstGeom prst="rect">
                <a:avLst/>
              </a:prstGeom>
              <a:blipFill>
                <a:blip r:embed="rId14"/>
                <a:stretch>
                  <a:fillRect l="-2778" r="-926"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AE11F28-D26C-8A11-D8E8-6C1397CC1EB7}"/>
                  </a:ext>
                </a:extLst>
              </p:cNvPr>
              <p:cNvSpPr txBox="1"/>
              <p:nvPr/>
            </p:nvSpPr>
            <p:spPr>
              <a:xfrm>
                <a:off x="6680287" y="3257637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AE11F28-D26C-8A11-D8E8-6C1397CC1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0287" y="3257637"/>
                <a:ext cx="656402" cy="461665"/>
              </a:xfrm>
              <a:prstGeom prst="rect">
                <a:avLst/>
              </a:prstGeom>
              <a:blipFill>
                <a:blip r:embed="rId1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19AD1EE-1D3A-1307-D390-EABE0F987C0B}"/>
                  </a:ext>
                </a:extLst>
              </p:cNvPr>
              <p:cNvSpPr txBox="1"/>
              <p:nvPr/>
            </p:nvSpPr>
            <p:spPr>
              <a:xfrm>
                <a:off x="8252889" y="3239131"/>
                <a:ext cx="656402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19AD1EE-1D3A-1307-D390-EABE0F987C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2889" y="3239131"/>
                <a:ext cx="656402" cy="495905"/>
              </a:xfrm>
              <a:prstGeom prst="rect">
                <a:avLst/>
              </a:prstGeom>
              <a:blipFill>
                <a:blip r:embed="rId16"/>
                <a:stretch>
                  <a:fillRect b="-85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7678F8B-A895-92E1-4A9A-E00AD278FDB9}"/>
                  </a:ext>
                </a:extLst>
              </p:cNvPr>
              <p:cNvSpPr txBox="1"/>
              <p:nvPr/>
            </p:nvSpPr>
            <p:spPr>
              <a:xfrm>
                <a:off x="9843746" y="3239130"/>
                <a:ext cx="65640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7678F8B-A895-92E1-4A9A-E00AD278FD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3746" y="3239130"/>
                <a:ext cx="656402" cy="461665"/>
              </a:xfrm>
              <a:prstGeom prst="rect">
                <a:avLst/>
              </a:prstGeom>
              <a:blipFill>
                <a:blip r:embed="rId17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31A01717-C7B8-1C64-06CF-E786A7744FD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29539" y="4301350"/>
            <a:ext cx="7881829" cy="23875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E8E688C-BEA9-4B62-220B-4BDF29647AD9}"/>
                  </a:ext>
                </a:extLst>
              </p:cNvPr>
              <p:cNvSpPr txBox="1"/>
              <p:nvPr/>
            </p:nvSpPr>
            <p:spPr>
              <a:xfrm>
                <a:off x="2227851" y="2621766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met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E8E688C-BEA9-4B62-220B-4BDF29647A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7851" y="2621766"/>
                <a:ext cx="1006792" cy="46166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890172F-DF79-2923-D567-7652D11D0B17}"/>
                  </a:ext>
                </a:extLst>
              </p:cNvPr>
              <p:cNvSpPr txBox="1"/>
              <p:nvPr/>
            </p:nvSpPr>
            <p:spPr>
              <a:xfrm>
                <a:off x="129473" y="109308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met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890172F-DF79-2923-D567-7652D11D0B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473" y="1093085"/>
                <a:ext cx="1006792" cy="46166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13C335D-442F-55E2-DF62-4236FA594F4E}"/>
                  </a:ext>
                </a:extLst>
              </p:cNvPr>
              <p:cNvSpPr txBox="1"/>
              <p:nvPr/>
            </p:nvSpPr>
            <p:spPr>
              <a:xfrm>
                <a:off x="130346" y="318431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met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13C335D-442F-55E2-DF62-4236FA594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346" y="3184315"/>
                <a:ext cx="1006792" cy="461665"/>
              </a:xfrm>
              <a:prstGeom prst="rect">
                <a:avLst/>
              </a:prstGeom>
              <a:blipFill>
                <a:blip r:embed="rId21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DD6F716-5C22-BECC-1F07-B1A32D36E7A8}"/>
              </a:ext>
            </a:extLst>
          </p:cNvPr>
          <p:cNvSpPr/>
          <p:nvPr/>
        </p:nvSpPr>
        <p:spPr>
          <a:xfrm>
            <a:off x="6361043" y="3239130"/>
            <a:ext cx="1331844" cy="979098"/>
          </a:xfrm>
          <a:prstGeom prst="roundRect">
            <a:avLst>
              <a:gd name="adj" fmla="val 956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10C4211-D123-C0FF-491B-E24C64D14C5A}"/>
              </a:ext>
            </a:extLst>
          </p:cNvPr>
          <p:cNvSpPr/>
          <p:nvPr/>
        </p:nvSpPr>
        <p:spPr>
          <a:xfrm>
            <a:off x="7881220" y="3245487"/>
            <a:ext cx="1331844" cy="979098"/>
          </a:xfrm>
          <a:prstGeom prst="roundRect">
            <a:avLst>
              <a:gd name="adj" fmla="val 956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6E2EB79-38E4-1C4A-3A2C-BD58DBF2901C}"/>
              </a:ext>
            </a:extLst>
          </p:cNvPr>
          <p:cNvSpPr/>
          <p:nvPr/>
        </p:nvSpPr>
        <p:spPr>
          <a:xfrm>
            <a:off x="9496166" y="3220500"/>
            <a:ext cx="1331844" cy="979098"/>
          </a:xfrm>
          <a:prstGeom prst="roundRect">
            <a:avLst>
              <a:gd name="adj" fmla="val 956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602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E95AE-3EDE-5F9A-B249-9D9B3E619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CDEA7BE3-3C70-8493-F32C-065982748F61}"/>
              </a:ext>
            </a:extLst>
          </p:cNvPr>
          <p:cNvSpPr/>
          <p:nvPr/>
        </p:nvSpPr>
        <p:spPr>
          <a:xfrm>
            <a:off x="0" y="4755791"/>
            <a:ext cx="4378223" cy="2102209"/>
          </a:xfrm>
          <a:prstGeom prst="rect">
            <a:avLst/>
          </a:prstGeom>
          <a:solidFill>
            <a:srgbClr val="12121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E5A9E57-ED5D-6F58-A53C-99AC67D97065}"/>
              </a:ext>
            </a:extLst>
          </p:cNvPr>
          <p:cNvSpPr/>
          <p:nvPr/>
        </p:nvSpPr>
        <p:spPr>
          <a:xfrm>
            <a:off x="4318937" y="0"/>
            <a:ext cx="7873063" cy="6858000"/>
          </a:xfrm>
          <a:prstGeom prst="rect">
            <a:avLst/>
          </a:prstGeom>
          <a:solidFill>
            <a:srgbClr val="12121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992105A-8651-6F18-1366-572E17648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937" y="40061"/>
            <a:ext cx="6968602" cy="64869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750A5D-3740-F1EE-C4FB-88B46C41C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44" y="40061"/>
            <a:ext cx="4531670" cy="720725"/>
          </a:xfrm>
        </p:spPr>
        <p:txBody>
          <a:bodyPr>
            <a:normAutofit/>
          </a:bodyPr>
          <a:lstStyle/>
          <a:p>
            <a:r>
              <a:rPr lang="de-DE" sz="2400" dirty="0"/>
              <a:t>Looking </a:t>
            </a:r>
            <a:r>
              <a:rPr lang="de-DE" sz="2400" dirty="0" err="1"/>
              <a:t>for</a:t>
            </a:r>
            <a:r>
              <a:rPr lang="de-DE" sz="2400" dirty="0"/>
              <a:t> 2-neuron NNs</a:t>
            </a:r>
            <a:endParaRPr lang="en-US" sz="2400" dirty="0"/>
          </a:p>
        </p:txBody>
      </p:sp>
      <p:pic>
        <p:nvPicPr>
          <p:cNvPr id="4" name="Picture 3" descr="A diagram of dna sequence&#10;&#10;AI-generated content may be incorrect.">
            <a:extLst>
              <a:ext uri="{FF2B5EF4-FFF2-40B4-BE49-F238E27FC236}">
                <a16:creationId xmlns:a16="http://schemas.microsoft.com/office/drawing/2014/main" id="{DF34A1A1-6B97-F25B-5A1B-3355508138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670" y="694476"/>
            <a:ext cx="2916786" cy="3091475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A9F3F39-6CA6-3182-0B58-4E9D877F5A99}"/>
              </a:ext>
            </a:extLst>
          </p:cNvPr>
          <p:cNvGrpSpPr/>
          <p:nvPr/>
        </p:nvGrpSpPr>
        <p:grpSpPr>
          <a:xfrm>
            <a:off x="317155" y="4819526"/>
            <a:ext cx="3616284" cy="1973197"/>
            <a:chOff x="431855" y="1391826"/>
            <a:chExt cx="3616284" cy="19731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26DDB16-7FD3-4032-EEDE-BBECCBC7F08C}"/>
                    </a:ext>
                  </a:extLst>
                </p:cNvPr>
                <p:cNvSpPr txBox="1"/>
                <p:nvPr/>
              </p:nvSpPr>
              <p:spPr>
                <a:xfrm>
                  <a:off x="3419061" y="1887881"/>
                  <a:ext cx="629078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26DDB16-7FD3-4032-EEDE-BBECCBC7F0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9061" y="1887881"/>
                  <a:ext cx="629078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0555464-F16C-EB99-75FE-9D375CDAA13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15417" y="1484012"/>
              <a:ext cx="365760" cy="36576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DACA316-230D-D8CD-EF68-29B01C3EA1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26847" y="2951311"/>
              <a:ext cx="365760" cy="36576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815BBFC4-0F99-2CC9-D561-7F255E117A6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58467" y="2257891"/>
              <a:ext cx="365760" cy="36576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C82803E-B556-906C-0FD9-FCE6FB1F606B}"/>
                </a:ext>
              </a:extLst>
            </p:cNvPr>
            <p:cNvCxnSpPr>
              <a:cxnSpLocks/>
              <a:stCxn id="18" idx="6"/>
              <a:endCxn id="19" idx="3"/>
            </p:cNvCxnSpPr>
            <p:nvPr/>
          </p:nvCxnSpPr>
          <p:spPr>
            <a:xfrm flipV="1">
              <a:off x="1692607" y="2570087"/>
              <a:ext cx="1219424" cy="564104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94BED61-5805-76F0-4414-6C51BCF23D50}"/>
                </a:ext>
              </a:extLst>
            </p:cNvPr>
            <p:cNvCxnSpPr>
              <a:stCxn id="17" idx="6"/>
              <a:endCxn id="19" idx="1"/>
            </p:cNvCxnSpPr>
            <p:nvPr/>
          </p:nvCxnSpPr>
          <p:spPr>
            <a:xfrm>
              <a:off x="1681177" y="1666892"/>
              <a:ext cx="1230854" cy="644563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4CA272A9-A1B9-1E11-A374-2E2BA93B23DE}"/>
                </a:ext>
              </a:extLst>
            </p:cNvPr>
            <p:cNvCxnSpPr>
              <a:cxnSpLocks/>
            </p:cNvCxnSpPr>
            <p:nvPr/>
          </p:nvCxnSpPr>
          <p:spPr>
            <a:xfrm>
              <a:off x="515317" y="1666892"/>
              <a:ext cx="800100" cy="0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5E69A336-30C0-D5CD-CA64-C0BCFB5DE8D0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>
              <a:off x="515317" y="3134191"/>
              <a:ext cx="811530" cy="0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B37C9D3C-7810-04DD-E4D9-BC6359EADF76}"/>
                </a:ext>
              </a:extLst>
            </p:cNvPr>
            <p:cNvCxnSpPr>
              <a:cxnSpLocks/>
            </p:cNvCxnSpPr>
            <p:nvPr/>
          </p:nvCxnSpPr>
          <p:spPr>
            <a:xfrm>
              <a:off x="3224227" y="2425082"/>
              <a:ext cx="800100" cy="0"/>
            </a:xfrm>
            <a:prstGeom prst="straightConnector1">
              <a:avLst/>
            </a:prstGeom>
            <a:solidFill>
              <a:schemeClr val="bg1"/>
            </a:solidFill>
            <a:ln>
              <a:solidFill>
                <a:schemeClr val="bg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AFDA9619-46C1-35AA-8D39-D84883E83DEE}"/>
                    </a:ext>
                  </a:extLst>
                </p:cNvPr>
                <p:cNvSpPr txBox="1"/>
                <p:nvPr/>
              </p:nvSpPr>
              <p:spPr>
                <a:xfrm>
                  <a:off x="431855" y="1666892"/>
                  <a:ext cx="675668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AFDA9619-46C1-35AA-8D39-D84883E83D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1855" y="1666892"/>
                  <a:ext cx="675668" cy="46166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723F16E3-8206-36D0-8CD8-8945A0493065}"/>
                    </a:ext>
                  </a:extLst>
                </p:cNvPr>
                <p:cNvSpPr txBox="1"/>
                <p:nvPr/>
              </p:nvSpPr>
              <p:spPr>
                <a:xfrm>
                  <a:off x="2298433" y="2903358"/>
                  <a:ext cx="641032" cy="461665"/>
                </a:xfrm>
                <a:prstGeom prst="rect">
                  <a:avLst/>
                </a:prstGeom>
                <a:noFill/>
                <a:ln w="19050">
                  <a:solidFill>
                    <a:srgbClr val="C00000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de-DE" sz="2400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𝐳</m:t>
                            </m:r>
                          </m:sub>
                        </m:sSub>
                      </m:oMath>
                    </m:oMathPara>
                  </a14:m>
                  <a:endParaRPr lang="en-US" sz="2400" b="1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723F16E3-8206-36D0-8CD8-8945A04930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433" y="2903358"/>
                  <a:ext cx="641032" cy="46166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9E0490DA-EA3F-93AB-D5D4-8341117CED35}"/>
                    </a:ext>
                  </a:extLst>
                </p:cNvPr>
                <p:cNvSpPr txBox="1"/>
                <p:nvPr/>
              </p:nvSpPr>
              <p:spPr>
                <a:xfrm>
                  <a:off x="465982" y="2632490"/>
                  <a:ext cx="740343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9E0490DA-EA3F-93AB-D5D4-8341117CED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982" y="2632490"/>
                  <a:ext cx="740343" cy="46166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1C880405-ADCD-FBF7-9406-D9BCB78F26F3}"/>
                    </a:ext>
                  </a:extLst>
                </p:cNvPr>
                <p:cNvSpPr txBox="1"/>
                <p:nvPr/>
              </p:nvSpPr>
              <p:spPr>
                <a:xfrm>
                  <a:off x="2121068" y="1391826"/>
                  <a:ext cx="651146" cy="461665"/>
                </a:xfrm>
                <a:prstGeom prst="rect">
                  <a:avLst/>
                </a:prstGeom>
                <a:noFill/>
                <a:ln w="19050">
                  <a:solidFill>
                    <a:srgbClr val="C00000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de-DE" sz="24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𝒛</m:t>
                            </m:r>
                          </m:sub>
                        </m:sSub>
                      </m:oMath>
                    </m:oMathPara>
                  </a14:m>
                  <a:endParaRPr lang="en-US" sz="2400" b="1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1C880405-ADCD-FBF7-9406-D9BCB78F26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21068" y="1391826"/>
                  <a:ext cx="651146" cy="46166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A2521AB9-1978-32E8-7F4C-C51C06880C5F}"/>
                    </a:ext>
                  </a:extLst>
                </p:cNvPr>
                <p:cNvSpPr txBox="1"/>
                <p:nvPr/>
              </p:nvSpPr>
              <p:spPr>
                <a:xfrm>
                  <a:off x="1057862" y="1831144"/>
                  <a:ext cx="970607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A2521AB9-1978-32E8-7F4C-C51C06880C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7862" y="1831144"/>
                  <a:ext cx="970607" cy="46166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D20D86B1-5E70-338F-D88A-B102B98C364B}"/>
                    </a:ext>
                  </a:extLst>
                </p:cNvPr>
                <p:cNvSpPr txBox="1"/>
                <p:nvPr/>
              </p:nvSpPr>
              <p:spPr>
                <a:xfrm>
                  <a:off x="1086781" y="2439570"/>
                  <a:ext cx="970607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D20D86B1-5E70-338F-D88A-B102B98C36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6781" y="2439570"/>
                  <a:ext cx="970607" cy="461665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0B18A39-9866-0789-02AE-BCAA83EA05F2}"/>
                    </a:ext>
                  </a:extLst>
                </p:cNvPr>
                <p:cNvSpPr txBox="1"/>
                <p:nvPr/>
              </p:nvSpPr>
              <p:spPr>
                <a:xfrm>
                  <a:off x="2871649" y="1730967"/>
                  <a:ext cx="480273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b>
                            <m:r>
                              <a:rPr lang="de-DE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0B18A39-9866-0789-02AE-BCAA83EA05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1649" y="1730967"/>
                  <a:ext cx="480273" cy="461665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DD754F22-71D8-D172-4D3F-6B805B9827AD}"/>
              </a:ext>
            </a:extLst>
          </p:cNvPr>
          <p:cNvSpPr/>
          <p:nvPr/>
        </p:nvSpPr>
        <p:spPr>
          <a:xfrm>
            <a:off x="6271094" y="146148"/>
            <a:ext cx="834390" cy="4800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712611-33ED-ED51-7A02-90CB92F657A3}"/>
              </a:ext>
            </a:extLst>
          </p:cNvPr>
          <p:cNvSpPr/>
          <p:nvPr/>
        </p:nvSpPr>
        <p:spPr>
          <a:xfrm>
            <a:off x="7572233" y="1187122"/>
            <a:ext cx="1038374" cy="277156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F786605-5CD3-7047-B93C-CC82CD3CB78A}"/>
              </a:ext>
            </a:extLst>
          </p:cNvPr>
          <p:cNvSpPr/>
          <p:nvPr/>
        </p:nvSpPr>
        <p:spPr>
          <a:xfrm>
            <a:off x="4378223" y="1459066"/>
            <a:ext cx="1608876" cy="23969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13F352-DC28-BBE8-BFFF-5717980948B8}"/>
              </a:ext>
            </a:extLst>
          </p:cNvPr>
          <p:cNvSpPr txBox="1"/>
          <p:nvPr/>
        </p:nvSpPr>
        <p:spPr>
          <a:xfrm>
            <a:off x="317155" y="3767558"/>
            <a:ext cx="3697037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[1] B. Alberts, D. Bray, and K. Hopkin, Essential Cell Biology, 4th rev ed. edition. New York, NY: Norton &amp; Company, 2014.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D9D7A6-B451-8FB9-6D5C-3C8FA58C2C14}"/>
              </a:ext>
            </a:extLst>
          </p:cNvPr>
          <p:cNvSpPr/>
          <p:nvPr/>
        </p:nvSpPr>
        <p:spPr>
          <a:xfrm>
            <a:off x="4378223" y="3428493"/>
            <a:ext cx="1608876" cy="23969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DC5CB2C-233B-907B-CC6E-94C22506141F}"/>
              </a:ext>
            </a:extLst>
          </p:cNvPr>
          <p:cNvSpPr/>
          <p:nvPr/>
        </p:nvSpPr>
        <p:spPr>
          <a:xfrm>
            <a:off x="5804452" y="5124657"/>
            <a:ext cx="1063073" cy="23969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CB3910-E14C-4E06-70EC-351B156D0C0F}"/>
              </a:ext>
            </a:extLst>
          </p:cNvPr>
          <p:cNvSpPr/>
          <p:nvPr/>
        </p:nvSpPr>
        <p:spPr>
          <a:xfrm>
            <a:off x="7217094" y="3144968"/>
            <a:ext cx="1038374" cy="277156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97F383E-3816-CD72-83A5-86862D555B1A}"/>
              </a:ext>
            </a:extLst>
          </p:cNvPr>
          <p:cNvSpPr/>
          <p:nvPr/>
        </p:nvSpPr>
        <p:spPr>
          <a:xfrm>
            <a:off x="4355895" y="5409802"/>
            <a:ext cx="1521029" cy="22175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0622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1228</Words>
  <Application>Microsoft Office PowerPoint</Application>
  <PresentationFormat>Widescreen</PresentationFormat>
  <Paragraphs>272</Paragraphs>
  <Slides>12</Slides>
  <Notes>7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Cambria Math</vt:lpstr>
      <vt:lpstr>Menlo</vt:lpstr>
      <vt:lpstr>Office Theme</vt:lpstr>
      <vt:lpstr>Associating Metabolic reactions with NN coefficients</vt:lpstr>
      <vt:lpstr>Fundamentals of Flux Balance Analysis (FBA)</vt:lpstr>
      <vt:lpstr>Mapping a 2-neuron NN</vt:lpstr>
      <vt:lpstr>Step 1: Find the m4-like metabolites and the reactions r_2’s and r_3’s</vt:lpstr>
      <vt:lpstr>Step 1: Find the m4-like metabolites and the reactions r_2’s and r_3’s</vt:lpstr>
      <vt:lpstr>Step 2: Find reaction r_1- like</vt:lpstr>
      <vt:lpstr>Solutions</vt:lpstr>
      <vt:lpstr>Mapping with restrictions</vt:lpstr>
      <vt:lpstr>Enzymes</vt:lpstr>
      <vt:lpstr>THz-Induced Enzyme Unfolding Model</vt:lpstr>
      <vt:lpstr>Step 1: Looking for 2-neuron NNs</vt:lpstr>
      <vt:lpstr>Looking for 2-neuron NNs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7504255944999905</dc:creator>
  <cp:lastModifiedBy>TU-Pseudonym 7504255944999905</cp:lastModifiedBy>
  <cp:revision>15</cp:revision>
  <dcterms:created xsi:type="dcterms:W3CDTF">2025-12-24T00:00:45Z</dcterms:created>
  <dcterms:modified xsi:type="dcterms:W3CDTF">2026-02-21T14:52:56Z</dcterms:modified>
</cp:coreProperties>
</file>