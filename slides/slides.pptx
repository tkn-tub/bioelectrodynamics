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313" autoAdjust="0"/>
  </p:normalViewPr>
  <p:slideViewPr>
    <p:cSldViewPr snapToGrid="0">
      <p:cViewPr varScale="1">
        <p:scale>
          <a:sx n="54" d="100"/>
          <a:sy n="54" d="100"/>
        </p:scale>
        <p:origin x="3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1A252C-87EA-4881-A10E-9E4CA26E6FE3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818A67-DE81-4BE5-A09A-01BC8A96D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45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17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5572-6063-7C16-16E8-29879B1D7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EE637-7715-1373-4493-02CFD416B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&gt;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,</m:t>
                        </m:r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𝑗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&lt;</m:t>
                    </m:r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𝑃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2</m:t>
                    </m:r>
                  </m:oMath>
                </a14:m>
                <a:r>
                  <a:rPr lang="es-ES" dirty="0"/>
                  <a:t>and </a:t>
                </a:r>
                <a14:m>
                  <m:oMath xmlns:m="http://schemas.openxmlformats.org/officeDocument/2006/math">
                    <m:r>
                      <a:rPr lang="es-ES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</m:t>
                    </m:r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∣≥</m:t>
                    </m:r>
                    <m:r>
                      <a:rPr lang="es-E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AE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∈</m:t>
                    </m:r>
                    <m:r>
                      <a:rPr lang="ar-AE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𝐶</m:t>
                    </m:r>
                  </m:oMath>
                </a14:m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r>
                      <a:rPr lang="es-E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𝑚</m:t>
                    </m:r>
                  </m:oMath>
                </a14:m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608074F7-E0BB-400B-67BA-E0BFC59D701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Algorithm</a:t>
                </a:r>
                <a:endParaRPr lang="es-ES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For</a:t>
                </a:r>
                <a:r>
                  <a:rPr lang="es-ES" dirty="0"/>
                  <a:t> </a:t>
                </a:r>
                <a:r>
                  <a:rPr lang="es-ES" dirty="0" err="1"/>
                  <a:t>each</a:t>
                </a:r>
                <a:r>
                  <a:rPr lang="es-ES" dirty="0"/>
                  <a:t> </a:t>
                </a:r>
                <a:r>
                  <a:rPr lang="es-ES" dirty="0" err="1"/>
                  <a:t>metabolite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, </a:t>
                </a: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𝑃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𝑆_(𝑚,𝑗)&gt;0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List</a:t>
                </a:r>
                <a:r>
                  <a:rPr lang="es-ES" dirty="0"/>
                  <a:t> </a:t>
                </a:r>
                <a:r>
                  <a:rPr lang="es-ES" dirty="0" err="1"/>
                  <a:t>consumers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𝐶</a:t>
                </a:r>
                <a:r>
                  <a:rPr lang="es-ES" dirty="0"/>
                  <a:t>(</a:t>
                </a:r>
                <a:r>
                  <a:rPr lang="es-ES" dirty="0" err="1"/>
                  <a:t>reactions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𝑆_(𝑚,𝑗)&lt;0</a:t>
                </a:r>
                <a:r>
                  <a:rPr lang="ar-AE" dirty="0"/>
                  <a:t>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If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∣𝑃∣≥2</a:t>
                </a:r>
                <a:r>
                  <a:rPr lang="es-ES" dirty="0"/>
                  <a:t>and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∣𝐶∣≥1</a:t>
                </a:r>
                <a:r>
                  <a:rPr lang="es-ES" dirty="0"/>
                  <a:t>, </a:t>
                </a:r>
                <a:r>
                  <a:rPr lang="es-ES" dirty="0" err="1"/>
                  <a:t>check</a:t>
                </a:r>
                <a:r>
                  <a:rPr lang="es-ES" dirty="0"/>
                  <a:t> candidate outputs 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𝑟_3∈𝐶</a:t>
                </a:r>
                <a:endParaRPr lang="ar-AE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Prefer</a:t>
                </a:r>
                <a:r>
                  <a:rPr lang="es-ES" dirty="0"/>
                  <a:t> cases </a:t>
                </a:r>
                <a:r>
                  <a:rPr lang="es-ES" dirty="0" err="1"/>
                  <a:t>where</a:t>
                </a:r>
                <a:r>
                  <a:rPr lang="es-ES" dirty="0"/>
                  <a:t> </a:t>
                </a:r>
                <a:r>
                  <a:rPr lang="es-ES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𝑚</a:t>
                </a:r>
                <a:r>
                  <a:rPr lang="es-ES" dirty="0"/>
                  <a:t>has </a:t>
                </a:r>
                <a:r>
                  <a:rPr lang="es-ES" b="1" dirty="0" err="1"/>
                  <a:t>exactly</a:t>
                </a:r>
                <a:r>
                  <a:rPr lang="es-ES" dirty="0"/>
                  <a:t> 2 </a:t>
                </a:r>
                <a:r>
                  <a:rPr lang="es-ES" dirty="0" err="1"/>
                  <a:t>producers</a:t>
                </a:r>
                <a:r>
                  <a:rPr lang="es-ES" dirty="0"/>
                  <a:t> and 1 </a:t>
                </a:r>
                <a:r>
                  <a:rPr lang="es-ES" dirty="0" err="1"/>
                  <a:t>consumer</a:t>
                </a:r>
                <a:r>
                  <a:rPr lang="es-ES" dirty="0"/>
                  <a:t> (</a:t>
                </a:r>
                <a:r>
                  <a:rPr lang="es-ES" dirty="0" err="1"/>
                  <a:t>tightest</a:t>
                </a:r>
                <a:r>
                  <a:rPr lang="es-ES" dirty="0"/>
                  <a:t> “</a:t>
                </a:r>
                <a:r>
                  <a:rPr lang="es-ES" dirty="0" err="1"/>
                  <a:t>adder</a:t>
                </a:r>
                <a:r>
                  <a:rPr lang="es-ES" dirty="0"/>
                  <a:t>”)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s-ES" dirty="0" err="1"/>
                  <a:t>Intersect</a:t>
                </a:r>
                <a:r>
                  <a:rPr lang="es-ES" dirty="0"/>
                  <a:t> </a:t>
                </a:r>
                <a:r>
                  <a:rPr lang="es-ES" dirty="0" err="1"/>
                  <a:t>producers</a:t>
                </a:r>
                <a:r>
                  <a:rPr lang="es-ES" dirty="0"/>
                  <a:t> </a:t>
                </a:r>
                <a:r>
                  <a:rPr lang="es-ES" dirty="0" err="1"/>
                  <a:t>with</a:t>
                </a:r>
                <a:r>
                  <a:rPr lang="es-ES" dirty="0"/>
                  <a:t> 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b="1" dirty="0"/>
                  <a:t>single-gene </a:t>
                </a:r>
                <a:r>
                  <a:rPr lang="es-ES" b="1" dirty="0" err="1"/>
                  <a:t>reaction</a:t>
                </a:r>
                <a:r>
                  <a:rPr lang="es-ES" b="1" dirty="0"/>
                  <a:t> </a:t>
                </a:r>
                <a:r>
                  <a:rPr lang="es-ES" b="1" dirty="0" err="1"/>
                  <a:t>list</a:t>
                </a:r>
                <a:r>
                  <a:rPr lang="es-ES" dirty="0"/>
                  <a:t> (</a:t>
                </a:r>
                <a:r>
                  <a:rPr lang="es-ES" dirty="0" err="1"/>
                  <a:t>your</a:t>
                </a:r>
                <a:r>
                  <a:rPr lang="es-ES" dirty="0"/>
                  <a:t> </a:t>
                </a:r>
                <a:r>
                  <a:rPr lang="es-ES" dirty="0" err="1"/>
                  <a:t>current</a:t>
                </a:r>
                <a:r>
                  <a:rPr lang="es-ES" dirty="0"/>
                  <a:t> </a:t>
                </a:r>
                <a:r>
                  <a:rPr lang="es-ES" dirty="0" err="1"/>
                  <a:t>code</a:t>
                </a:r>
                <a:r>
                  <a:rPr lang="es-ES" dirty="0"/>
                  <a:t> </a:t>
                </a:r>
                <a:r>
                  <a:rPr lang="es-ES" dirty="0" err="1"/>
                  <a:t>already</a:t>
                </a:r>
                <a:r>
                  <a:rPr lang="es-ES" dirty="0"/>
                  <a:t> </a:t>
                </a:r>
                <a:r>
                  <a:rPr lang="es-ES" dirty="0" err="1"/>
                  <a:t>gives</a:t>
                </a:r>
                <a:r>
                  <a:rPr lang="es-ES" dirty="0"/>
                  <a:t> </a:t>
                </a:r>
                <a:r>
                  <a:rPr lang="es-ES" dirty="0" err="1"/>
                  <a:t>that</a:t>
                </a:r>
                <a:r>
                  <a:rPr lang="es-ES" dirty="0"/>
                  <a:t>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1765A-03B0-AFA3-CA95-6E32F3D7E6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818A67-DE81-4BE5-A09A-01BC8A96D5B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259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8ED6A-528D-21D0-2C0F-A0C60DF9C7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008DCB-018B-A6F1-1277-1CAC357B62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87D90-FE0E-4372-61FB-DDFADB61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89D3-00E4-38F2-194B-ED2EDD4D1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74827-CC80-912D-BC38-A4165701B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43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8A52-7B86-E650-B4BA-EFCD7907E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C5CF6-29A3-4598-D49C-A46A50453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22CDA-23CA-086A-1D96-91C0DB0B3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67791-BA04-3D29-01C9-9DD0495F2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2C9B9-99A6-C647-899C-9056E5D7D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6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0D67C-D2BD-6C22-4377-9FEF654B1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5D80F-75A6-3598-4E68-E5999C51A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AAEA-83D8-13ED-A516-ED6E6683A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C7DFD-EBF1-7BBD-4045-DE957302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62B48-4673-FA63-FF0D-581FF7B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71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56D7-9C50-95BA-1C1E-175533430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2A9E6-0196-39CA-A6A7-9EEC5E27B2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266B31-FD5E-BD70-95EA-7AFCBA433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A1A7C-7C77-7A3C-7156-025F68643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6A2DDF-A703-BF06-26BE-698E04A58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E0D02-E5FB-B36B-CA1E-3B232D49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35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941C-88C3-BE7E-91C0-E5728E6A0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411BDA-73C5-01E3-9FBE-D40A9FF61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9FBA2A-4904-E59D-536D-1ACC4F9F6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A9E1A2-0A42-908A-727F-78A168838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868B73-3D9B-01EE-EF36-44D4BD745D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D3C0B-F09E-F2A6-C8D1-264F5C726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4A742E-FD1B-B0AC-4C46-F45D80FD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9EAFDC-7EDC-D32C-0432-327ED412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65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1EF4-5BEF-6CF9-4A99-A6745DEE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FDFD67-D209-5B77-90DF-D33BC2AED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AB956-7CF0-DE18-344B-F42C3605D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04B5E-CA0F-3B1F-C721-3733C0F1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10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C1F627-BDC1-B591-7B6C-353DCDBA9E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E64261-A347-10A7-0CCD-04C6BF6C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E6310-4730-C623-FA58-9C7E8B840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91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16245-C2AD-0D05-019E-E06B11211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6198A-9777-1A27-9017-CDEEEB39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7F819-7055-5529-7EAC-88CA9D322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E9AE-20ED-7DA0-BE49-2B5FD5147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6110F3-28B2-83AA-6275-B009D088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4810A-E75F-4318-1BD7-967A3485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5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6C3CC-2C70-64C3-4A30-A609452F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71D0AA-B494-D943-5E5B-8D36C3A5A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6E2EB-9196-D3D2-1B30-62DE10C01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2F41B5-E24C-B47B-BB3D-972C8A3CB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24E9D-D378-8D22-DCF4-7F6532C01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3E7FB-323F-F5EC-FA2F-A39210C86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12707-53E3-2569-0E7A-1690F3F7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BC101-CAE8-2F23-9755-79948E997D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C1A44-26ED-DB28-C428-DC0CFB32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24A06-DEB2-7015-6DD9-8B2A87C0B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D3E3F-18AE-63E8-C6C8-276980A1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9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86E817-77FE-761F-64F3-B0C06C832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4D9400-74DA-F591-439F-B3D8A373B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69B40-D3C9-8620-5438-6240D96D9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F794E-D081-69C8-CF71-EF1F6857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3D011-AE60-4E59-4CAA-42D40456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163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D89688-5212-ACD5-E266-9D477DBF1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70B3-455B-D197-2087-591C574FC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EE478-5C66-582A-151D-23D0BC61FA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7105C-A8E4-4519-9028-35FD188A98F2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0986E-D2AE-68DE-FE62-ECFFCF15C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D604D-E86B-1D60-E6C5-5BC1CDA4B9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B62C5-2ACF-4D78-8FF3-37371B9486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56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442D-7110-890C-5FBC-26F86DE6B4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Associating Metabolic reactions with NN coefficients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6A585-3973-D13F-5415-F2866F06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93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6E8A0-8921-3D2F-250D-F3FA243A8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" y="39121"/>
            <a:ext cx="7946912" cy="505057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Fundamentals of Flux Balance Analysis (FBA)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/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ij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ℤ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BF14008-41FF-F6D7-E4F7-2799D75CD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5" y="2255153"/>
                <a:ext cx="6193747" cy="117384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/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7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456374-FDEE-A362-D5F3-F808DA76EF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369" y="879647"/>
                <a:ext cx="3008068" cy="902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/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rxns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A200DA-0BBD-DB00-CDE0-8F931B0E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01" y="4078841"/>
                <a:ext cx="1465529" cy="383118"/>
              </a:xfrm>
              <a:prstGeom prst="rect">
                <a:avLst/>
              </a:prstGeom>
              <a:blipFill>
                <a:blip r:embed="rId4"/>
                <a:stretch>
                  <a:fillRect l="-2917" t="-6349" r="-4167" b="-6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/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Example:</a:t>
                </a: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/>
                  <a:t>Reaction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=-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3207A3C-72EB-9DDE-DBB2-CB818B09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9" y="4581557"/>
                <a:ext cx="4051045" cy="2169825"/>
              </a:xfrm>
              <a:prstGeom prst="rect">
                <a:avLst/>
              </a:prstGeom>
              <a:blipFill>
                <a:blip r:embed="rId5"/>
                <a:stretch>
                  <a:fillRect l="-2252" t="-195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FF60AEA-AA81-B8C9-A46C-E81B7A4EA681}"/>
              </a:ext>
            </a:extLst>
          </p:cNvPr>
          <p:cNvSpPr txBox="1"/>
          <p:nvPr/>
        </p:nvSpPr>
        <p:spPr>
          <a:xfrm>
            <a:off x="40005" y="1790046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Stoichiometric</a:t>
            </a:r>
            <a:r>
              <a:rPr lang="es-ES" sz="2400" dirty="0"/>
              <a:t> </a:t>
            </a:r>
            <a:r>
              <a:rPr lang="es-ES" sz="2400" dirty="0" err="1"/>
              <a:t>matrix</a:t>
            </a:r>
            <a:r>
              <a:rPr lang="es-ES" sz="2400" dirty="0"/>
              <a:t>: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D79C30-D3BD-4797-6901-C28E17A72661}"/>
              </a:ext>
            </a:extLst>
          </p:cNvPr>
          <p:cNvSpPr txBox="1"/>
          <p:nvPr/>
        </p:nvSpPr>
        <p:spPr>
          <a:xfrm>
            <a:off x="394335" y="3497579"/>
            <a:ext cx="33661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 err="1"/>
              <a:t>Reaction</a:t>
            </a:r>
            <a:r>
              <a:rPr lang="es-ES" sz="2400" dirty="0"/>
              <a:t> flux:</a:t>
            </a:r>
            <a:endParaRPr lang="en-US" sz="24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AEA3AF-2383-F6D2-381F-511EE6A9EE8F}"/>
              </a:ext>
            </a:extLst>
          </p:cNvPr>
          <p:cNvSpPr/>
          <p:nvPr/>
        </p:nvSpPr>
        <p:spPr>
          <a:xfrm>
            <a:off x="3051810" y="2160270"/>
            <a:ext cx="937260" cy="142875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6B81DF-2D8A-897E-2C2D-E4AB1CB04296}"/>
              </a:ext>
            </a:extLst>
          </p:cNvPr>
          <p:cNvCxnSpPr/>
          <p:nvPr/>
        </p:nvCxnSpPr>
        <p:spPr>
          <a:xfrm flipH="1">
            <a:off x="3188970" y="3589020"/>
            <a:ext cx="377190" cy="99253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D06265-4B5C-C202-69BB-920154DB7577}"/>
              </a:ext>
            </a:extLst>
          </p:cNvPr>
          <p:cNvSpPr txBox="1"/>
          <p:nvPr/>
        </p:nvSpPr>
        <p:spPr>
          <a:xfrm>
            <a:off x="4488704" y="1017001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(1)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C39CE-6929-E03F-1BBA-0F8ECFA9D038}"/>
              </a:ext>
            </a:extLst>
          </p:cNvPr>
          <p:cNvSpPr txBox="1"/>
          <p:nvPr/>
        </p:nvSpPr>
        <p:spPr>
          <a:xfrm>
            <a:off x="7604290" y="2611243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46A66-BC2D-14F0-3AE4-49478E4ADFF4}"/>
              </a:ext>
            </a:extLst>
          </p:cNvPr>
          <p:cNvSpPr txBox="1"/>
          <p:nvPr/>
        </p:nvSpPr>
        <p:spPr>
          <a:xfrm>
            <a:off x="2602508" y="4039567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(3)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/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en-US" sz="2400" dirty="0" err="1"/>
                  <a:t>s.t.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𝑆𝑣</m:t>
                    </m:r>
                    <m:r>
                      <a:rPr lang="de-DE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815B944-0F82-4E67-C9F9-90816535C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9611" y="670542"/>
                <a:ext cx="1379352" cy="1389932"/>
              </a:xfrm>
              <a:prstGeom prst="rect">
                <a:avLst/>
              </a:prstGeom>
              <a:blipFill>
                <a:blip r:embed="rId6"/>
                <a:stretch>
                  <a:fillRect l="-13274" r="-70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/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2D8FF4-0E78-2448-3926-F61ED88FE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017" y="1109334"/>
                <a:ext cx="424796" cy="369332"/>
              </a:xfrm>
              <a:prstGeom prst="rect">
                <a:avLst/>
              </a:prstGeom>
              <a:blipFill>
                <a:blip r:embed="rId7"/>
                <a:stretch>
                  <a:fillRect l="-14286" r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D13D8E6-6E97-57F0-C182-1AD6EE0324A5}"/>
              </a:ext>
            </a:extLst>
          </p:cNvPr>
          <p:cNvSpPr txBox="1"/>
          <p:nvPr/>
        </p:nvSpPr>
        <p:spPr>
          <a:xfrm>
            <a:off x="8133602" y="964109"/>
            <a:ext cx="52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466218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C6424-BD86-81C7-63C8-F8103CA90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" y="170815"/>
            <a:ext cx="6076950" cy="720725"/>
          </a:xfrm>
        </p:spPr>
        <p:txBody>
          <a:bodyPr/>
          <a:lstStyle/>
          <a:p>
            <a:r>
              <a:rPr lang="de-DE" dirty="0"/>
              <a:t>Looking </a:t>
            </a:r>
            <a:r>
              <a:rPr lang="de-DE" dirty="0" err="1"/>
              <a:t>for</a:t>
            </a:r>
            <a:r>
              <a:rPr lang="de-DE" dirty="0"/>
              <a:t> 2-neuron NNs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AF12A3F-BD0C-5E1A-1C1E-02417278BC63}"/>
              </a:ext>
            </a:extLst>
          </p:cNvPr>
          <p:cNvSpPr>
            <a:spLocks noChangeAspect="1"/>
          </p:cNvSpPr>
          <p:nvPr/>
        </p:nvSpPr>
        <p:spPr>
          <a:xfrm>
            <a:off x="1833704" y="1518055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275EC2-8FA4-D639-B70B-FC7C93FD197A}"/>
              </a:ext>
            </a:extLst>
          </p:cNvPr>
          <p:cNvSpPr>
            <a:spLocks noChangeAspect="1"/>
          </p:cNvSpPr>
          <p:nvPr/>
        </p:nvSpPr>
        <p:spPr>
          <a:xfrm>
            <a:off x="1845134" y="2985354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34B839-6F83-4210-19F6-21BFC9903849}"/>
              </a:ext>
            </a:extLst>
          </p:cNvPr>
          <p:cNvSpPr>
            <a:spLocks noChangeAspect="1"/>
          </p:cNvSpPr>
          <p:nvPr/>
        </p:nvSpPr>
        <p:spPr>
          <a:xfrm>
            <a:off x="3376754" y="2291934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7F7A754-4035-7D56-7394-8F30048CF85F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2210894" y="2604130"/>
            <a:ext cx="1219424" cy="56410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5D8A065-9C1A-C150-3A1C-BC905ECC8E58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2199464" y="1700935"/>
            <a:ext cx="1230854" cy="64456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45DDF03-7011-C7BA-ED3E-E8372498F05F}"/>
              </a:ext>
            </a:extLst>
          </p:cNvPr>
          <p:cNvCxnSpPr>
            <a:cxnSpLocks/>
          </p:cNvCxnSpPr>
          <p:nvPr/>
        </p:nvCxnSpPr>
        <p:spPr>
          <a:xfrm>
            <a:off x="1033604" y="1700935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1A97CC2-7622-0870-CEC7-26DC814C17C9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1033604" y="3168234"/>
            <a:ext cx="81153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0EA8EC5-D0C8-B8A0-9908-40554E37E399}"/>
              </a:ext>
            </a:extLst>
          </p:cNvPr>
          <p:cNvCxnSpPr>
            <a:cxnSpLocks/>
          </p:cNvCxnSpPr>
          <p:nvPr/>
        </p:nvCxnSpPr>
        <p:spPr>
          <a:xfrm>
            <a:off x="3742514" y="2459125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/>
              <p:nvPr/>
            </p:nvSpPr>
            <p:spPr>
              <a:xfrm>
                <a:off x="316372" y="1182670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C2843F9-E899-F8FC-AEC8-59AE27A96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72" y="1182670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/>
              <p:nvPr/>
            </p:nvSpPr>
            <p:spPr>
              <a:xfrm>
                <a:off x="2253377" y="303158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A282D88-B781-51EF-5C5B-67FCE2F33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377" y="3031581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/>
              <p:nvPr/>
            </p:nvSpPr>
            <p:spPr>
              <a:xfrm>
                <a:off x="331864" y="2464961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8E291D1-F8FA-4CE3-CA83-18511BE2D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864" y="2464961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/>
              <p:nvPr/>
            </p:nvSpPr>
            <p:spPr>
              <a:xfrm>
                <a:off x="989799" y="1126070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DB718F4-7C17-DBC1-49F4-D09E1018C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99" y="1126070"/>
                <a:ext cx="991552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/>
              <p:nvPr/>
            </p:nvSpPr>
            <p:spPr>
              <a:xfrm>
                <a:off x="2004575" y="2523689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57E92BA-9A84-ACB5-FAFB-0D80F2F9F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575" y="2523689"/>
                <a:ext cx="99155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/>
              <p:nvPr/>
            </p:nvSpPr>
            <p:spPr>
              <a:xfrm>
                <a:off x="2259471" y="1220642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80C3122-C408-6DB3-5E80-206E3A508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9471" y="1220642"/>
                <a:ext cx="100679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/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11F583F-B57C-ED12-2A9D-A6ABD868D3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109" y="1900968"/>
                <a:ext cx="1006792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/>
              <p:nvPr/>
            </p:nvSpPr>
            <p:spPr>
              <a:xfrm>
                <a:off x="1518417" y="1046913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4519946-224C-CE66-67AA-ECE984982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17" y="1046913"/>
                <a:ext cx="970607" cy="461665"/>
              </a:xfrm>
              <a:prstGeom prst="rect">
                <a:avLst/>
              </a:prstGeom>
              <a:blipFill>
                <a:blip r:embed="rId10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/>
              <p:nvPr/>
            </p:nvSpPr>
            <p:spPr>
              <a:xfrm>
                <a:off x="1570487" y="3268375"/>
                <a:ext cx="970607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432F7B7-2D99-098A-8270-DDFB0976A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487" y="3268375"/>
                <a:ext cx="970607" cy="495905"/>
              </a:xfrm>
              <a:prstGeom prst="rect">
                <a:avLst/>
              </a:prstGeom>
              <a:blipFill>
                <a:blip r:embed="rId11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/>
              <p:nvPr/>
            </p:nvSpPr>
            <p:spPr>
              <a:xfrm>
                <a:off x="1005179" y="2684234"/>
                <a:ext cx="991552" cy="495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9D8773C-7A78-7E88-911B-54379FA64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179" y="2684234"/>
                <a:ext cx="991552" cy="495905"/>
              </a:xfrm>
              <a:prstGeom prst="rect">
                <a:avLst/>
              </a:prstGeom>
              <a:blipFill>
                <a:blip r:embed="rId12"/>
                <a:stretch>
                  <a:fillRect b="-8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/>
              <p:nvPr/>
            </p:nvSpPr>
            <p:spPr>
              <a:xfrm>
                <a:off x="3144879" y="1691092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60B7693-5EAE-E492-9DFA-7F2F2B683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879" y="1691092"/>
                <a:ext cx="970607" cy="461665"/>
              </a:xfrm>
              <a:prstGeom prst="rect">
                <a:avLst/>
              </a:prstGeom>
              <a:blipFill>
                <a:blip r:embed="rId13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/>
              <p:nvPr/>
            </p:nvSpPr>
            <p:spPr>
              <a:xfrm>
                <a:off x="2057867" y="1776487"/>
                <a:ext cx="991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D2D7F36-0645-7777-9570-17DF09351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867" y="1776487"/>
                <a:ext cx="991552" cy="461665"/>
              </a:xfrm>
              <a:prstGeom prst="rect">
                <a:avLst/>
              </a:prstGeom>
              <a:blipFill>
                <a:blip r:embed="rId1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/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mets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rxns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𝑧</m:t>
                                                </m:r>
                                                <m:r>
                                                  <a:rPr lang="de-DE" sz="24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/>
                                          <m:e>
                                            <m:r>
                                              <a:rPr lang="de-DE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rxn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/>
                                    <m:e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sSub>
                                  <m:sSub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mets</m:t>
                                    </m:r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rxns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C670AE6-2903-A23B-07D6-1F5743CA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61364"/>
                <a:ext cx="5938742" cy="183024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/>
              <p:nvPr/>
            </p:nvSpPr>
            <p:spPr>
              <a:xfrm>
                <a:off x="5657850" y="3429546"/>
                <a:ext cx="6271260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,⋯,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FE16C3D-DDFB-1387-6312-54C9AF30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850" y="3429546"/>
                <a:ext cx="6271260" cy="491417"/>
              </a:xfrm>
              <a:prstGeom prst="rect">
                <a:avLst/>
              </a:prstGeom>
              <a:blipFill>
                <a:blip r:embed="rId16"/>
                <a:stretch>
                  <a:fillRect l="-77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63E41BB-FFFA-D2B7-1C24-51DA60B7D36B}"/>
              </a:ext>
            </a:extLst>
          </p:cNvPr>
          <p:cNvSpPr/>
          <p:nvPr/>
        </p:nvSpPr>
        <p:spPr>
          <a:xfrm>
            <a:off x="8181975" y="1489795"/>
            <a:ext cx="3531870" cy="600201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FC6A409-1F49-1F07-41F4-5BBEC56BC653}"/>
              </a:ext>
            </a:extLst>
          </p:cNvPr>
          <p:cNvCxnSpPr/>
          <p:nvPr/>
        </p:nvCxnSpPr>
        <p:spPr>
          <a:xfrm>
            <a:off x="9065371" y="2131800"/>
            <a:ext cx="0" cy="1219314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A1338EE-6372-755D-D5AF-D9704DAC419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1864" y="4479838"/>
            <a:ext cx="968827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074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95AE-3EDE-5F9A-B249-9D9B3E619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50A5D-3740-F1EE-C4FB-88B46C41C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44" y="40061"/>
            <a:ext cx="4531670" cy="720725"/>
          </a:xfrm>
        </p:spPr>
        <p:txBody>
          <a:bodyPr>
            <a:normAutofit/>
          </a:bodyPr>
          <a:lstStyle/>
          <a:p>
            <a:r>
              <a:rPr lang="de-DE" sz="3200" dirty="0"/>
              <a:t>Looking </a:t>
            </a:r>
            <a:r>
              <a:rPr lang="de-DE" sz="3200" dirty="0" err="1"/>
              <a:t>for</a:t>
            </a:r>
            <a:r>
              <a:rPr lang="de-DE" sz="3200" dirty="0"/>
              <a:t> 2-neuron NNs</a:t>
            </a:r>
            <a:endParaRPr lang="en-US" sz="32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0555464-F16C-EB99-75FE-9D375CDAA133}"/>
              </a:ext>
            </a:extLst>
          </p:cNvPr>
          <p:cNvSpPr>
            <a:spLocks noChangeAspect="1"/>
          </p:cNvSpPr>
          <p:nvPr/>
        </p:nvSpPr>
        <p:spPr>
          <a:xfrm>
            <a:off x="1315417" y="1484012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DACA316-230D-D8CD-EF68-29B01C3EA119}"/>
              </a:ext>
            </a:extLst>
          </p:cNvPr>
          <p:cNvSpPr>
            <a:spLocks noChangeAspect="1"/>
          </p:cNvSpPr>
          <p:nvPr/>
        </p:nvSpPr>
        <p:spPr>
          <a:xfrm>
            <a:off x="1326847" y="2951311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15BBFC4-0F99-2CC9-D561-7F255E117A6E}"/>
              </a:ext>
            </a:extLst>
          </p:cNvPr>
          <p:cNvSpPr>
            <a:spLocks noChangeAspect="1"/>
          </p:cNvSpPr>
          <p:nvPr/>
        </p:nvSpPr>
        <p:spPr>
          <a:xfrm>
            <a:off x="2858467" y="2257891"/>
            <a:ext cx="365760" cy="36576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82803E-B556-906C-0FD9-FCE6FB1F606B}"/>
              </a:ext>
            </a:extLst>
          </p:cNvPr>
          <p:cNvCxnSpPr>
            <a:cxnSpLocks/>
            <a:stCxn id="18" idx="6"/>
            <a:endCxn id="19" idx="3"/>
          </p:cNvCxnSpPr>
          <p:nvPr/>
        </p:nvCxnSpPr>
        <p:spPr>
          <a:xfrm flipV="1">
            <a:off x="1692607" y="2570087"/>
            <a:ext cx="1219424" cy="56410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4BED61-5805-76F0-4414-6C51BCF23D50}"/>
              </a:ext>
            </a:extLst>
          </p:cNvPr>
          <p:cNvCxnSpPr>
            <a:stCxn id="17" idx="6"/>
            <a:endCxn id="19" idx="1"/>
          </p:cNvCxnSpPr>
          <p:nvPr/>
        </p:nvCxnSpPr>
        <p:spPr>
          <a:xfrm>
            <a:off x="1681177" y="1666892"/>
            <a:ext cx="1230854" cy="64456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CA272A9-A1B9-1E11-A374-2E2BA93B23DE}"/>
              </a:ext>
            </a:extLst>
          </p:cNvPr>
          <p:cNvCxnSpPr>
            <a:cxnSpLocks/>
          </p:cNvCxnSpPr>
          <p:nvPr/>
        </p:nvCxnSpPr>
        <p:spPr>
          <a:xfrm>
            <a:off x="515317" y="166689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E69A336-30C0-D5CD-CA64-C0BCFB5DE8D0}"/>
              </a:ext>
            </a:extLst>
          </p:cNvPr>
          <p:cNvCxnSpPr>
            <a:cxnSpLocks/>
            <a:endCxn id="18" idx="2"/>
          </p:cNvCxnSpPr>
          <p:nvPr/>
        </p:nvCxnSpPr>
        <p:spPr>
          <a:xfrm>
            <a:off x="515317" y="3134191"/>
            <a:ext cx="81153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37C9D3C-7810-04DD-E4D9-BC6359EADF76}"/>
              </a:ext>
            </a:extLst>
          </p:cNvPr>
          <p:cNvCxnSpPr>
            <a:cxnSpLocks/>
          </p:cNvCxnSpPr>
          <p:nvPr/>
        </p:nvCxnSpPr>
        <p:spPr>
          <a:xfrm>
            <a:off x="3224227" y="2425082"/>
            <a:ext cx="8001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FDA9619-46C1-35AA-8D39-D84883E83DEE}"/>
                  </a:ext>
                </a:extLst>
              </p:cNvPr>
              <p:cNvSpPr txBox="1"/>
              <p:nvPr/>
            </p:nvSpPr>
            <p:spPr>
              <a:xfrm>
                <a:off x="-201915" y="1148627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FDA9619-46C1-35AA-8D39-D84883E83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915" y="1148627"/>
                <a:ext cx="1006792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3F16E3-8206-36D0-8CD8-8945A0493065}"/>
                  </a:ext>
                </a:extLst>
              </p:cNvPr>
              <p:cNvSpPr txBox="1"/>
              <p:nvPr/>
            </p:nvSpPr>
            <p:spPr>
              <a:xfrm>
                <a:off x="1735090" y="2997538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𝐳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23F16E3-8206-36D0-8CD8-8945A0493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5090" y="2997538"/>
                <a:ext cx="1006792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E0490DA-EA3F-93AB-D5D4-8341117CED35}"/>
                  </a:ext>
                </a:extLst>
              </p:cNvPr>
              <p:cNvSpPr txBox="1"/>
              <p:nvPr/>
            </p:nvSpPr>
            <p:spPr>
              <a:xfrm>
                <a:off x="-159026" y="2672526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E0490DA-EA3F-93AB-D5D4-8341117CED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9026" y="2672526"/>
                <a:ext cx="100679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C880405-ADCD-FBF7-9406-D9BCB78F26F3}"/>
                  </a:ext>
                </a:extLst>
              </p:cNvPr>
              <p:cNvSpPr txBox="1"/>
              <p:nvPr/>
            </p:nvSpPr>
            <p:spPr>
              <a:xfrm>
                <a:off x="1741184" y="1186599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e>
                        <m:sub>
                          <m:r>
                            <a:rPr lang="de-DE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</m:sSub>
                    </m:oMath>
                  </m:oMathPara>
                </a14:m>
                <a:endParaRPr lang="en-US" sz="2400" b="1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C880405-ADCD-FBF7-9406-D9BCB78F2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1184" y="1186599"/>
                <a:ext cx="100679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26DDB16-7FD3-4032-EEDE-BBECCBC7F08C}"/>
                  </a:ext>
                </a:extLst>
              </p:cNvPr>
              <p:cNvSpPr txBox="1"/>
              <p:nvPr/>
            </p:nvSpPr>
            <p:spPr>
              <a:xfrm>
                <a:off x="3535822" y="1866925"/>
                <a:ext cx="10067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26DDB16-7FD3-4032-EEDE-BBECCBC7F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5822" y="1866925"/>
                <a:ext cx="1006792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521AB9-1978-32E8-7F4C-C51C06880C5F}"/>
                  </a:ext>
                </a:extLst>
              </p:cNvPr>
              <p:cNvSpPr txBox="1"/>
              <p:nvPr/>
            </p:nvSpPr>
            <p:spPr>
              <a:xfrm>
                <a:off x="1000130" y="1012870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521AB9-1978-32E8-7F4C-C51C06880C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30" y="1012870"/>
                <a:ext cx="97060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20D86B1-5E70-338F-D88A-B102B98C364B}"/>
                  </a:ext>
                </a:extLst>
              </p:cNvPr>
              <p:cNvSpPr txBox="1"/>
              <p:nvPr/>
            </p:nvSpPr>
            <p:spPr>
              <a:xfrm>
                <a:off x="1052200" y="3234332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20D86B1-5E70-338F-D88A-B102B98C3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200" y="3234332"/>
                <a:ext cx="97060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0B18A39-9866-0789-02AE-BCAA83EA05F2}"/>
                  </a:ext>
                </a:extLst>
              </p:cNvPr>
              <p:cNvSpPr txBox="1"/>
              <p:nvPr/>
            </p:nvSpPr>
            <p:spPr>
              <a:xfrm>
                <a:off x="2626592" y="1657049"/>
                <a:ext cx="97060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0B18A39-9866-0789-02AE-BCAA83EA05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592" y="1657049"/>
                <a:ext cx="970607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EA5EC35B-7C25-FBAF-8BD7-87249CE7A5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4789" y="292145"/>
            <a:ext cx="7716327" cy="606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062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289</Words>
  <Application>Microsoft Office PowerPoint</Application>
  <PresentationFormat>Widescreen</PresentationFormat>
  <Paragraphs>58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Associating Metabolic reactions with NN coefficients</vt:lpstr>
      <vt:lpstr>Fundamentals of Flux Balance Analysis (FBA)</vt:lpstr>
      <vt:lpstr>Looking for 2-neuron NNs</vt:lpstr>
      <vt:lpstr>Looking for 2-neuron NNs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</cp:revision>
  <dcterms:created xsi:type="dcterms:W3CDTF">2025-12-24T00:00:45Z</dcterms:created>
  <dcterms:modified xsi:type="dcterms:W3CDTF">2025-12-24T10:57:15Z</dcterms:modified>
</cp:coreProperties>
</file>