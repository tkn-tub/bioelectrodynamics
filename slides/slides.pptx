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1.xml" ContentType="application/inkml+xml"/>
  <Override PartName="/ppt/ink/ink2.xml" ContentType="application/inkml+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1843" r:id="rId3"/>
    <p:sldId id="1844" r:id="rId4"/>
    <p:sldId id="1845" r:id="rId5"/>
    <p:sldId id="258" r:id="rId6"/>
    <p:sldId id="271" r:id="rId7"/>
    <p:sldId id="257" r:id="rId8"/>
    <p:sldId id="273" r:id="rId9"/>
    <p:sldId id="274" r:id="rId10"/>
    <p:sldId id="275" r:id="rId11"/>
    <p:sldId id="1846" r:id="rId12"/>
    <p:sldId id="265" r:id="rId13"/>
    <p:sldId id="266" r:id="rId14"/>
    <p:sldId id="267" r:id="rId15"/>
    <p:sldId id="264" r:id="rId16"/>
    <p:sldId id="268" r:id="rId17"/>
    <p:sldId id="269" r:id="rId18"/>
    <p:sldId id="272" r:id="rId19"/>
    <p:sldId id="260" r:id="rId20"/>
    <p:sldId id="261" r:id="rId21"/>
    <p:sldId id="263" r:id="rId22"/>
    <p:sldId id="259" r:id="rId23"/>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90313" autoAdjust="0"/>
  </p:normalViewPr>
  <p:slideViewPr>
    <p:cSldViewPr snapToGrid="0">
      <p:cViewPr varScale="1">
        <p:scale>
          <a:sx n="54" d="100"/>
          <a:sy n="54" d="100"/>
        </p:scale>
        <p:origin x="332"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3/16/2026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6</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8</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14</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15</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png"/><Relationship Id="rId7" Type="http://schemas.openxmlformats.org/officeDocument/2006/relationships/image" Target="NUL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5.sv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png"/><Relationship Id="rId7" Type="http://schemas.openxmlformats.org/officeDocument/2006/relationships/image" Target="NUL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512.png"/><Relationship Id="rId3" Type="http://schemas.openxmlformats.org/officeDocument/2006/relationships/image" Target="../media/image8.png"/><Relationship Id="rId7" Type="http://schemas.openxmlformats.org/officeDocument/2006/relationships/image" Target="../media/image411.png"/><Relationship Id="rId12"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312.png"/><Relationship Id="rId11"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711.png"/><Relationship Id="rId4" Type="http://schemas.openxmlformats.org/officeDocument/2006/relationships/image" Target="../media/image9.png"/><Relationship Id="rId9" Type="http://schemas.openxmlformats.org/officeDocument/2006/relationships/image" Target="../media/image611.png"/></Relationships>
</file>

<file path=ppt/slides/_rels/slide7.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8" Type="http://schemas.openxmlformats.org/officeDocument/2006/relationships/image" Target="../media/image610.png"/><Relationship Id="rId13" Type="http://schemas.openxmlformats.org/officeDocument/2006/relationships/image" Target="../media/image111.png"/><Relationship Id="rId3" Type="http://schemas.openxmlformats.org/officeDocument/2006/relationships/image" Target="../media/image110.png"/><Relationship Id="rId7" Type="http://schemas.openxmlformats.org/officeDocument/2006/relationships/image" Target="../media/image5.png"/><Relationship Id="rId12" Type="http://schemas.openxmlformats.org/officeDocument/2006/relationships/image" Target="../media/image106.png"/><Relationship Id="rId17" Type="http://schemas.openxmlformats.org/officeDocument/2006/relationships/image" Target="../media/image152.png"/><Relationship Id="rId2" Type="http://schemas.openxmlformats.org/officeDocument/2006/relationships/notesSlide" Target="../notesSlides/notesSlide2.xml"/><Relationship Id="rId16"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20.png"/><Relationship Id="rId10" Type="http://schemas.openxmlformats.org/officeDocument/2006/relationships/image" Target="../media/image813.png"/><Relationship Id="rId4" Type="http://schemas.openxmlformats.org/officeDocument/2006/relationships/image" Target="../media/image210.png"/><Relationship Id="rId9" Type="http://schemas.openxmlformats.org/officeDocument/2006/relationships/image" Target="../media/image712.png"/><Relationship Id="rId14" Type="http://schemas.openxmlformats.org/officeDocument/2006/relationships/image" Target="../media/image121.png"/></Relationships>
</file>

<file path=ppt/slides/_rels/slide9.xml.rels><?xml version="1.0" encoding="UTF-8" standalone="yes"?>
<Relationships xmlns="http://schemas.openxmlformats.org/package/2006/relationships"><Relationship Id="rId8" Type="http://schemas.openxmlformats.org/officeDocument/2006/relationships/image" Target="../media/image172.png"/><Relationship Id="rId3" Type="http://schemas.openxmlformats.org/officeDocument/2006/relationships/image" Target="../media/image22.png"/><Relationship Id="rId7"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2.png"/><Relationship Id="rId5" Type="http://schemas.openxmlformats.org/officeDocument/2006/relationships/image" Target="../media/image121.png"/><Relationship Id="rId10" Type="http://schemas.openxmlformats.org/officeDocument/2006/relationships/image" Target="../media/image25.png"/><Relationship Id="rId4" Type="http://schemas.openxmlformats.org/officeDocument/2006/relationships/image" Target="../media/image23.png"/><Relationship Id="rId9"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5.png"/><Relationship Id="rId3" Type="http://schemas.openxmlformats.org/officeDocument/2006/relationships/image" Target="../media/image26.png"/><Relationship Id="rId7" Type="http://schemas.openxmlformats.org/officeDocument/2006/relationships/image" Target="../media/image21.png"/><Relationship Id="rId12" Type="http://schemas.openxmlformats.org/officeDocument/2006/relationships/image" Target="../media/image34.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29.png"/><Relationship Id="rId11" Type="http://schemas.openxmlformats.org/officeDocument/2006/relationships/image" Target="../media/image33.png"/><Relationship Id="rId5" Type="http://schemas.openxmlformats.org/officeDocument/2006/relationships/image" Target="../media/image28.png"/><Relationship Id="rId15" Type="http://schemas.openxmlformats.org/officeDocument/2006/relationships/image" Target="../media/image37.png"/><Relationship Id="rId10" Type="http://schemas.openxmlformats.org/officeDocument/2006/relationships/image" Target="../media/image32.png"/><Relationship Id="rId4" Type="http://schemas.openxmlformats.org/officeDocument/2006/relationships/image" Target="../media/image27.png"/><Relationship Id="rId9" Type="http://schemas.openxmlformats.org/officeDocument/2006/relationships/image" Target="../media/image31.png"/><Relationship Id="rId14" Type="http://schemas.openxmlformats.org/officeDocument/2006/relationships/image" Target="../media/image36.png"/></Relationships>
</file>

<file path=ppt/slides/_rels/slide11.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5.xml"/><Relationship Id="rId16" Type="http://schemas.openxmlformats.org/officeDocument/2006/relationships/image" Target="../media/image52.svg"/><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svg"/></Relationships>
</file>

<file path=ppt/slides/_rels/slide12.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80.png"/><Relationship Id="rId18" Type="http://schemas.openxmlformats.org/officeDocument/2006/relationships/image" Target="../media/image23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png"/><Relationship Id="rId7" Type="http://schemas.openxmlformats.org/officeDocument/2006/relationships/image" Target="../media/image120.png"/><Relationship Id="rId12" Type="http://schemas.openxmlformats.org/officeDocument/2006/relationships/image" Target="../media/image171.png"/><Relationship Id="rId17" Type="http://schemas.openxmlformats.org/officeDocument/2006/relationships/image" Target="../media/image220.png"/><Relationship Id="rId25" Type="http://schemas.openxmlformats.org/officeDocument/2006/relationships/image" Target="../media/image301.png"/><Relationship Id="rId2" Type="http://schemas.openxmlformats.org/officeDocument/2006/relationships/notesSlide" Target="../notesSlides/notesSlide6.xml"/><Relationship Id="rId16" Type="http://schemas.openxmlformats.org/officeDocument/2006/relationships/image" Target="../media/image211.png"/><Relationship Id="rId20" Type="http://schemas.openxmlformats.org/officeDocument/2006/relationships/image" Target="../media/image252.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png"/><Relationship Id="rId24" Type="http://schemas.openxmlformats.org/officeDocument/2006/relationships/image" Target="../media/image291.png"/><Relationship Id="rId5" Type="http://schemas.openxmlformats.org/officeDocument/2006/relationships/image" Target="../media/image108.png"/><Relationship Id="rId15" Type="http://schemas.openxmlformats.org/officeDocument/2006/relationships/image" Target="../media/image200.png"/><Relationship Id="rId23" Type="http://schemas.openxmlformats.org/officeDocument/2006/relationships/image" Target="../media/image282.png"/><Relationship Id="rId10" Type="http://schemas.openxmlformats.org/officeDocument/2006/relationships/image" Target="../media/image151.png"/><Relationship Id="rId19" Type="http://schemas.openxmlformats.org/officeDocument/2006/relationships/image" Target="../media/image241.png"/><Relationship Id="rId4" Type="http://schemas.openxmlformats.org/officeDocument/2006/relationships/image" Target="../media/image910.png"/><Relationship Id="rId9" Type="http://schemas.openxmlformats.org/officeDocument/2006/relationships/image" Target="../media/image141.png"/><Relationship Id="rId14" Type="http://schemas.openxmlformats.org/officeDocument/2006/relationships/image" Target="../media/image190.png"/><Relationship Id="rId22" Type="http://schemas.openxmlformats.org/officeDocument/2006/relationships/image" Target="../media/image272.png"/><Relationship Id="rId27" Type="http://schemas.openxmlformats.org/officeDocument/2006/relationships/image" Target="../media/image320.png"/></Relationships>
</file>

<file path=ppt/slides/_rels/slide13.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png"/><Relationship Id="rId18" Type="http://schemas.openxmlformats.org/officeDocument/2006/relationships/image" Target="../media/image22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png"/><Relationship Id="rId7" Type="http://schemas.openxmlformats.org/officeDocument/2006/relationships/image" Target="../media/image351.png"/><Relationship Id="rId12" Type="http://schemas.openxmlformats.org/officeDocument/2006/relationships/image" Target="../media/image161.png"/><Relationship Id="rId17" Type="http://schemas.openxmlformats.org/officeDocument/2006/relationships/image" Target="../media/image211.png"/><Relationship Id="rId25" Type="http://schemas.openxmlformats.org/officeDocument/2006/relationships/image" Target="../media/image291.png"/><Relationship Id="rId2" Type="http://schemas.openxmlformats.org/officeDocument/2006/relationships/notesSlide" Target="../notesSlides/notesSlide7.xml"/><Relationship Id="rId16" Type="http://schemas.openxmlformats.org/officeDocument/2006/relationships/image" Target="../media/image200.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png"/><Relationship Id="rId24" Type="http://schemas.openxmlformats.org/officeDocument/2006/relationships/image" Target="../media/image282.png"/><Relationship Id="rId5" Type="http://schemas.openxmlformats.org/officeDocument/2006/relationships/image" Target="../media/image331.png"/><Relationship Id="rId15" Type="http://schemas.openxmlformats.org/officeDocument/2006/relationships/image" Target="../media/image190.png"/><Relationship Id="rId23" Type="http://schemas.openxmlformats.org/officeDocument/2006/relationships/image" Target="../media/image272.png"/><Relationship Id="rId28" Type="http://schemas.openxmlformats.org/officeDocument/2006/relationships/image" Target="../media/image320.png"/><Relationship Id="rId10" Type="http://schemas.openxmlformats.org/officeDocument/2006/relationships/image" Target="../media/image141.png"/><Relationship Id="rId19" Type="http://schemas.openxmlformats.org/officeDocument/2006/relationships/image" Target="../media/image230.png"/><Relationship Id="rId4" Type="http://schemas.openxmlformats.org/officeDocument/2006/relationships/image" Target="../media/image812.png"/><Relationship Id="rId9" Type="http://schemas.openxmlformats.org/officeDocument/2006/relationships/image" Target="../media/image131.png"/><Relationship Id="rId14" Type="http://schemas.openxmlformats.org/officeDocument/2006/relationships/image" Target="../media/image180.png"/><Relationship Id="rId22" Type="http://schemas.openxmlformats.org/officeDocument/2006/relationships/image" Target="../media/image262.png"/><Relationship Id="rId27" Type="http://schemas.openxmlformats.org/officeDocument/2006/relationships/image" Target="../media/image313.png"/></Relationships>
</file>

<file path=ppt/slides/_rels/slide14.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53.png"/></Relationships>
</file>

<file path=ppt/slides/_rels/slide15.xml.rels><?xml version="1.0" encoding="UTF-8" standalone="yes"?>
<Relationships xmlns="http://schemas.openxmlformats.org/package/2006/relationships"><Relationship Id="rId8" Type="http://schemas.openxmlformats.org/officeDocument/2006/relationships/image" Target="../media/image130.png"/><Relationship Id="rId13" Type="http://schemas.openxmlformats.org/officeDocument/2006/relationships/image" Target="../media/image52.png"/><Relationship Id="rId18" Type="http://schemas.openxmlformats.org/officeDocument/2006/relationships/image" Target="../media/image57.png"/><Relationship Id="rId26" Type="http://schemas.openxmlformats.org/officeDocument/2006/relationships/image" Target="../media/image61.png"/><Relationship Id="rId3" Type="http://schemas.openxmlformats.org/officeDocument/2006/relationships/image" Target="../media/image480.png"/><Relationship Id="rId21" Type="http://schemas.openxmlformats.org/officeDocument/2006/relationships/image" Target="../media/image261.png"/><Relationship Id="rId12" Type="http://schemas.openxmlformats.org/officeDocument/2006/relationships/image" Target="../media/image170.png"/><Relationship Id="rId17" Type="http://schemas.openxmlformats.org/officeDocument/2006/relationships/image" Target="../media/image56.png"/><Relationship Id="rId25" Type="http://schemas.openxmlformats.org/officeDocument/2006/relationships/image" Target="../media/image60.png"/><Relationship Id="rId2" Type="http://schemas.openxmlformats.org/officeDocument/2006/relationships/notesSlide" Target="../notesSlides/notesSlide9.xml"/><Relationship Id="rId16" Type="http://schemas.openxmlformats.org/officeDocument/2006/relationships/image" Target="../media/image55.png"/><Relationship Id="rId20" Type="http://schemas.openxmlformats.org/officeDocument/2006/relationships/image" Target="../media/image251.png"/><Relationship Id="rId1" Type="http://schemas.openxmlformats.org/officeDocument/2006/relationships/slideLayout" Target="../slideLayouts/slideLayout2.xml"/><Relationship Id="rId11" Type="http://schemas.openxmlformats.org/officeDocument/2006/relationships/image" Target="../media/image160.png"/><Relationship Id="rId24" Type="http://schemas.openxmlformats.org/officeDocument/2006/relationships/image" Target="../media/image59.png"/><Relationship Id="rId15" Type="http://schemas.openxmlformats.org/officeDocument/2006/relationships/image" Target="../media/image54.png"/><Relationship Id="rId23" Type="http://schemas.openxmlformats.org/officeDocument/2006/relationships/image" Target="../media/image281.png"/><Relationship Id="rId10" Type="http://schemas.openxmlformats.org/officeDocument/2006/relationships/image" Target="../media/image150.png"/><Relationship Id="rId19" Type="http://schemas.openxmlformats.org/officeDocument/2006/relationships/image" Target="../media/image58.png"/><Relationship Id="rId4" Type="http://schemas.openxmlformats.org/officeDocument/2006/relationships/image" Target="../media/image810.png"/><Relationship Id="rId9" Type="http://schemas.openxmlformats.org/officeDocument/2006/relationships/image" Target="../media/image140.png"/><Relationship Id="rId14" Type="http://schemas.openxmlformats.org/officeDocument/2006/relationships/image" Target="../media/image530.png"/><Relationship Id="rId22" Type="http://schemas.openxmlformats.org/officeDocument/2006/relationships/image" Target="../media/image271.png"/><Relationship Id="rId27" Type="http://schemas.openxmlformats.org/officeDocument/2006/relationships/image" Target="../media/image62.png"/></Relationships>
</file>

<file path=ppt/slides/_rels/slide16.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hyperlink" Target="https://enzyme.expasy.org/EC/3.1.2.2" TargetMode="External"/><Relationship Id="rId3" Type="http://schemas.openxmlformats.org/officeDocument/2006/relationships/image" Target="../media/image50.png"/><Relationship Id="rId7" Type="http://schemas.openxmlformats.org/officeDocument/2006/relationships/image" Target="../media/image65.png"/><Relationship Id="rId12"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64.png"/><Relationship Id="rId11" Type="http://schemas.openxmlformats.org/officeDocument/2006/relationships/image" Target="../media/image69.png"/><Relationship Id="rId5" Type="http://schemas.openxmlformats.org/officeDocument/2006/relationships/image" Target="../media/image63.png"/><Relationship Id="rId15" Type="http://schemas.openxmlformats.org/officeDocument/2006/relationships/hyperlink" Target="https://enzyme.expasy.org/EC/6.2.1.3" TargetMode="External"/><Relationship Id="rId10" Type="http://schemas.openxmlformats.org/officeDocument/2006/relationships/image" Target="../media/image68.png"/><Relationship Id="rId4" Type="http://schemas.openxmlformats.org/officeDocument/2006/relationships/image" Target="../media/image511.png"/><Relationship Id="rId9" Type="http://schemas.openxmlformats.org/officeDocument/2006/relationships/image" Target="../media/image67.png"/><Relationship Id="rId14" Type="http://schemas.openxmlformats.org/officeDocument/2006/relationships/hyperlink" Target="https://enzyme.expasy.org/EC/2.3.1.16"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75.png"/><Relationship Id="rId13" Type="http://schemas.openxmlformats.org/officeDocument/2006/relationships/image" Target="../media/image80.png"/><Relationship Id="rId3" Type="http://schemas.openxmlformats.org/officeDocument/2006/relationships/image" Target="../media/image72.svg"/><Relationship Id="rId7" Type="http://schemas.openxmlformats.org/officeDocument/2006/relationships/image" Target="../media/image74.png"/><Relationship Id="rId12" Type="http://schemas.openxmlformats.org/officeDocument/2006/relationships/image" Target="../media/image79.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73.png"/><Relationship Id="rId11" Type="http://schemas.openxmlformats.org/officeDocument/2006/relationships/image" Target="../media/image78.png"/><Relationship Id="rId5" Type="http://schemas.openxmlformats.org/officeDocument/2006/relationships/image" Target="../media/image72.png"/><Relationship Id="rId15" Type="http://schemas.openxmlformats.org/officeDocument/2006/relationships/image" Target="../media/image73.emf"/><Relationship Id="rId10" Type="http://schemas.openxmlformats.org/officeDocument/2006/relationships/image" Target="../media/image77.png"/><Relationship Id="rId4" Type="http://schemas.openxmlformats.org/officeDocument/2006/relationships/image" Target="../media/image713.png"/><Relationship Id="rId9" Type="http://schemas.openxmlformats.org/officeDocument/2006/relationships/image" Target="../media/image76.png"/><Relationship Id="rId14" Type="http://schemas.openxmlformats.org/officeDocument/2006/relationships/image" Target="../media/image81.png"/></Relationships>
</file>

<file path=ppt/slides/_rels/slide18.xml.rels><?xml version="1.0" encoding="UTF-8" standalone="yes"?>
<Relationships xmlns="http://schemas.openxmlformats.org/package/2006/relationships"><Relationship Id="rId8" Type="http://schemas.openxmlformats.org/officeDocument/2006/relationships/image" Target="../media/image87.png"/><Relationship Id="rId13" Type="http://schemas.openxmlformats.org/officeDocument/2006/relationships/image" Target="../media/image92.png"/><Relationship Id="rId18" Type="http://schemas.openxmlformats.org/officeDocument/2006/relationships/image" Target="../media/image107.png"/><Relationship Id="rId3" Type="http://schemas.openxmlformats.org/officeDocument/2006/relationships/image" Target="../media/image71.png"/><Relationship Id="rId7" Type="http://schemas.openxmlformats.org/officeDocument/2006/relationships/image" Target="../media/image86.png"/><Relationship Id="rId12" Type="http://schemas.openxmlformats.org/officeDocument/2006/relationships/image" Target="../media/image91.png"/><Relationship Id="rId17" Type="http://schemas.openxmlformats.org/officeDocument/2006/relationships/customXml" Target="../ink/ink1.xml"/><Relationship Id="rId2" Type="http://schemas.openxmlformats.org/officeDocument/2006/relationships/notesSlide" Target="../notesSlides/notesSlide11.xml"/><Relationship Id="rId16" Type="http://schemas.openxmlformats.org/officeDocument/2006/relationships/image" Target="../media/image82.png"/><Relationship Id="rId20" Type="http://schemas.openxmlformats.org/officeDocument/2006/relationships/image" Target="../media/image109.png"/><Relationship Id="rId1" Type="http://schemas.openxmlformats.org/officeDocument/2006/relationships/slideLayout" Target="../slideLayouts/slideLayout2.xml"/><Relationship Id="rId6" Type="http://schemas.openxmlformats.org/officeDocument/2006/relationships/image" Target="../media/image85.png"/><Relationship Id="rId11" Type="http://schemas.openxmlformats.org/officeDocument/2006/relationships/image" Target="../media/image90.png"/><Relationship Id="rId5" Type="http://schemas.openxmlformats.org/officeDocument/2006/relationships/image" Target="../media/image84.png"/><Relationship Id="rId15" Type="http://schemas.openxmlformats.org/officeDocument/2006/relationships/image" Target="../media/image94.png"/><Relationship Id="rId10" Type="http://schemas.openxmlformats.org/officeDocument/2006/relationships/image" Target="../media/image89.png"/><Relationship Id="rId19" Type="http://schemas.openxmlformats.org/officeDocument/2006/relationships/customXml" Target="../ink/ink2.xml"/><Relationship Id="rId4" Type="http://schemas.openxmlformats.org/officeDocument/2006/relationships/image" Target="../media/image72.svg"/><Relationship Id="rId9" Type="http://schemas.openxmlformats.org/officeDocument/2006/relationships/image" Target="../media/image88.png"/><Relationship Id="rId14" Type="http://schemas.openxmlformats.org/officeDocument/2006/relationships/image" Target="../media/image93.png"/></Relationships>
</file>

<file path=ppt/slides/_rels/slide19.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96.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95.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95.png"/><Relationship Id="rId14" Type="http://schemas.openxmlformats.org/officeDocument/2006/relationships/image" Target="../media/image97.png"/></Relationships>
</file>

<file path=ppt/slides/_rels/slide20.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99.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100.png"/><Relationship Id="rId17" Type="http://schemas.openxmlformats.org/officeDocument/2006/relationships/image" Target="../media/image102.png"/><Relationship Id="rId2" Type="http://schemas.openxmlformats.org/officeDocument/2006/relationships/image" Target="../media/image98.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101.png"/><Relationship Id="rId10" Type="http://schemas.openxmlformats.org/officeDocument/2006/relationships/image" Target="../media/image730.png"/><Relationship Id="rId19" Type="http://schemas.openxmlformats.org/officeDocument/2006/relationships/image" Target="../media/image103.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104.png"/><Relationship Id="rId3" Type="http://schemas.openxmlformats.org/officeDocument/2006/relationships/image" Target="../media/image330.png"/><Relationship Id="rId21" Type="http://schemas.openxmlformats.org/officeDocument/2006/relationships/image" Target="../media/image51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12.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22.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105.png"/><Relationship Id="rId7" Type="http://schemas.openxmlformats.org/officeDocument/2006/relationships/image" Target="../media/image260.png"/><Relationship Id="rId12" Type="http://schemas.openxmlformats.org/officeDocument/2006/relationships/image" Target="../media/image31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00.png"/><Relationship Id="rId5" Type="http://schemas.openxmlformats.org/officeDocument/2006/relationships/image" Target="../media/image240.png"/><Relationship Id="rId10" Type="http://schemas.openxmlformats.org/officeDocument/2006/relationships/image" Target="../media/image290.png"/><Relationship Id="rId4" Type="http://schemas.openxmlformats.org/officeDocument/2006/relationships/image" Target="../media/image100.png"/><Relationship Id="rId9" Type="http://schemas.openxmlformats.org/officeDocument/2006/relationships/image" Target="../media/image2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fontScale="90000"/>
          </a:bodyPr>
          <a:lstStyle/>
          <a:p>
            <a:r>
              <a:rPr lang="en-US" dirty="0"/>
              <a:t>Associating Metabolic reactions with NN coefficients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2</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3</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4</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50245F14-B88C-D972-5587-AA29EF9A88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1559" y="1655106"/>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2" name="Group 1">
            <a:extLst>
              <a:ext uri="{FF2B5EF4-FFF2-40B4-BE49-F238E27FC236}">
                <a16:creationId xmlns:a16="http://schemas.microsoft.com/office/drawing/2014/main" id="{A1D5993F-CB27-1FE8-1BE9-19655D02D072}"/>
              </a:ext>
            </a:extLst>
          </p:cNvPr>
          <p:cNvGrpSpPr>
            <a:grpSpLocks noChangeAspect="1"/>
          </p:cNvGrpSpPr>
          <p:nvPr/>
        </p:nvGrpSpPr>
        <p:grpSpPr>
          <a:xfrm>
            <a:off x="7248156" y="220928"/>
            <a:ext cx="4542410" cy="6416143"/>
            <a:chOff x="4279038" y="2021951"/>
            <a:chExt cx="1992287" cy="2814098"/>
          </a:xfrm>
        </p:grpSpPr>
        <p:pic>
          <p:nvPicPr>
            <p:cNvPr id="4" name="Picture 3">
              <a:extLst>
                <a:ext uri="{FF2B5EF4-FFF2-40B4-BE49-F238E27FC236}">
                  <a16:creationId xmlns:a16="http://schemas.microsoft.com/office/drawing/2014/main" id="{8CC775CC-B45D-DD79-6897-047344E8CE0C}"/>
                </a:ext>
              </a:extLst>
            </p:cNvPr>
            <p:cNvPicPr>
              <a:picLocks noChangeAspect="1"/>
            </p:cNvPicPr>
            <p:nvPr/>
          </p:nvPicPr>
          <p:blipFill>
            <a:blip r:embed="rId4"/>
            <a:stretch>
              <a:fillRect/>
            </a:stretch>
          </p:blipFill>
          <p:spPr>
            <a:xfrm>
              <a:off x="4537360" y="4099364"/>
              <a:ext cx="736685" cy="736685"/>
            </a:xfrm>
            <a:prstGeom prst="rect">
              <a:avLst/>
            </a:prstGeom>
          </p:spPr>
        </p:pic>
        <p:pic>
          <p:nvPicPr>
            <p:cNvPr id="5" name="Picture 4">
              <a:extLst>
                <a:ext uri="{FF2B5EF4-FFF2-40B4-BE49-F238E27FC236}">
                  <a16:creationId xmlns:a16="http://schemas.microsoft.com/office/drawing/2014/main" id="{3DB7F8C3-6773-F347-6EDD-CCBDF5CE8EA9}"/>
                </a:ext>
              </a:extLst>
            </p:cNvPr>
            <p:cNvPicPr>
              <a:picLocks noChangeAspect="1"/>
            </p:cNvPicPr>
            <p:nvPr/>
          </p:nvPicPr>
          <p:blipFill>
            <a:blip r:embed="rId5"/>
            <a:srcRect l="25538" t="6542" r="31911" b="10234"/>
            <a:stretch>
              <a:fillRect/>
            </a:stretch>
          </p:blipFill>
          <p:spPr>
            <a:xfrm rot="9842333">
              <a:off x="5170067" y="2287547"/>
              <a:ext cx="155635" cy="202933"/>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DD0860-2DA6-31CD-AA8B-2102F1F8AC79}"/>
                    </a:ext>
                  </a:extLst>
                </p:cNvPr>
                <p:cNvSpPr txBox="1"/>
                <p:nvPr/>
              </p:nvSpPr>
              <p:spPr>
                <a:xfrm>
                  <a:off x="5217723" y="3752261"/>
                  <a:ext cx="777598" cy="2090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𝑝</m:t>
                            </m:r>
                          </m:e>
                          <m:sub>
                            <m:r>
                              <a:rPr lang="en-US" sz="1200" i="1">
                                <a:latin typeface="Cambria Math" panose="02040503050406030204" pitchFamily="18" charset="0"/>
                              </a:rPr>
                              <m:t>𝑈</m:t>
                            </m:r>
                          </m:sub>
                        </m:sSub>
                        <m:r>
                          <a:rPr lang="en-US" sz="1200" i="1">
                            <a:latin typeface="Cambria Math" panose="02040503050406030204" pitchFamily="18" charset="0"/>
                          </a:rPr>
                          <m:t>=</m:t>
                        </m:r>
                        <m:r>
                          <a:rPr lang="en-US" sz="1200" i="1">
                            <a:latin typeface="Cambria Math" panose="02040503050406030204" pitchFamily="18" charset="0"/>
                          </a:rPr>
                          <m:t>1</m:t>
                        </m:r>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1</m:t>
                            </m:r>
                          </m:num>
                          <m:den>
                            <m:r>
                              <a:rPr lang="en-US" sz="1200" i="1">
                                <a:latin typeface="Cambria Math" panose="02040503050406030204" pitchFamily="18" charset="0"/>
                              </a:rPr>
                              <m:t>1</m:t>
                            </m:r>
                            <m:r>
                              <a:rPr lang="en-US" sz="1200" i="1">
                                <a:latin typeface="Cambria Math" panose="02040503050406030204" pitchFamily="18" charset="0"/>
                              </a:rPr>
                              <m:t>+</m:t>
                            </m:r>
                            <m:sSup>
                              <m:sSupPr>
                                <m:ctrlPr>
                                  <a:rPr lang="en-US" sz="1200" i="1" smtClean="0">
                                    <a:latin typeface="Cambria Math" panose="02040503050406030204" pitchFamily="18" charset="0"/>
                                  </a:rPr>
                                </m:ctrlPr>
                              </m:sSupPr>
                              <m:e>
                                <m:r>
                                  <a:rPr lang="de-DE" sz="1200" b="0" i="1" smtClean="0">
                                    <a:latin typeface="Cambria Math" panose="02040503050406030204" pitchFamily="18" charset="0"/>
                                  </a:rPr>
                                  <m:t>𝑒</m:t>
                                </m:r>
                              </m:e>
                              <m:sup>
                                <m:d>
                                  <m:dPr>
                                    <m:ctrlPr>
                                      <a:rPr lang="en-US" sz="1200" i="1">
                                        <a:latin typeface="Cambria Math" panose="02040503050406030204" pitchFamily="18" charset="0"/>
                                      </a:rPr>
                                    </m:ctrlPr>
                                  </m:dPr>
                                  <m:e>
                                    <m:f>
                                      <m:fPr>
                                        <m:ctrlPr>
                                          <a:rPr lang="en-US" sz="1200" i="1">
                                            <a:latin typeface="Cambria Math" panose="02040503050406030204" pitchFamily="18" charset="0"/>
                                          </a:rPr>
                                        </m:ctrlPr>
                                      </m:fPr>
                                      <m:num>
                                        <m:r>
                                          <m:rPr>
                                            <m:sty m:val="p"/>
                                          </m:rPr>
                                          <a:rPr lang="en-US" sz="1200">
                                            <a:latin typeface="Cambria Math" panose="02040503050406030204" pitchFamily="18" charset="0"/>
                                          </a:rPr>
                                          <m:t>Δ</m:t>
                                        </m:r>
                                        <m:r>
                                          <a:rPr lang="en-US" sz="1200" i="1">
                                            <a:latin typeface="Cambria Math" panose="02040503050406030204" pitchFamily="18" charset="0"/>
                                          </a:rPr>
                                          <m:t>𝐸</m:t>
                                        </m:r>
                                        <m:r>
                                          <a:rPr lang="en-US" sz="1200" i="1">
                                            <a:latin typeface="Cambria Math" panose="02040503050406030204" pitchFamily="18" charset="0"/>
                                          </a:rPr>
                                          <m:t>−</m:t>
                                        </m:r>
                                        <m:sSub>
                                          <m:sSubPr>
                                            <m:ctrlPr>
                                              <a:rPr lang="en-US" sz="1200" i="1">
                                                <a:latin typeface="Cambria Math" panose="02040503050406030204" pitchFamily="18" charset="0"/>
                                              </a:rPr>
                                            </m:ctrlPr>
                                          </m:sSubPr>
                                          <m:e>
                                            <m:d>
                                              <m:dPr>
                                                <m:begChr m:val="⟨"/>
                                                <m:endChr m:val="⟩"/>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𝐸</m:t>
                                                    </m:r>
                                                  </m:e>
                                                  <m:sub>
                                                    <m:r>
                                                      <a:rPr lang="en-US" sz="1200" i="1">
                                                        <a:latin typeface="Cambria Math" panose="02040503050406030204" pitchFamily="18" charset="0"/>
                                                      </a:rPr>
                                                      <m:t>𝑡𝑜𝑡</m:t>
                                                    </m:r>
                                                  </m:sub>
                                                </m:sSub>
                                              </m:e>
                                            </m:d>
                                          </m:e>
                                          <m:sub>
                                            <m:r>
                                              <a:rPr lang="en-US" sz="1200" i="1">
                                                <a:latin typeface="Cambria Math" panose="02040503050406030204" pitchFamily="18" charset="0"/>
                                              </a:rPr>
                                              <m:t>𝑠𝑠</m:t>
                                            </m:r>
                                          </m:sub>
                                        </m:sSub>
                                      </m:num>
                                      <m:den>
                                        <m:sSub>
                                          <m:sSubPr>
                                            <m:ctrlPr>
                                              <a:rPr lang="en-US" sz="1200" i="1">
                                                <a:latin typeface="Cambria Math" panose="02040503050406030204" pitchFamily="18" charset="0"/>
                                              </a:rPr>
                                            </m:ctrlPr>
                                          </m:sSubPr>
                                          <m:e>
                                            <m:r>
                                              <a:rPr lang="en-US" sz="1200" i="1">
                                                <a:latin typeface="Cambria Math" panose="02040503050406030204" pitchFamily="18" charset="0"/>
                                              </a:rPr>
                                              <m:t>𝑘</m:t>
                                            </m:r>
                                          </m:e>
                                          <m:sub>
                                            <m:r>
                                              <a:rPr lang="en-US" sz="1200" i="1">
                                                <a:latin typeface="Cambria Math" panose="02040503050406030204" pitchFamily="18" charset="0"/>
                                              </a:rPr>
                                              <m:t>𝑏</m:t>
                                            </m:r>
                                          </m:sub>
                                        </m:sSub>
                                        <m:r>
                                          <a:rPr lang="en-US" sz="1200" i="1">
                                            <a:latin typeface="Cambria Math" panose="02040503050406030204" pitchFamily="18" charset="0"/>
                                          </a:rPr>
                                          <m:t>𝑇</m:t>
                                        </m:r>
                                      </m:den>
                                    </m:f>
                                  </m:e>
                                </m:d>
                              </m:sup>
                            </m:sSup>
                          </m:den>
                        </m:f>
                      </m:oMath>
                    </m:oMathPara>
                  </a14:m>
                  <a:endParaRPr lang="en-US" sz="1200" dirty="0"/>
                </a:p>
              </p:txBody>
            </p:sp>
          </mc:Choice>
          <mc:Fallback xmlns="">
            <p:sp>
              <p:nvSpPr>
                <p:cNvPr id="6" name="TextBox 5">
                  <a:extLst>
                    <a:ext uri="{FF2B5EF4-FFF2-40B4-BE49-F238E27FC236}">
                      <a16:creationId xmlns:a16="http://schemas.microsoft.com/office/drawing/2014/main" id="{9EDD0860-2DA6-31CD-AA8B-2102F1F8AC79}"/>
                    </a:ext>
                  </a:extLst>
                </p:cNvPr>
                <p:cNvSpPr txBox="1">
                  <a:spLocks noRot="1" noChangeAspect="1" noMove="1" noResize="1" noEditPoints="1" noAdjustHandles="1" noChangeArrowheads="1" noChangeShapeType="1" noTextEdit="1"/>
                </p:cNvSpPr>
                <p:nvPr/>
              </p:nvSpPr>
              <p:spPr>
                <a:xfrm>
                  <a:off x="5217723" y="3752261"/>
                  <a:ext cx="777598" cy="209037"/>
                </a:xfrm>
                <a:prstGeom prst="rect">
                  <a:avLst/>
                </a:prstGeom>
                <a:blipFill>
                  <a:blip r:embed="rId6"/>
                  <a:stretch>
                    <a:fillRect l="-1718" t="-1266" b="-8861"/>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17162E86-1FFD-57EC-D041-AAFA2EA4B6CA}"/>
                </a:ext>
              </a:extLst>
            </p:cNvPr>
            <p:cNvSpPr txBox="1"/>
            <p:nvPr/>
          </p:nvSpPr>
          <p:spPr>
            <a:xfrm>
              <a:off x="5196341" y="3655906"/>
              <a:ext cx="1018892"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Enzyme unfolding probability</a:t>
              </a:r>
              <a:endParaRPr lang="en-US" sz="1200" dirty="0">
                <a:ln/>
                <a:solidFill>
                  <a:srgbClr val="000000"/>
                </a:solidFill>
                <a:latin typeface="Arial"/>
                <a:cs typeface="Arial"/>
                <a:sym typeface="Arial"/>
                <a:rtl val="0"/>
              </a:endParaRPr>
            </a:p>
          </p:txBody>
        </p:sp>
        <p:sp>
          <p:nvSpPr>
            <p:cNvPr id="8" name="Freeform: Shape 7">
              <a:extLst>
                <a:ext uri="{FF2B5EF4-FFF2-40B4-BE49-F238E27FC236}">
                  <a16:creationId xmlns:a16="http://schemas.microsoft.com/office/drawing/2014/main" id="{C3251E1C-61C2-A4FC-B5AB-ABBD77B7A781}"/>
                </a:ext>
              </a:extLst>
            </p:cNvPr>
            <p:cNvSpPr/>
            <p:nvPr/>
          </p:nvSpPr>
          <p:spPr>
            <a:xfrm rot="3269968" flipV="1">
              <a:off x="5347159" y="2635928"/>
              <a:ext cx="455416" cy="33421"/>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102FFB28-39EE-E235-CC27-059080C2C118}"/>
                </a:ext>
              </a:extLst>
            </p:cNvPr>
            <p:cNvPicPr>
              <a:picLocks noChangeAspect="1"/>
            </p:cNvPicPr>
            <p:nvPr/>
          </p:nvPicPr>
          <p:blipFill>
            <a:blip r:embed="rId5"/>
            <a:srcRect l="25538" t="6542" r="31911" b="10234"/>
            <a:stretch>
              <a:fillRect/>
            </a:stretch>
          </p:blipFill>
          <p:spPr>
            <a:xfrm rot="9842333">
              <a:off x="5280753" y="2150293"/>
              <a:ext cx="155635" cy="202933"/>
            </a:xfrm>
            <a:prstGeom prst="rect">
              <a:avLst/>
            </a:prstGeom>
          </p:spPr>
        </p:pic>
        <p:pic>
          <p:nvPicPr>
            <p:cNvPr id="10" name="Picture 9">
              <a:extLst>
                <a:ext uri="{FF2B5EF4-FFF2-40B4-BE49-F238E27FC236}">
                  <a16:creationId xmlns:a16="http://schemas.microsoft.com/office/drawing/2014/main" id="{4D2708D1-4DF9-EE19-880B-BD112748E901}"/>
                </a:ext>
              </a:extLst>
            </p:cNvPr>
            <p:cNvPicPr>
              <a:picLocks noChangeAspect="1"/>
            </p:cNvPicPr>
            <p:nvPr/>
          </p:nvPicPr>
          <p:blipFill>
            <a:blip r:embed="rId5"/>
            <a:srcRect l="25538" t="6542" r="31911" b="10234"/>
            <a:stretch>
              <a:fillRect/>
            </a:stretch>
          </p:blipFill>
          <p:spPr>
            <a:xfrm rot="9842333">
              <a:off x="5028523" y="2234757"/>
              <a:ext cx="155635" cy="202933"/>
            </a:xfrm>
            <a:prstGeom prst="rect">
              <a:avLst/>
            </a:prstGeom>
          </p:spPr>
        </p:pic>
        <p:pic>
          <p:nvPicPr>
            <p:cNvPr id="11" name="Picture 10">
              <a:extLst>
                <a:ext uri="{FF2B5EF4-FFF2-40B4-BE49-F238E27FC236}">
                  <a16:creationId xmlns:a16="http://schemas.microsoft.com/office/drawing/2014/main" id="{336F4747-B89C-0703-819B-F0FF90C5D37F}"/>
                </a:ext>
              </a:extLst>
            </p:cNvPr>
            <p:cNvPicPr>
              <a:picLocks noChangeAspect="1"/>
            </p:cNvPicPr>
            <p:nvPr/>
          </p:nvPicPr>
          <p:blipFill>
            <a:blip r:embed="rId5"/>
            <a:srcRect l="25538" t="6542" r="31911" b="10234"/>
            <a:stretch>
              <a:fillRect/>
            </a:stretch>
          </p:blipFill>
          <p:spPr>
            <a:xfrm rot="9842333">
              <a:off x="5162117" y="2155889"/>
              <a:ext cx="155635" cy="202933"/>
            </a:xfrm>
            <a:prstGeom prst="rect">
              <a:avLst/>
            </a:prstGeom>
          </p:spPr>
        </p:pic>
        <p:sp>
          <p:nvSpPr>
            <p:cNvPr id="12" name="Freeform: Shape 11">
              <a:extLst>
                <a:ext uri="{FF2B5EF4-FFF2-40B4-BE49-F238E27FC236}">
                  <a16:creationId xmlns:a16="http://schemas.microsoft.com/office/drawing/2014/main" id="{0AA5F23D-C107-8591-7C2E-62BF99A51237}"/>
                </a:ext>
              </a:extLst>
            </p:cNvPr>
            <p:cNvSpPr/>
            <p:nvPr/>
          </p:nvSpPr>
          <p:spPr>
            <a:xfrm rot="3269968" flipV="1">
              <a:off x="5480803" y="2577674"/>
              <a:ext cx="343819" cy="51684"/>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41B641D4-EC7D-D9C6-0E18-31A97768AF75}"/>
                </a:ext>
              </a:extLst>
            </p:cNvPr>
            <p:cNvSpPr/>
            <p:nvPr/>
          </p:nvSpPr>
          <p:spPr>
            <a:xfrm rot="3269968" flipV="1">
              <a:off x="5306507" y="2675017"/>
              <a:ext cx="353817" cy="51684"/>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51F067E5-C460-FFC7-0368-41F8C46F3DD1}"/>
                </a:ext>
              </a:extLst>
            </p:cNvPr>
            <p:cNvSpPr txBox="1"/>
            <p:nvPr/>
          </p:nvSpPr>
          <p:spPr>
            <a:xfrm>
              <a:off x="4880925" y="2021951"/>
              <a:ext cx="541815"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Antenna Array</a:t>
              </a:r>
              <a:endParaRPr lang="en-US" sz="12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52245834-D7FC-21AB-E5E9-0BCE763B4CEC}"/>
                </a:ext>
              </a:extLst>
            </p:cNvPr>
            <p:cNvSpPr txBox="1"/>
            <p:nvPr/>
          </p:nvSpPr>
          <p:spPr>
            <a:xfrm>
              <a:off x="5794295" y="2472486"/>
              <a:ext cx="419482" cy="202485"/>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Terahertz</a:t>
              </a:r>
            </a:p>
            <a:p>
              <a:pPr algn="ctr"/>
              <a:r>
                <a:rPr lang="en-US" sz="1200" dirty="0">
                  <a:ln/>
                  <a:solidFill>
                    <a:srgbClr val="000000"/>
                  </a:solidFill>
                  <a:latin typeface="Arial"/>
                  <a:cs typeface="Arial"/>
                  <a:sym typeface="Arial"/>
                  <a:rtl val="0"/>
                </a:rPr>
                <a:t>Waveforms</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B8B8DC2-59B7-6BAC-8734-13F64F94067C}"/>
                    </a:ext>
                  </a:extLst>
                </p:cNvPr>
                <p:cNvSpPr txBox="1"/>
                <p:nvPr/>
              </p:nvSpPr>
              <p:spPr>
                <a:xfrm>
                  <a:off x="5217723" y="4116783"/>
                  <a:ext cx="123508" cy="12149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200" smtClean="0">
                            <a:latin typeface="Cambria Math" panose="02040503050406030204" pitchFamily="18" charset="0"/>
                          </a:rPr>
                          <m:t>Δ</m:t>
                        </m:r>
                        <m:r>
                          <a:rPr lang="en-US" sz="1200" i="1">
                            <a:latin typeface="Cambria Math" panose="02040503050406030204" pitchFamily="18" charset="0"/>
                          </a:rPr>
                          <m:t>𝐸</m:t>
                        </m:r>
                      </m:oMath>
                    </m:oMathPara>
                  </a14:m>
                  <a:endParaRPr lang="en-US" sz="1200" dirty="0"/>
                </a:p>
              </p:txBody>
            </p:sp>
          </mc:Choice>
          <mc:Fallback xmlns="">
            <p:sp>
              <p:nvSpPr>
                <p:cNvPr id="16" name="TextBox 15">
                  <a:extLst>
                    <a:ext uri="{FF2B5EF4-FFF2-40B4-BE49-F238E27FC236}">
                      <a16:creationId xmlns:a16="http://schemas.microsoft.com/office/drawing/2014/main" id="{9B8B8DC2-59B7-6BAC-8734-13F64F94067C}"/>
                    </a:ext>
                  </a:extLst>
                </p:cNvPr>
                <p:cNvSpPr txBox="1">
                  <a:spLocks noRot="1" noChangeAspect="1" noMove="1" noResize="1" noEditPoints="1" noAdjustHandles="1" noChangeArrowheads="1" noChangeShapeType="1" noTextEdit="1"/>
                </p:cNvSpPr>
                <p:nvPr/>
              </p:nvSpPr>
              <p:spPr>
                <a:xfrm>
                  <a:off x="5217723" y="4116783"/>
                  <a:ext cx="123508" cy="121491"/>
                </a:xfrm>
                <a:prstGeom prst="rect">
                  <a:avLst/>
                </a:prstGeom>
                <a:blipFill>
                  <a:blip r:embed="rId7"/>
                  <a:stretch>
                    <a:fillRect r="-195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38E7335-020C-0FC4-A77E-E51F2818C9AC}"/>
                    </a:ext>
                  </a:extLst>
                </p:cNvPr>
                <p:cNvSpPr txBox="1"/>
                <p:nvPr/>
              </p:nvSpPr>
              <p:spPr>
                <a:xfrm>
                  <a:off x="5217723" y="3985819"/>
                  <a:ext cx="206118" cy="12149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200" i="1">
                                <a:latin typeface="Cambria Math" panose="02040503050406030204" pitchFamily="18" charset="0"/>
                              </a:rPr>
                            </m:ctrlPr>
                          </m:sSubPr>
                          <m:e>
                            <m:d>
                              <m:dPr>
                                <m:begChr m:val="⟨"/>
                                <m:endChr m:val="⟩"/>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𝐸</m:t>
                                    </m:r>
                                  </m:e>
                                  <m:sub>
                                    <m:r>
                                      <a:rPr lang="en-US" sz="1200" i="1">
                                        <a:latin typeface="Cambria Math" panose="02040503050406030204" pitchFamily="18" charset="0"/>
                                      </a:rPr>
                                      <m:t>𝑡𝑜𝑡</m:t>
                                    </m:r>
                                  </m:sub>
                                </m:sSub>
                              </m:e>
                            </m:d>
                          </m:e>
                          <m:sub>
                            <m:r>
                              <a:rPr lang="en-US" sz="1200" i="1">
                                <a:latin typeface="Cambria Math" panose="02040503050406030204" pitchFamily="18" charset="0"/>
                              </a:rPr>
                              <m:t>𝑠𝑠</m:t>
                            </m:r>
                          </m:sub>
                        </m:sSub>
                      </m:oMath>
                    </m:oMathPara>
                  </a14:m>
                  <a:endParaRPr lang="en-US" sz="1200" dirty="0"/>
                </a:p>
              </p:txBody>
            </p:sp>
          </mc:Choice>
          <mc:Fallback xmlns="">
            <p:sp>
              <p:nvSpPr>
                <p:cNvPr id="17" name="TextBox 16">
                  <a:extLst>
                    <a:ext uri="{FF2B5EF4-FFF2-40B4-BE49-F238E27FC236}">
                      <a16:creationId xmlns:a16="http://schemas.microsoft.com/office/drawing/2014/main" id="{D38E7335-020C-0FC4-A77E-E51F2818C9AC}"/>
                    </a:ext>
                  </a:extLst>
                </p:cNvPr>
                <p:cNvSpPr txBox="1">
                  <a:spLocks noRot="1" noChangeAspect="1" noMove="1" noResize="1" noEditPoints="1" noAdjustHandles="1" noChangeArrowheads="1" noChangeShapeType="1" noTextEdit="1"/>
                </p:cNvSpPr>
                <p:nvPr/>
              </p:nvSpPr>
              <p:spPr>
                <a:xfrm>
                  <a:off x="5217723" y="3985819"/>
                  <a:ext cx="206118" cy="121491"/>
                </a:xfrm>
                <a:prstGeom prst="rect">
                  <a:avLst/>
                </a:prstGeom>
                <a:blipFill>
                  <a:blip r:embed="rId8"/>
                  <a:stretch>
                    <a:fillRect r="-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A04DB0F-C73C-9755-A177-5BE55C7C5D99}"/>
                    </a:ext>
                  </a:extLst>
                </p:cNvPr>
                <p:cNvSpPr txBox="1"/>
                <p:nvPr/>
              </p:nvSpPr>
              <p:spPr>
                <a:xfrm>
                  <a:off x="5244290" y="4227368"/>
                  <a:ext cx="90754" cy="12149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𝑘</m:t>
                            </m:r>
                          </m:e>
                          <m:sub>
                            <m:r>
                              <a:rPr lang="en-US" sz="1200" i="1">
                                <a:latin typeface="Cambria Math" panose="02040503050406030204" pitchFamily="18" charset="0"/>
                              </a:rPr>
                              <m:t>𝑏</m:t>
                            </m:r>
                          </m:sub>
                        </m:sSub>
                      </m:oMath>
                    </m:oMathPara>
                  </a14:m>
                  <a:endParaRPr lang="en-US" sz="1200" dirty="0"/>
                </a:p>
              </p:txBody>
            </p:sp>
          </mc:Choice>
          <mc:Fallback xmlns="">
            <p:sp>
              <p:nvSpPr>
                <p:cNvPr id="18" name="TextBox 17">
                  <a:extLst>
                    <a:ext uri="{FF2B5EF4-FFF2-40B4-BE49-F238E27FC236}">
                      <a16:creationId xmlns:a16="http://schemas.microsoft.com/office/drawing/2014/main" id="{2A04DB0F-C73C-9755-A177-5BE55C7C5D99}"/>
                    </a:ext>
                  </a:extLst>
                </p:cNvPr>
                <p:cNvSpPr txBox="1">
                  <a:spLocks noRot="1" noChangeAspect="1" noMove="1" noResize="1" noEditPoints="1" noAdjustHandles="1" noChangeArrowheads="1" noChangeShapeType="1" noTextEdit="1"/>
                </p:cNvSpPr>
                <p:nvPr/>
              </p:nvSpPr>
              <p:spPr>
                <a:xfrm>
                  <a:off x="5244290" y="4227368"/>
                  <a:ext cx="90754" cy="121491"/>
                </a:xfrm>
                <a:prstGeom prst="rect">
                  <a:avLst/>
                </a:prstGeom>
                <a:blipFill>
                  <a:blip r:embed="rId9"/>
                  <a:stretch>
                    <a:fillRect r="-3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FFE30AD-80FB-7C98-03E0-9475ABA333CA}"/>
                    </a:ext>
                  </a:extLst>
                </p:cNvPr>
                <p:cNvSpPr txBox="1"/>
                <p:nvPr/>
              </p:nvSpPr>
              <p:spPr>
                <a:xfrm>
                  <a:off x="5250979" y="4332105"/>
                  <a:ext cx="84066" cy="12149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200" i="1" smtClean="0">
                            <a:latin typeface="Cambria Math" panose="02040503050406030204" pitchFamily="18" charset="0"/>
                          </a:rPr>
                          <m:t>𝑇</m:t>
                        </m:r>
                      </m:oMath>
                    </m:oMathPara>
                  </a14:m>
                  <a:endParaRPr lang="en-US" sz="1200" dirty="0"/>
                </a:p>
              </p:txBody>
            </p:sp>
          </mc:Choice>
          <mc:Fallback xmlns="">
            <p:sp>
              <p:nvSpPr>
                <p:cNvPr id="19" name="TextBox 18">
                  <a:extLst>
                    <a:ext uri="{FF2B5EF4-FFF2-40B4-BE49-F238E27FC236}">
                      <a16:creationId xmlns:a16="http://schemas.microsoft.com/office/drawing/2014/main" id="{CFFE30AD-80FB-7C98-03E0-9475ABA333CA}"/>
                    </a:ext>
                  </a:extLst>
                </p:cNvPr>
                <p:cNvSpPr txBox="1">
                  <a:spLocks noRot="1" noChangeAspect="1" noMove="1" noResize="1" noEditPoints="1" noAdjustHandles="1" noChangeArrowheads="1" noChangeShapeType="1" noTextEdit="1"/>
                </p:cNvSpPr>
                <p:nvPr/>
              </p:nvSpPr>
              <p:spPr>
                <a:xfrm>
                  <a:off x="5250979" y="4332105"/>
                  <a:ext cx="84066" cy="121491"/>
                </a:xfrm>
                <a:prstGeom prst="rect">
                  <a:avLst/>
                </a:prstGeom>
                <a:blipFill>
                  <a:blip r:embed="rId10"/>
                  <a:stretch>
                    <a:fillRect r="-25806"/>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97BB80AF-12EF-FEE8-C12C-3A30E6D9E2F8}"/>
                </a:ext>
              </a:extLst>
            </p:cNvPr>
            <p:cNvSpPr txBox="1"/>
            <p:nvPr/>
          </p:nvSpPr>
          <p:spPr>
            <a:xfrm>
              <a:off x="5422126" y="3989459"/>
              <a:ext cx="849199" cy="121491"/>
            </a:xfrm>
            <a:prstGeom prst="rect">
              <a:avLst/>
            </a:prstGeom>
            <a:noFill/>
          </p:spPr>
          <p:txBody>
            <a:bodyPr wrap="none" rtlCol="0">
              <a:spAutoFit/>
            </a:bodyPr>
            <a:lstStyle/>
            <a:p>
              <a:r>
                <a:rPr lang="en-US" sz="1200" dirty="0"/>
                <a:t>Total energy of the enzyme</a:t>
              </a:r>
            </a:p>
          </p:txBody>
        </p:sp>
        <p:sp>
          <p:nvSpPr>
            <p:cNvPr id="21" name="TextBox 20">
              <a:extLst>
                <a:ext uri="{FF2B5EF4-FFF2-40B4-BE49-F238E27FC236}">
                  <a16:creationId xmlns:a16="http://schemas.microsoft.com/office/drawing/2014/main" id="{85299D57-F522-18BF-AF16-4E0D02ED6FFA}"/>
                </a:ext>
              </a:extLst>
            </p:cNvPr>
            <p:cNvSpPr txBox="1"/>
            <p:nvPr/>
          </p:nvSpPr>
          <p:spPr>
            <a:xfrm>
              <a:off x="5423841" y="4121167"/>
              <a:ext cx="653548" cy="121491"/>
            </a:xfrm>
            <a:prstGeom prst="rect">
              <a:avLst/>
            </a:prstGeom>
            <a:noFill/>
          </p:spPr>
          <p:txBody>
            <a:bodyPr wrap="none" rtlCol="0">
              <a:spAutoFit/>
            </a:bodyPr>
            <a:lstStyle/>
            <a:p>
              <a:r>
                <a:rPr lang="en-US" sz="1200" dirty="0"/>
                <a:t>Enzyme-free energy</a:t>
              </a:r>
            </a:p>
          </p:txBody>
        </p:sp>
        <p:sp>
          <p:nvSpPr>
            <p:cNvPr id="22" name="TextBox 21">
              <a:extLst>
                <a:ext uri="{FF2B5EF4-FFF2-40B4-BE49-F238E27FC236}">
                  <a16:creationId xmlns:a16="http://schemas.microsoft.com/office/drawing/2014/main" id="{F6092CA9-C3F5-7760-1324-2B2D2A5647C4}"/>
                </a:ext>
              </a:extLst>
            </p:cNvPr>
            <p:cNvSpPr txBox="1"/>
            <p:nvPr/>
          </p:nvSpPr>
          <p:spPr>
            <a:xfrm>
              <a:off x="5423841" y="4231008"/>
              <a:ext cx="668819" cy="121491"/>
            </a:xfrm>
            <a:prstGeom prst="rect">
              <a:avLst/>
            </a:prstGeom>
            <a:noFill/>
          </p:spPr>
          <p:txBody>
            <a:bodyPr wrap="none" rtlCol="0">
              <a:spAutoFit/>
            </a:bodyPr>
            <a:lstStyle/>
            <a:p>
              <a:r>
                <a:rPr lang="en-US" sz="1200" dirty="0"/>
                <a:t>Boltzmann constant</a:t>
              </a:r>
            </a:p>
          </p:txBody>
        </p:sp>
        <p:sp>
          <p:nvSpPr>
            <p:cNvPr id="23" name="TextBox 22">
              <a:extLst>
                <a:ext uri="{FF2B5EF4-FFF2-40B4-BE49-F238E27FC236}">
                  <a16:creationId xmlns:a16="http://schemas.microsoft.com/office/drawing/2014/main" id="{CE35348E-C369-5A1B-AA33-C4F3C646C4C7}"/>
                </a:ext>
              </a:extLst>
            </p:cNvPr>
            <p:cNvSpPr txBox="1"/>
            <p:nvPr/>
          </p:nvSpPr>
          <p:spPr>
            <a:xfrm>
              <a:off x="5415911" y="4332286"/>
              <a:ext cx="760387" cy="121491"/>
            </a:xfrm>
            <a:prstGeom prst="rect">
              <a:avLst/>
            </a:prstGeom>
            <a:noFill/>
          </p:spPr>
          <p:txBody>
            <a:bodyPr wrap="none" rtlCol="0">
              <a:spAutoFit/>
            </a:bodyPr>
            <a:lstStyle/>
            <a:p>
              <a:r>
                <a:rPr lang="en-US" sz="1200" dirty="0"/>
                <a:t>Temperature of the Cell</a:t>
              </a:r>
            </a:p>
          </p:txBody>
        </p:sp>
        <p:pic>
          <p:nvPicPr>
            <p:cNvPr id="24" name="Picture 23">
              <a:extLst>
                <a:ext uri="{FF2B5EF4-FFF2-40B4-BE49-F238E27FC236}">
                  <a16:creationId xmlns:a16="http://schemas.microsoft.com/office/drawing/2014/main" id="{2750B0C9-4173-10F9-773E-054975B21546}"/>
                </a:ext>
              </a:extLst>
            </p:cNvPr>
            <p:cNvPicPr>
              <a:picLocks noChangeAspect="1"/>
            </p:cNvPicPr>
            <p:nvPr/>
          </p:nvPicPr>
          <p:blipFill>
            <a:blip r:embed="rId11"/>
            <a:stretch>
              <a:fillRect/>
            </a:stretch>
          </p:blipFill>
          <p:spPr>
            <a:xfrm rot="16379150" flipH="1">
              <a:off x="5406288" y="2811069"/>
              <a:ext cx="650532" cy="650533"/>
            </a:xfrm>
            <a:prstGeom prst="rect">
              <a:avLst/>
            </a:prstGeom>
          </p:spPr>
        </p:pic>
        <p:sp>
          <p:nvSpPr>
            <p:cNvPr id="25" name="TextBox 24">
              <a:extLst>
                <a:ext uri="{FF2B5EF4-FFF2-40B4-BE49-F238E27FC236}">
                  <a16:creationId xmlns:a16="http://schemas.microsoft.com/office/drawing/2014/main" id="{977B0894-61EC-84DC-0814-0076AB5527F0}"/>
                </a:ext>
              </a:extLst>
            </p:cNvPr>
            <p:cNvSpPr txBox="1"/>
            <p:nvPr/>
          </p:nvSpPr>
          <p:spPr>
            <a:xfrm>
              <a:off x="5786723" y="2797782"/>
              <a:ext cx="418103"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Yeast Cell</a:t>
              </a:r>
              <a:endParaRPr lang="en-US" sz="12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6D779F69-BEDB-4ACD-526B-49F67A412C57}"/>
                </a:ext>
              </a:extLst>
            </p:cNvPr>
            <p:cNvPicPr>
              <a:picLocks noChangeAspect="1"/>
            </p:cNvPicPr>
            <p:nvPr/>
          </p:nvPicPr>
          <p:blipFill>
            <a:blip r:embed="rId12"/>
            <a:srcRect l="8213"/>
            <a:stretch>
              <a:fillRect/>
            </a:stretch>
          </p:blipFill>
          <p:spPr>
            <a:xfrm>
              <a:off x="4643466" y="3041481"/>
              <a:ext cx="630871" cy="687325"/>
            </a:xfrm>
            <a:prstGeom prst="rect">
              <a:avLst/>
            </a:prstGeom>
          </p:spPr>
        </p:pic>
        <p:cxnSp>
          <p:nvCxnSpPr>
            <p:cNvPr id="27" name="Straight Connector 26">
              <a:extLst>
                <a:ext uri="{FF2B5EF4-FFF2-40B4-BE49-F238E27FC236}">
                  <a16:creationId xmlns:a16="http://schemas.microsoft.com/office/drawing/2014/main" id="{648C1756-69FB-2DE4-B62C-282F0F6A66F7}"/>
                </a:ext>
              </a:extLst>
            </p:cNvPr>
            <p:cNvCxnSpPr>
              <a:cxnSpLocks/>
            </p:cNvCxnSpPr>
            <p:nvPr/>
          </p:nvCxnSpPr>
          <p:spPr>
            <a:xfrm flipH="1" flipV="1">
              <a:off x="4915933" y="3044600"/>
              <a:ext cx="767681" cy="86851"/>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474A644-31DE-3398-602A-297F8C172F18}"/>
                </a:ext>
              </a:extLst>
            </p:cNvPr>
            <p:cNvCxnSpPr>
              <a:cxnSpLocks/>
            </p:cNvCxnSpPr>
            <p:nvPr/>
          </p:nvCxnSpPr>
          <p:spPr>
            <a:xfrm flipV="1">
              <a:off x="5227456" y="3165208"/>
              <a:ext cx="456158" cy="451809"/>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sp>
          <p:nvSpPr>
            <p:cNvPr id="29" name="Arc 28">
              <a:extLst>
                <a:ext uri="{FF2B5EF4-FFF2-40B4-BE49-F238E27FC236}">
                  <a16:creationId xmlns:a16="http://schemas.microsoft.com/office/drawing/2014/main" id="{ACE56624-8A50-6C34-A4F4-4055B6BB7F2A}"/>
                </a:ext>
              </a:extLst>
            </p:cNvPr>
            <p:cNvSpPr/>
            <p:nvPr/>
          </p:nvSpPr>
          <p:spPr>
            <a:xfrm>
              <a:off x="4537360" y="3719496"/>
              <a:ext cx="604728" cy="779876"/>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D5EB02D-BB44-0A7E-E631-DBD6DE0C33BE}"/>
                </a:ext>
              </a:extLst>
            </p:cNvPr>
            <p:cNvSpPr txBox="1"/>
            <p:nvPr/>
          </p:nvSpPr>
          <p:spPr>
            <a:xfrm>
              <a:off x="4279038" y="2903415"/>
              <a:ext cx="586503"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Folded Enzyme</a:t>
              </a:r>
              <a:endParaRPr lang="en-US" sz="12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45FFD0AE-6EC0-EDEE-88C1-F05C2BDA0A05}"/>
                </a:ext>
              </a:extLst>
            </p:cNvPr>
            <p:cNvSpPr txBox="1"/>
            <p:nvPr/>
          </p:nvSpPr>
          <p:spPr>
            <a:xfrm>
              <a:off x="4435158" y="3961298"/>
              <a:ext cx="649779"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Unf</a:t>
              </a:r>
              <a:r>
                <a:rPr lang="en-US" sz="1200" spc="0" baseline="0" dirty="0">
                  <a:ln/>
                  <a:solidFill>
                    <a:srgbClr val="000000"/>
                  </a:solidFill>
                  <a:latin typeface="Arial"/>
                  <a:cs typeface="Arial"/>
                  <a:sym typeface="Arial"/>
                  <a:rtl val="0"/>
                </a:rPr>
                <a:t>olded Enzyme</a:t>
              </a:r>
              <a:endParaRPr lang="en-US" sz="12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3200" dirty="0"/>
              <a:t>Concept</a:t>
            </a:r>
          </a:p>
        </p:txBody>
      </p:sp>
      <p:sp>
        <p:nvSpPr>
          <p:cNvPr id="34" name="TextBox 33">
            <a:extLst>
              <a:ext uri="{FF2B5EF4-FFF2-40B4-BE49-F238E27FC236}">
                <a16:creationId xmlns:a16="http://schemas.microsoft.com/office/drawing/2014/main" id="{532E40FD-E7AD-D45B-99BD-2C9F702DFA9F}"/>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Tree>
    <p:extLst>
      <p:ext uri="{BB962C8B-B14F-4D97-AF65-F5344CB8AC3E}">
        <p14:creationId xmlns:p14="http://schemas.microsoft.com/office/powerpoint/2010/main" val="25348449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mc:Choice xmlns:a14="http://schemas.microsoft.com/office/drawing/2010/main"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mc:Choice xmlns:a14="http://schemas.microsoft.com/office/drawing/2010/main"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mc:Choice xmlns:a14="http://schemas.microsoft.com/office/drawing/2010/main"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mc:Choice xmlns:a14="http://schemas.microsoft.com/office/drawing/2010/main"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1668</Words>
  <Application>Microsoft Office PowerPoint</Application>
  <PresentationFormat>Widescreen</PresentationFormat>
  <Paragraphs>400</Paragraphs>
  <Slides>22</Slides>
  <Notes>13</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Aptos</vt:lpstr>
      <vt:lpstr>Aptos Display</vt:lpstr>
      <vt:lpstr>Arial</vt:lpstr>
      <vt:lpstr>Cambria Math</vt:lpstr>
      <vt:lpstr>Menlo</vt:lpstr>
      <vt:lpstr>Office Theme</vt:lpstr>
      <vt:lpstr>Associating Metabolic reactions with NN coefficients</vt:lpstr>
      <vt:lpstr>Bio-Building Carriers</vt:lpstr>
      <vt:lpstr>Bio-Building Carriers</vt:lpstr>
      <vt:lpstr>Bio-Building Carriers</vt:lpstr>
      <vt:lpstr>PowerPoint Presentation</vt:lpstr>
      <vt:lpstr>Concept</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23</cp:revision>
  <dcterms:created xsi:type="dcterms:W3CDTF">2025-12-24T00:00:45Z</dcterms:created>
  <dcterms:modified xsi:type="dcterms:W3CDTF">2026-03-17T06:01:45Z</dcterms:modified>
</cp:coreProperties>
</file>