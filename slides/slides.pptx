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313" autoAdjust="0"/>
  </p:normalViewPr>
  <p:slideViewPr>
    <p:cSldViewPr snapToGrid="0">
      <p:cViewPr varScale="1">
        <p:scale>
          <a:sx n="102" d="100"/>
          <a:sy n="102" d="100"/>
        </p:scale>
        <p:origin x="126" y="30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A252C-87EA-4881-A10E-9E4CA26E6FE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818A67-DE81-4BE5-A09A-01BC8A96D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45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17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05572-6063-7C16-16E8-29879B1D7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EE637-7715-1373-4493-02CFD416B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1765A-03B0-AFA3-CA95-6E32F3D7E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259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8ED6A-528D-21D0-2C0F-A0C60DF9C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008DCB-018B-A6F1-1277-1CAC357B62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87D90-FE0E-4372-61FB-DDFADB610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389D3-00E4-38F2-194B-ED2EDD4D1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74827-CC80-912D-BC38-A4165701B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43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F8A52-7B86-E650-B4BA-EFCD7907E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C5CF6-29A3-4598-D49C-A46A50453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22CDA-23CA-086A-1D96-91C0DB0B3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67791-BA04-3D29-01C9-9DD0495F2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2C9B9-99A6-C647-899C-9056E5D7D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6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0D67C-D2BD-6C22-4377-9FEF654B1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5D80F-75A6-3598-4E68-E5999C51A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AAEA-83D8-13ED-A516-ED6E6683A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C7DFD-EBF1-7BBD-4045-DE957302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62B48-4673-FA63-FF0D-581FF7B41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71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56D7-9C50-95BA-1C1E-175533430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2A9E6-0196-39CA-A6A7-9EEC5E27B2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266B31-FD5E-BD70-95EA-7AFCBA433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A1A7C-7C77-7A3C-7156-025F68643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6A2DDF-A703-BF06-26BE-698E04A58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E0D02-E5FB-B36B-CA1E-3B232D499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35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941C-88C3-BE7E-91C0-E5728E6A0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411BDA-73C5-01E3-9FBE-D40A9FF61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9FBA2A-4904-E59D-536D-1ACC4F9F6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A9E1A2-0A42-908A-727F-78A168838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868B73-3D9B-01EE-EF36-44D4BD745D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2D3C0B-F09E-F2A6-C8D1-264F5C726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4A742E-FD1B-B0AC-4C46-F45D80FD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9EAFDC-7EDC-D32C-0432-327ED4123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65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1EF4-5BEF-6CF9-4A99-A6745DEEA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FDFD67-D209-5B77-90DF-D33BC2AED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AB956-7CF0-DE18-344B-F42C3605D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04B5E-CA0F-3B1F-C721-3733C0F1B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103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C1F627-BDC1-B591-7B6C-353DCDBA9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E64261-A347-10A7-0CCD-04C6BF6C0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E6310-4730-C623-FA58-9C7E8B840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9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16245-C2AD-0D05-019E-E06B11211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6198A-9777-1A27-9017-CDEEEB396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7F819-7055-5529-7EAC-88CA9D322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3E9AE-20ED-7DA0-BE49-2B5FD514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6110F3-28B2-83AA-6275-B009D088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E4810A-E75F-4318-1BD7-967A3485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5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6C3CC-2C70-64C3-4A30-A609452F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71D0AA-B494-D943-5E5B-8D36C3A5A7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6E2EB-9196-D3D2-1B30-62DE10C01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F41B5-E24C-B47B-BB3D-972C8A3CB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24E9D-D378-8D22-DCF4-7F6532C01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C3E7FB-323F-F5EC-FA2F-A39210C86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526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12707-53E3-2569-0E7A-1690F3F7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BC101-CAE8-2F23-9755-79948E997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C1A44-26ED-DB28-C428-DC0CFB32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24A06-DEB2-7015-6DD9-8B2A87C0B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D3E3F-18AE-63E8-C6C8-276980A1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91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86E817-77FE-761F-64F3-B0C06C832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4D9400-74DA-F591-439F-B3D8A373B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69B40-D3C9-8620-5438-6240D96D9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794E-D081-69C8-CF71-EF1F6857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3D011-AE60-4E59-4CAA-42D40456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63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89688-5212-ACD5-E266-9D477DBF1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570B3-455B-D197-2087-591C574FC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EE478-5C66-582A-151D-23D0BC61FA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7105C-A8E4-4519-9028-35FD188A98F2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0986E-D2AE-68DE-FE62-ECFFCF15C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D604D-E86B-1D60-E6C5-5BC1CDA4B9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56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8.png"/><Relationship Id="rId21" Type="http://schemas.openxmlformats.org/officeDocument/2006/relationships/image" Target="../media/image25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5" Type="http://schemas.openxmlformats.org/officeDocument/2006/relationships/image" Target="../media/image19.png"/><Relationship Id="rId23" Type="http://schemas.openxmlformats.org/officeDocument/2006/relationships/image" Target="../media/image21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9.png"/><Relationship Id="rId9" Type="http://schemas.openxmlformats.org/officeDocument/2006/relationships/image" Target="../media/image130.png"/><Relationship Id="rId14" Type="http://schemas.openxmlformats.org/officeDocument/2006/relationships/image" Target="../media/image18.png"/><Relationship Id="rId22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7.png"/><Relationship Id="rId7" Type="http://schemas.openxmlformats.org/officeDocument/2006/relationships/image" Target="../media/image260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0.png"/><Relationship Id="rId5" Type="http://schemas.openxmlformats.org/officeDocument/2006/relationships/image" Target="../media/image240.png"/><Relationship Id="rId10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28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hyperlink" Target="https://www.yeastgenome.org/locus/S000006135" TargetMode="External"/><Relationship Id="rId18" Type="http://schemas.openxmlformats.org/officeDocument/2006/relationships/hyperlink" Target="https://www.yeastgenome.org/locus/S000002238" TargetMode="External"/><Relationship Id="rId3" Type="http://schemas.openxmlformats.org/officeDocument/2006/relationships/image" Target="../media/image33.png"/><Relationship Id="rId21" Type="http://schemas.openxmlformats.org/officeDocument/2006/relationships/hyperlink" Target="https://www.yeastgenome.org/locus/S000005429" TargetMode="External"/><Relationship Id="rId7" Type="http://schemas.openxmlformats.org/officeDocument/2006/relationships/image" Target="../media/image37.png"/><Relationship Id="rId12" Type="http://schemas.openxmlformats.org/officeDocument/2006/relationships/image" Target="../media/image28.png"/><Relationship Id="rId17" Type="http://schemas.openxmlformats.org/officeDocument/2006/relationships/image" Target="../media/image43.png"/><Relationship Id="rId2" Type="http://schemas.openxmlformats.org/officeDocument/2006/relationships/image" Target="../media/image32.png"/><Relationship Id="rId16" Type="http://schemas.openxmlformats.org/officeDocument/2006/relationships/hyperlink" Target="https://www.yeastgenome.org/locus/S000000444" TargetMode="External"/><Relationship Id="rId20" Type="http://schemas.openxmlformats.org/officeDocument/2006/relationships/hyperlink" Target="https://www.yeastgenome.org/locus/S000002488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2.png"/><Relationship Id="rId10" Type="http://schemas.openxmlformats.org/officeDocument/2006/relationships/image" Target="../media/image40.png"/><Relationship Id="rId19" Type="http://schemas.openxmlformats.org/officeDocument/2006/relationships/image" Target="../media/image44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hyperlink" Target="https://www.yeastgenome.org/locus/S000003376" TargetMode="External"/><Relationship Id="rId22" Type="http://schemas.openxmlformats.org/officeDocument/2006/relationships/hyperlink" Target="https://www.yeastgenome.org/locus/S000002200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46.png"/><Relationship Id="rId21" Type="http://schemas.openxmlformats.org/officeDocument/2006/relationships/image" Target="../media/image62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" Type="http://schemas.openxmlformats.org/officeDocument/2006/relationships/image" Target="../media/image45.png"/><Relationship Id="rId16" Type="http://schemas.openxmlformats.org/officeDocument/2006/relationships/image" Target="../media/image59.png"/><Relationship Id="rId20" Type="http://schemas.openxmlformats.org/officeDocument/2006/relationships/hyperlink" Target="https://www.yeastgenome.org/locus/S00000044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10" Type="http://schemas.openxmlformats.org/officeDocument/2006/relationships/image" Target="../media/image53.png"/><Relationship Id="rId19" Type="http://schemas.openxmlformats.org/officeDocument/2006/relationships/image" Target="../media/image42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E442D-7110-890C-5FBC-26F86DE6B4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Associating Metabolic reactions with NN coefficients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6A585-3973-D13F-5415-F2866F06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6E8A0-8921-3D2F-250D-F3FA243A8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" y="39121"/>
            <a:ext cx="7946912" cy="50505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Fundamentals of Flux Balance Analysis (FBA)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/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rxns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/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/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rxns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blipFill>
                <a:blip r:embed="rId4"/>
                <a:stretch>
                  <a:fillRect l="-2917" t="-6349" r="-4167" b="-6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/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Example: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Reaction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=1, 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=2,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blipFill>
                <a:blip r:embed="rId5"/>
                <a:stretch>
                  <a:fillRect l="-2252" t="-195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FF60AEA-AA81-B8C9-A46C-E81B7A4EA681}"/>
              </a:ext>
            </a:extLst>
          </p:cNvPr>
          <p:cNvSpPr txBox="1"/>
          <p:nvPr/>
        </p:nvSpPr>
        <p:spPr>
          <a:xfrm>
            <a:off x="40005" y="1790046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Stoichiometric</a:t>
            </a:r>
            <a:r>
              <a:rPr lang="es-ES" sz="2400" dirty="0"/>
              <a:t> </a:t>
            </a:r>
            <a:r>
              <a:rPr lang="es-ES" sz="2400" dirty="0" err="1"/>
              <a:t>matrix</a:t>
            </a:r>
            <a:r>
              <a:rPr lang="es-ES" sz="2400" dirty="0"/>
              <a:t>: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79C30-D3BD-4797-6901-C28E17A72661}"/>
              </a:ext>
            </a:extLst>
          </p:cNvPr>
          <p:cNvSpPr txBox="1"/>
          <p:nvPr/>
        </p:nvSpPr>
        <p:spPr>
          <a:xfrm>
            <a:off x="394335" y="3497579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Reaction</a:t>
            </a:r>
            <a:r>
              <a:rPr lang="es-ES" sz="2400" dirty="0"/>
              <a:t> flux:</a:t>
            </a:r>
            <a:endParaRPr lang="en-US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AEA3AF-2383-F6D2-381F-511EE6A9EE8F}"/>
              </a:ext>
            </a:extLst>
          </p:cNvPr>
          <p:cNvSpPr/>
          <p:nvPr/>
        </p:nvSpPr>
        <p:spPr>
          <a:xfrm>
            <a:off x="3051810" y="2160270"/>
            <a:ext cx="937260" cy="142875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6B81DF-2D8A-897E-2C2D-E4AB1CB04296}"/>
              </a:ext>
            </a:extLst>
          </p:cNvPr>
          <p:cNvCxnSpPr/>
          <p:nvPr/>
        </p:nvCxnSpPr>
        <p:spPr>
          <a:xfrm flipH="1">
            <a:off x="3188970" y="3589020"/>
            <a:ext cx="377190" cy="99253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DD06265-4B5C-C202-69BB-920154DB7577}"/>
              </a:ext>
            </a:extLst>
          </p:cNvPr>
          <p:cNvSpPr txBox="1"/>
          <p:nvPr/>
        </p:nvSpPr>
        <p:spPr>
          <a:xfrm>
            <a:off x="4488704" y="1017001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(1)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7C39CE-6929-E03F-1BBA-0F8ECFA9D038}"/>
              </a:ext>
            </a:extLst>
          </p:cNvPr>
          <p:cNvSpPr txBox="1"/>
          <p:nvPr/>
        </p:nvSpPr>
        <p:spPr>
          <a:xfrm>
            <a:off x="7604290" y="2611243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(3)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46A66-BC2D-14F0-3AE4-49478E4ADFF4}"/>
              </a:ext>
            </a:extLst>
          </p:cNvPr>
          <p:cNvSpPr txBox="1"/>
          <p:nvPr/>
        </p:nvSpPr>
        <p:spPr>
          <a:xfrm>
            <a:off x="2602508" y="4039567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(4)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/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 err="1"/>
                  <a:t>s.t.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𝑆𝑣</m:t>
                    </m:r>
                    <m:r>
                      <a:rPr lang="de-DE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blipFill>
                <a:blip r:embed="rId6"/>
                <a:stretch>
                  <a:fillRect l="-13274" r="-70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/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blipFill>
                <a:blip r:embed="rId7"/>
                <a:stretch>
                  <a:fillRect l="-14286" r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D13D8E6-6E97-57F0-C182-1AD6EE0324A5}"/>
              </a:ext>
            </a:extLst>
          </p:cNvPr>
          <p:cNvSpPr txBox="1"/>
          <p:nvPr/>
        </p:nvSpPr>
        <p:spPr>
          <a:xfrm>
            <a:off x="8133602" y="964109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51A3F9-7DF3-0288-5EC2-2581B8F3C1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1042" y="3187220"/>
            <a:ext cx="4692769" cy="351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218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C6424-BD86-81C7-63C8-F8103CA90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" y="170815"/>
            <a:ext cx="6076950" cy="720725"/>
          </a:xfrm>
        </p:spPr>
        <p:txBody>
          <a:bodyPr/>
          <a:lstStyle/>
          <a:p>
            <a:r>
              <a:rPr lang="de-DE" dirty="0"/>
              <a:t>Looking </a:t>
            </a:r>
            <a:r>
              <a:rPr lang="de-DE" dirty="0" err="1"/>
              <a:t>for</a:t>
            </a:r>
            <a:r>
              <a:rPr lang="de-DE" dirty="0"/>
              <a:t> 2-neuron NNs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AF12A3F-BD0C-5E1A-1C1E-02417278BC63}"/>
              </a:ext>
            </a:extLst>
          </p:cNvPr>
          <p:cNvSpPr>
            <a:spLocks noChangeAspect="1"/>
          </p:cNvSpPr>
          <p:nvPr/>
        </p:nvSpPr>
        <p:spPr>
          <a:xfrm>
            <a:off x="1833698" y="1169256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C275EC2-8FA4-D639-B70B-FC7C93FD197A}"/>
              </a:ext>
            </a:extLst>
          </p:cNvPr>
          <p:cNvSpPr>
            <a:spLocks noChangeAspect="1"/>
          </p:cNvSpPr>
          <p:nvPr/>
        </p:nvSpPr>
        <p:spPr>
          <a:xfrm>
            <a:off x="1845128" y="3371848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E34B839-6F83-4210-19F6-21BFC9903849}"/>
              </a:ext>
            </a:extLst>
          </p:cNvPr>
          <p:cNvSpPr>
            <a:spLocks noChangeAspect="1"/>
          </p:cNvSpPr>
          <p:nvPr/>
        </p:nvSpPr>
        <p:spPr>
          <a:xfrm>
            <a:off x="3744396" y="2291928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7F7A754-4035-7D56-7394-8F30048CF85F}"/>
              </a:ext>
            </a:extLst>
          </p:cNvPr>
          <p:cNvCxnSpPr>
            <a:cxnSpLocks/>
            <a:stCxn id="18" idx="6"/>
            <a:endCxn id="19" idx="3"/>
          </p:cNvCxnSpPr>
          <p:nvPr/>
        </p:nvCxnSpPr>
        <p:spPr>
          <a:xfrm flipV="1">
            <a:off x="2327931" y="2704026"/>
            <a:ext cx="1487170" cy="909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5D8A065-9C1A-C150-3A1C-BC905ECC8E58}"/>
              </a:ext>
            </a:extLst>
          </p:cNvPr>
          <p:cNvCxnSpPr>
            <a:stCxn id="17" idx="6"/>
            <a:endCxn id="19" idx="1"/>
          </p:cNvCxnSpPr>
          <p:nvPr/>
        </p:nvCxnSpPr>
        <p:spPr>
          <a:xfrm>
            <a:off x="2316501" y="1410658"/>
            <a:ext cx="1498600" cy="9519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45DDF03-7011-C7BA-ED3E-E8372498F05F}"/>
              </a:ext>
            </a:extLst>
          </p:cNvPr>
          <p:cNvCxnSpPr>
            <a:cxnSpLocks/>
          </p:cNvCxnSpPr>
          <p:nvPr/>
        </p:nvCxnSpPr>
        <p:spPr>
          <a:xfrm>
            <a:off x="1033604" y="1352142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1A97CC2-7622-0870-CEC7-26DC814C17C9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1005179" y="3613250"/>
            <a:ext cx="83994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0EA8EC5-D0C8-B8A0-9908-40554E37E399}"/>
              </a:ext>
            </a:extLst>
          </p:cNvPr>
          <p:cNvCxnSpPr>
            <a:cxnSpLocks/>
          </p:cNvCxnSpPr>
          <p:nvPr/>
        </p:nvCxnSpPr>
        <p:spPr>
          <a:xfrm>
            <a:off x="4227199" y="2533329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2843F9-E899-F8FC-AEC8-59AE27A96330}"/>
                  </a:ext>
                </a:extLst>
              </p:cNvPr>
              <p:cNvSpPr txBox="1"/>
              <p:nvPr/>
            </p:nvSpPr>
            <p:spPr>
              <a:xfrm>
                <a:off x="427146" y="1078064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2843F9-E899-F8FC-AEC8-59AE27A96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146" y="1078064"/>
                <a:ext cx="65640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A282D88-B781-51EF-5C5B-67FCE2F33765}"/>
                  </a:ext>
                </a:extLst>
              </p:cNvPr>
              <p:cNvSpPr txBox="1"/>
              <p:nvPr/>
            </p:nvSpPr>
            <p:spPr>
              <a:xfrm>
                <a:off x="2524024" y="2760969"/>
                <a:ext cx="65128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de-DE" sz="2400" b="1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𝐳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A282D88-B781-51EF-5C5B-67FCE2F33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024" y="2760969"/>
                <a:ext cx="65128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8E291D1-F8FA-4CE3-CA83-18511BE2D979}"/>
                  </a:ext>
                </a:extLst>
              </p:cNvPr>
              <p:cNvSpPr txBox="1"/>
              <p:nvPr/>
            </p:nvSpPr>
            <p:spPr>
              <a:xfrm>
                <a:off x="331864" y="3257637"/>
                <a:ext cx="7017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8E291D1-F8FA-4CE3-CA83-18511BE2D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864" y="3257637"/>
                <a:ext cx="701740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B718F4-7C17-DBC1-49F4-D09E1018CE84}"/>
                  </a:ext>
                </a:extLst>
              </p:cNvPr>
              <p:cNvSpPr txBox="1"/>
              <p:nvPr/>
            </p:nvSpPr>
            <p:spPr>
              <a:xfrm>
                <a:off x="989799" y="777277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B718F4-7C17-DBC1-49F4-D09E1018CE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99" y="777277"/>
                <a:ext cx="991552" cy="461665"/>
              </a:xfrm>
              <a:prstGeom prst="rect">
                <a:avLst/>
              </a:prstGeom>
              <a:blipFill>
                <a:blip r:embed="rId6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57E92BA-9A84-ACB5-FAFB-0D80F2F9FFE3}"/>
                  </a:ext>
                </a:extLst>
              </p:cNvPr>
              <p:cNvSpPr txBox="1"/>
              <p:nvPr/>
            </p:nvSpPr>
            <p:spPr>
              <a:xfrm>
                <a:off x="3316758" y="2795972"/>
                <a:ext cx="7615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57E92BA-9A84-ACB5-FAFB-0D80F2F9FF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6758" y="2795972"/>
                <a:ext cx="761501" cy="461665"/>
              </a:xfrm>
              <a:prstGeom prst="rect">
                <a:avLst/>
              </a:prstGeom>
              <a:blipFill>
                <a:blip r:embed="rId7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80C3122-C408-6DB3-5E80-206E3A508C8E}"/>
                  </a:ext>
                </a:extLst>
              </p:cNvPr>
              <p:cNvSpPr txBox="1"/>
              <p:nvPr/>
            </p:nvSpPr>
            <p:spPr>
              <a:xfrm>
                <a:off x="2509969" y="134106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80C3122-C408-6DB3-5E80-206E3A508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9969" y="1341069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11F583F-B57C-ED12-2A9D-A6ABD868D333}"/>
                  </a:ext>
                </a:extLst>
              </p:cNvPr>
              <p:cNvSpPr txBox="1"/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11F583F-B57C-ED12-2A9D-A6ABD868D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4519946-224C-CE66-67AA-ECE984982495}"/>
                  </a:ext>
                </a:extLst>
              </p:cNvPr>
              <p:cNvSpPr txBox="1"/>
              <p:nvPr/>
            </p:nvSpPr>
            <p:spPr>
              <a:xfrm>
                <a:off x="1757481" y="117060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4519946-224C-CE66-67AA-ECE984982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7481" y="1170607"/>
                <a:ext cx="656402" cy="461665"/>
              </a:xfrm>
              <a:prstGeom prst="rect">
                <a:avLst/>
              </a:prstGeom>
              <a:blipFill>
                <a:blip r:embed="rId1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32F7B7-2D99-098A-8270-DDFB0976A65A}"/>
                  </a:ext>
                </a:extLst>
              </p:cNvPr>
              <p:cNvSpPr txBox="1"/>
              <p:nvPr/>
            </p:nvSpPr>
            <p:spPr>
              <a:xfrm>
                <a:off x="1853971" y="3306781"/>
                <a:ext cx="495606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32F7B7-2D99-098A-8270-DDFB0976A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971" y="3306781"/>
                <a:ext cx="495606" cy="495905"/>
              </a:xfrm>
              <a:prstGeom prst="rect">
                <a:avLst/>
              </a:prstGeom>
              <a:blipFill>
                <a:blip r:embed="rId11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D8773C-7A78-7E88-911B-54379FA64C9C}"/>
                  </a:ext>
                </a:extLst>
              </p:cNvPr>
              <p:cNvSpPr txBox="1"/>
              <p:nvPr/>
            </p:nvSpPr>
            <p:spPr>
              <a:xfrm>
                <a:off x="1005179" y="3070734"/>
                <a:ext cx="99155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D8773C-7A78-7E88-911B-54379FA64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179" y="3070734"/>
                <a:ext cx="991552" cy="495905"/>
              </a:xfrm>
              <a:prstGeom prst="rect">
                <a:avLst/>
              </a:prstGeom>
              <a:blipFill>
                <a:blip r:embed="rId12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60B7693-5EAE-E492-9DFA-7F2F2B683F16}"/>
                  </a:ext>
                </a:extLst>
              </p:cNvPr>
              <p:cNvSpPr txBox="1"/>
              <p:nvPr/>
            </p:nvSpPr>
            <p:spPr>
              <a:xfrm>
                <a:off x="3734725" y="2236201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60B7693-5EAE-E492-9DFA-7F2F2B683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725" y="2236201"/>
                <a:ext cx="527465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D2D7F36-0645-7777-9570-17DF0935195F}"/>
                  </a:ext>
                </a:extLst>
              </p:cNvPr>
              <p:cNvSpPr txBox="1"/>
              <p:nvPr/>
            </p:nvSpPr>
            <p:spPr>
              <a:xfrm>
                <a:off x="3397707" y="1756296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D2D7F36-0645-7777-9570-17DF09351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707" y="1756296"/>
                <a:ext cx="656402" cy="461665"/>
              </a:xfrm>
              <a:prstGeom prst="rect">
                <a:avLst/>
              </a:prstGeom>
              <a:blipFill>
                <a:blip r:embed="rId1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670AE6-2903-A23B-07D6-1F5743CA5765}"/>
                  </a:ext>
                </a:extLst>
              </p:cNvPr>
              <p:cNvSpPr txBox="1"/>
              <p:nvPr/>
            </p:nvSpPr>
            <p:spPr>
              <a:xfrm>
                <a:off x="6096000" y="861364"/>
                <a:ext cx="4941417" cy="1830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𝑚</m:t>
                                                </m:r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670AE6-2903-A23B-07D6-1F5743CA5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61364"/>
                <a:ext cx="4941417" cy="183024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E16C3D-DDFB-1387-6312-54C9AF305BE5}"/>
                  </a:ext>
                </a:extLst>
              </p:cNvPr>
              <p:cNvSpPr txBox="1"/>
              <p:nvPr/>
            </p:nvSpPr>
            <p:spPr>
              <a:xfrm>
                <a:off x="5667277" y="3730592"/>
                <a:ext cx="6271260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E16C3D-DDFB-1387-6312-54C9AF30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7277" y="3730592"/>
                <a:ext cx="6271260" cy="491417"/>
              </a:xfrm>
              <a:prstGeom prst="rect">
                <a:avLst/>
              </a:prstGeom>
              <a:blipFill>
                <a:blip r:embed="rId16"/>
                <a:stretch>
                  <a:fillRect l="-875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63E41BB-FFFA-D2B7-1C24-51DA60B7D36B}"/>
              </a:ext>
            </a:extLst>
          </p:cNvPr>
          <p:cNvSpPr/>
          <p:nvPr/>
        </p:nvSpPr>
        <p:spPr>
          <a:xfrm>
            <a:off x="7916096" y="1520650"/>
            <a:ext cx="3209103" cy="60020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C6A409-1F49-1F07-41F4-5BBEC56BC653}"/>
              </a:ext>
            </a:extLst>
          </p:cNvPr>
          <p:cNvCxnSpPr/>
          <p:nvPr/>
        </p:nvCxnSpPr>
        <p:spPr>
          <a:xfrm>
            <a:off x="9065371" y="2131800"/>
            <a:ext cx="0" cy="1219314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12A852-F17E-C34E-B93D-40884E3B7546}"/>
                  </a:ext>
                </a:extLst>
              </p:cNvPr>
              <p:cNvSpPr txBox="1"/>
              <p:nvPr/>
            </p:nvSpPr>
            <p:spPr>
              <a:xfrm>
                <a:off x="2166934" y="150298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12A852-F17E-C34E-B93D-40884E3B7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934" y="1502987"/>
                <a:ext cx="656402" cy="461665"/>
              </a:xfrm>
              <a:prstGeom prst="rect">
                <a:avLst/>
              </a:prstGeom>
              <a:blipFill>
                <a:blip r:embed="rId18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D02457-C80D-97B7-1666-D5EDFCCD477A}"/>
                  </a:ext>
                </a:extLst>
              </p:cNvPr>
              <p:cNvSpPr txBox="1"/>
              <p:nvPr/>
            </p:nvSpPr>
            <p:spPr>
              <a:xfrm>
                <a:off x="2249689" y="3554733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D02457-C80D-97B7-1666-D5EDFCCD4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689" y="3554733"/>
                <a:ext cx="656402" cy="495905"/>
              </a:xfrm>
              <a:prstGeom prst="rect">
                <a:avLst/>
              </a:prstGeom>
              <a:blipFill>
                <a:blip r:embed="rId19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BBE5F9-EC8F-3B74-59D1-26672A338C1E}"/>
                  </a:ext>
                </a:extLst>
              </p:cNvPr>
              <p:cNvSpPr txBox="1"/>
              <p:nvPr/>
            </p:nvSpPr>
            <p:spPr>
              <a:xfrm>
                <a:off x="6680287" y="325763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BBE5F9-EC8F-3B74-59D1-26672A338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287" y="3257637"/>
                <a:ext cx="656402" cy="461665"/>
              </a:xfrm>
              <a:prstGeom prst="rect">
                <a:avLst/>
              </a:prstGeom>
              <a:blipFill>
                <a:blip r:embed="rId2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AABB4B-5503-F17E-B088-A4B9DACFFFB1}"/>
                  </a:ext>
                </a:extLst>
              </p:cNvPr>
              <p:cNvSpPr txBox="1"/>
              <p:nvPr/>
            </p:nvSpPr>
            <p:spPr>
              <a:xfrm>
                <a:off x="8113743" y="3239131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AABB4B-5503-F17E-B088-A4B9DACFFF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3743" y="3239131"/>
                <a:ext cx="656402" cy="495905"/>
              </a:xfrm>
              <a:prstGeom prst="rect">
                <a:avLst/>
              </a:prstGeom>
              <a:blipFill>
                <a:blip r:embed="rId21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401C1D-C3A0-4D2C-CD5E-9208E7471FD3}"/>
                  </a:ext>
                </a:extLst>
              </p:cNvPr>
              <p:cNvSpPr txBox="1"/>
              <p:nvPr/>
            </p:nvSpPr>
            <p:spPr>
              <a:xfrm>
                <a:off x="9565454" y="3239130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401C1D-C3A0-4D2C-CD5E-9208E7471F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5454" y="3239130"/>
                <a:ext cx="656402" cy="461665"/>
              </a:xfrm>
              <a:prstGeom prst="rect">
                <a:avLst/>
              </a:prstGeom>
              <a:blipFill>
                <a:blip r:embed="rId22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8E7D0598-CDF0-C7B5-76FF-7D271D42166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29539" y="4301350"/>
            <a:ext cx="7881829" cy="238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074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E95AE-3EDE-5F9A-B249-9D9B3E619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DEA7BE3-3C70-8493-F32C-065982748F61}"/>
              </a:ext>
            </a:extLst>
          </p:cNvPr>
          <p:cNvSpPr/>
          <p:nvPr/>
        </p:nvSpPr>
        <p:spPr>
          <a:xfrm>
            <a:off x="0" y="4755791"/>
            <a:ext cx="4378223" cy="2102209"/>
          </a:xfrm>
          <a:prstGeom prst="rect">
            <a:avLst/>
          </a:prstGeom>
          <a:solidFill>
            <a:srgbClr val="12121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E5A9E57-ED5D-6F58-A53C-99AC67D97065}"/>
              </a:ext>
            </a:extLst>
          </p:cNvPr>
          <p:cNvSpPr/>
          <p:nvPr/>
        </p:nvSpPr>
        <p:spPr>
          <a:xfrm>
            <a:off x="4318937" y="0"/>
            <a:ext cx="7873063" cy="6858000"/>
          </a:xfrm>
          <a:prstGeom prst="rect">
            <a:avLst/>
          </a:prstGeom>
          <a:solidFill>
            <a:srgbClr val="12121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992105A-8651-6F18-1366-572E17648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937" y="40061"/>
            <a:ext cx="6968602" cy="64869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750A5D-3740-F1EE-C4FB-88B46C41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44" y="40061"/>
            <a:ext cx="4531670" cy="720725"/>
          </a:xfrm>
        </p:spPr>
        <p:txBody>
          <a:bodyPr>
            <a:normAutofit/>
          </a:bodyPr>
          <a:lstStyle/>
          <a:p>
            <a:r>
              <a:rPr lang="de-DE" sz="2400" dirty="0"/>
              <a:t>Looking </a:t>
            </a:r>
            <a:r>
              <a:rPr lang="de-DE" sz="2400" dirty="0" err="1"/>
              <a:t>for</a:t>
            </a:r>
            <a:r>
              <a:rPr lang="de-DE" sz="2400" dirty="0"/>
              <a:t> 2-neuron NNs</a:t>
            </a:r>
            <a:endParaRPr lang="en-US" sz="2400" dirty="0"/>
          </a:p>
        </p:txBody>
      </p:sp>
      <p:pic>
        <p:nvPicPr>
          <p:cNvPr id="4" name="Picture 3" descr="A diagram of dna sequence&#10;&#10;AI-generated content may be incorrect.">
            <a:extLst>
              <a:ext uri="{FF2B5EF4-FFF2-40B4-BE49-F238E27FC236}">
                <a16:creationId xmlns:a16="http://schemas.microsoft.com/office/drawing/2014/main" id="{DF34A1A1-6B97-F25B-5A1B-335550813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70" y="694476"/>
            <a:ext cx="2916786" cy="309147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A9F3F39-6CA6-3182-0B58-4E9D877F5A99}"/>
              </a:ext>
            </a:extLst>
          </p:cNvPr>
          <p:cNvGrpSpPr/>
          <p:nvPr/>
        </p:nvGrpSpPr>
        <p:grpSpPr>
          <a:xfrm>
            <a:off x="317155" y="4819526"/>
            <a:ext cx="3616284" cy="1973197"/>
            <a:chOff x="431855" y="1391826"/>
            <a:chExt cx="3616284" cy="19731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/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0555464-F16C-EB99-75FE-9D375CDAA1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15417" y="1484012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DACA316-230D-D8CD-EF68-29B01C3EA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26847" y="295131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15BBFC4-0F99-2CC9-D561-7F255E117A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58467" y="225789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82803E-B556-906C-0FD9-FCE6FB1F606B}"/>
                </a:ext>
              </a:extLst>
            </p:cNvPr>
            <p:cNvCxnSpPr>
              <a:cxnSpLocks/>
              <a:stCxn id="18" idx="6"/>
              <a:endCxn id="19" idx="3"/>
            </p:cNvCxnSpPr>
            <p:nvPr/>
          </p:nvCxnSpPr>
          <p:spPr>
            <a:xfrm flipV="1">
              <a:off x="1692607" y="2570087"/>
              <a:ext cx="1219424" cy="564104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4BED61-5805-76F0-4414-6C51BCF23D50}"/>
                </a:ext>
              </a:extLst>
            </p:cNvPr>
            <p:cNvCxnSpPr>
              <a:stCxn id="17" idx="6"/>
              <a:endCxn id="19" idx="1"/>
            </p:cNvCxnSpPr>
            <p:nvPr/>
          </p:nvCxnSpPr>
          <p:spPr>
            <a:xfrm>
              <a:off x="1681177" y="1666892"/>
              <a:ext cx="1230854" cy="644563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CA272A9-A1B9-1E11-A374-2E2BA93B23DE}"/>
                </a:ext>
              </a:extLst>
            </p:cNvPr>
            <p:cNvCxnSpPr>
              <a:cxnSpLocks/>
            </p:cNvCxnSpPr>
            <p:nvPr/>
          </p:nvCxnSpPr>
          <p:spPr>
            <a:xfrm>
              <a:off x="515317" y="166689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E69A336-30C0-D5CD-CA64-C0BCFB5DE8D0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515317" y="3134191"/>
              <a:ext cx="81153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37C9D3C-7810-04DD-E4D9-BC6359EADF7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227" y="242508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/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/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𝐳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/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/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/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/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/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DD754F22-71D8-D172-4D3F-6B805B9827AD}"/>
              </a:ext>
            </a:extLst>
          </p:cNvPr>
          <p:cNvSpPr/>
          <p:nvPr/>
        </p:nvSpPr>
        <p:spPr>
          <a:xfrm>
            <a:off x="6271094" y="146148"/>
            <a:ext cx="834390" cy="4800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712611-33ED-ED51-7A02-90CB92F657A3}"/>
              </a:ext>
            </a:extLst>
          </p:cNvPr>
          <p:cNvSpPr/>
          <p:nvPr/>
        </p:nvSpPr>
        <p:spPr>
          <a:xfrm>
            <a:off x="7572233" y="1187122"/>
            <a:ext cx="1038374" cy="27715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786605-5CD3-7047-B93C-CC82CD3CB78A}"/>
              </a:ext>
            </a:extLst>
          </p:cNvPr>
          <p:cNvSpPr/>
          <p:nvPr/>
        </p:nvSpPr>
        <p:spPr>
          <a:xfrm>
            <a:off x="4378223" y="1459066"/>
            <a:ext cx="1608876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3F352-DC28-BBE8-BFFF-5717980948B8}"/>
              </a:ext>
            </a:extLst>
          </p:cNvPr>
          <p:cNvSpPr txBox="1"/>
          <p:nvPr/>
        </p:nvSpPr>
        <p:spPr>
          <a:xfrm>
            <a:off x="317155" y="3767558"/>
            <a:ext cx="369703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[1] B. Alberts, D. Bray, and K. Hopkin, Essential Cell Biology, 4th rev ed. edition. New York, NY: Norton &amp; Company, 2014.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D9D7A6-B451-8FB9-6D5C-3C8FA58C2C14}"/>
              </a:ext>
            </a:extLst>
          </p:cNvPr>
          <p:cNvSpPr/>
          <p:nvPr/>
        </p:nvSpPr>
        <p:spPr>
          <a:xfrm>
            <a:off x="4378223" y="3428493"/>
            <a:ext cx="1608876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C5CB2C-233B-907B-CC6E-94C22506141F}"/>
              </a:ext>
            </a:extLst>
          </p:cNvPr>
          <p:cNvSpPr/>
          <p:nvPr/>
        </p:nvSpPr>
        <p:spPr>
          <a:xfrm>
            <a:off x="5804452" y="5124657"/>
            <a:ext cx="1063073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CB3910-E14C-4E06-70EC-351B156D0C0F}"/>
              </a:ext>
            </a:extLst>
          </p:cNvPr>
          <p:cNvSpPr/>
          <p:nvPr/>
        </p:nvSpPr>
        <p:spPr>
          <a:xfrm>
            <a:off x="7217094" y="3144968"/>
            <a:ext cx="1038374" cy="27715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7F383E-3816-CD72-83A5-86862D555B1A}"/>
              </a:ext>
            </a:extLst>
          </p:cNvPr>
          <p:cNvSpPr/>
          <p:nvPr/>
        </p:nvSpPr>
        <p:spPr>
          <a:xfrm>
            <a:off x="4355895" y="5409802"/>
            <a:ext cx="1521029" cy="22175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62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C4E27-BC73-7E99-527A-F1C0E0D41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>
            <a:extLst>
              <a:ext uri="{FF2B5EF4-FFF2-40B4-BE49-F238E27FC236}">
                <a16:creationId xmlns:a16="http://schemas.microsoft.com/office/drawing/2014/main" id="{CB495D52-D6F2-CF72-AE1B-9A0B77268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302" y="3474994"/>
            <a:ext cx="3495675" cy="217099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687D1C9-6731-8560-7CA1-1BDA04793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282" y="1150165"/>
            <a:ext cx="3495675" cy="220027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4BDF12EA-5A4A-4549-412E-1A122F171A3F}"/>
              </a:ext>
            </a:extLst>
          </p:cNvPr>
          <p:cNvGrpSpPr>
            <a:grpSpLocks noChangeAspect="1"/>
          </p:cNvGrpSpPr>
          <p:nvPr/>
        </p:nvGrpSpPr>
        <p:grpSpPr>
          <a:xfrm>
            <a:off x="75552" y="5122759"/>
            <a:ext cx="3073558" cy="1475770"/>
            <a:chOff x="7813777" y="-1763"/>
            <a:chExt cx="4378223" cy="210220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387F881-0772-3C46-6A1C-9737522A2F2C}"/>
                </a:ext>
              </a:extLst>
            </p:cNvPr>
            <p:cNvSpPr/>
            <p:nvPr/>
          </p:nvSpPr>
          <p:spPr>
            <a:xfrm>
              <a:off x="7813777" y="-1763"/>
              <a:ext cx="4378223" cy="2102209"/>
            </a:xfrm>
            <a:prstGeom prst="rect">
              <a:avLst/>
            </a:prstGeom>
            <a:solidFill>
              <a:srgbClr val="1212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1B4E578-70C8-A34F-77FA-85DBC4E773C1}"/>
                </a:ext>
              </a:extLst>
            </p:cNvPr>
            <p:cNvGrpSpPr/>
            <p:nvPr/>
          </p:nvGrpSpPr>
          <p:grpSpPr>
            <a:xfrm>
              <a:off x="8130932" y="61972"/>
              <a:ext cx="3616284" cy="1993796"/>
              <a:chOff x="431855" y="1391826"/>
              <a:chExt cx="3616284" cy="19937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8640B44-C564-4296-217C-0B091D498A50}"/>
                      </a:ext>
                    </a:extLst>
                  </p:cNvPr>
                  <p:cNvSpPr txBox="1"/>
                  <p:nvPr/>
                </p:nvSpPr>
                <p:spPr>
                  <a:xfrm>
                    <a:off x="3419061" y="1887881"/>
                    <a:ext cx="629078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8640B44-C564-4296-217C-0B091D498A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9061" y="1887881"/>
                    <a:ext cx="629078" cy="48226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CD395584-8D71-2EC6-044A-F1B4499B284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15417" y="1484012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9A541A6-A6CD-3E3C-C67D-D6F1871FDB6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26847" y="2951311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F1B90FF-2921-5471-0009-227385AC9A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58467" y="2257891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C2DF129-8EC0-DE93-AB30-3E4B9F5853A2}"/>
                  </a:ext>
                </a:extLst>
              </p:cNvPr>
              <p:cNvCxnSpPr>
                <a:cxnSpLocks/>
                <a:stCxn id="36" idx="6"/>
                <a:endCxn id="37" idx="3"/>
              </p:cNvCxnSpPr>
              <p:nvPr/>
            </p:nvCxnSpPr>
            <p:spPr>
              <a:xfrm flipV="1">
                <a:off x="1692607" y="2570087"/>
                <a:ext cx="1219424" cy="564104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DF70F31-30D1-659C-51F1-B7327518926E}"/>
                  </a:ext>
                </a:extLst>
              </p:cNvPr>
              <p:cNvCxnSpPr>
                <a:stCxn id="35" idx="6"/>
                <a:endCxn id="37" idx="1"/>
              </p:cNvCxnSpPr>
              <p:nvPr/>
            </p:nvCxnSpPr>
            <p:spPr>
              <a:xfrm>
                <a:off x="1681177" y="1666892"/>
                <a:ext cx="1230854" cy="644563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D4D8E2A3-AA5D-B11F-63FC-A31FA2573E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5317" y="1666892"/>
                <a:ext cx="80010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EE58497-0AC3-4C85-8E3F-3C944C97BD7D}"/>
                  </a:ext>
                </a:extLst>
              </p:cNvPr>
              <p:cNvCxnSpPr>
                <a:cxnSpLocks/>
                <a:endCxn id="36" idx="2"/>
              </p:cNvCxnSpPr>
              <p:nvPr/>
            </p:nvCxnSpPr>
            <p:spPr>
              <a:xfrm>
                <a:off x="515317" y="3134191"/>
                <a:ext cx="81153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453D914B-EBC9-4DCA-C4C4-472F11BD86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4227" y="2425082"/>
                <a:ext cx="80010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F27555F-AD6B-8DAF-29DD-E1DEB25241FD}"/>
                      </a:ext>
                    </a:extLst>
                  </p:cNvPr>
                  <p:cNvSpPr txBox="1"/>
                  <p:nvPr/>
                </p:nvSpPr>
                <p:spPr>
                  <a:xfrm>
                    <a:off x="431855" y="1666892"/>
                    <a:ext cx="675668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F27555F-AD6B-8DAF-29DD-E1DEB25241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855" y="1666892"/>
                    <a:ext cx="675668" cy="48226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C803C8B0-945C-68BD-EF65-1DC539AA81F4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433" y="2903358"/>
                    <a:ext cx="641032" cy="482264"/>
                  </a:xfrm>
                  <a:prstGeom prst="rect">
                    <a:avLst/>
                  </a:prstGeom>
                  <a:noFill/>
                  <a:ln w="19050">
                    <a:solidFill>
                      <a:srgbClr val="C00000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de-DE" sz="1600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𝐳</m:t>
                              </m:r>
                            </m:sub>
                          </m:sSub>
                        </m:oMath>
                      </m:oMathPara>
                    </a14:m>
                    <a:endParaRPr lang="en-US" sz="1600" b="1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C803C8B0-945C-68BD-EF65-1DC539AA81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433" y="2903358"/>
                    <a:ext cx="641032" cy="48226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rgbClr val="C00000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D6EFC8C-9700-D71B-F9FB-6B17274F59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5983" y="2632489"/>
                    <a:ext cx="740342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D6EFC8C-9700-D71B-F9FB-6B17274F59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983" y="2632489"/>
                    <a:ext cx="740342" cy="48226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8258DD7-F843-00AC-1646-EBEC2EACBD9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1068" y="1391826"/>
                    <a:ext cx="651146" cy="482264"/>
                  </a:xfrm>
                  <a:prstGeom prst="rect">
                    <a:avLst/>
                  </a:prstGeom>
                  <a:noFill/>
                  <a:ln w="19050">
                    <a:solidFill>
                      <a:srgbClr val="C00000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sub>
                          </m:sSub>
                        </m:oMath>
                      </m:oMathPara>
                    </a14:m>
                    <a:endParaRPr lang="en-US" sz="1600" b="1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8258DD7-F843-00AC-1646-EBEC2EACBD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1068" y="1391826"/>
                    <a:ext cx="651146" cy="48226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19050">
                    <a:solidFill>
                      <a:srgbClr val="C00000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FCAD0005-D28A-F12E-F7F7-AA531253C494}"/>
                      </a:ext>
                    </a:extLst>
                  </p:cNvPr>
                  <p:cNvSpPr txBox="1"/>
                  <p:nvPr/>
                </p:nvSpPr>
                <p:spPr>
                  <a:xfrm>
                    <a:off x="1057861" y="1831144"/>
                    <a:ext cx="970607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FCAD0005-D28A-F12E-F7F7-AA531253C4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7861" y="1831144"/>
                    <a:ext cx="970607" cy="48226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4021F2A5-6F44-C8F8-B892-FC8816B90930}"/>
                      </a:ext>
                    </a:extLst>
                  </p:cNvPr>
                  <p:cNvSpPr txBox="1"/>
                  <p:nvPr/>
                </p:nvSpPr>
                <p:spPr>
                  <a:xfrm>
                    <a:off x="1086781" y="2439570"/>
                    <a:ext cx="970607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4021F2A5-6F44-C8F8-B892-FC8816B909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6781" y="2439570"/>
                    <a:ext cx="970607" cy="48226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0620BAE1-1E9B-43EA-64AA-747A6FA0716F}"/>
                      </a:ext>
                    </a:extLst>
                  </p:cNvPr>
                  <p:cNvSpPr txBox="1"/>
                  <p:nvPr/>
                </p:nvSpPr>
                <p:spPr>
                  <a:xfrm>
                    <a:off x="2871649" y="1730967"/>
                    <a:ext cx="480274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0620BAE1-1E9B-43EA-64AA-747A6FA071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71649" y="1730967"/>
                    <a:ext cx="480274" cy="48226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7BA293E9-9185-6E4F-E81E-B1966326174C}"/>
              </a:ext>
            </a:extLst>
          </p:cNvPr>
          <p:cNvSpPr txBox="1"/>
          <p:nvPr/>
        </p:nvSpPr>
        <p:spPr>
          <a:xfrm>
            <a:off x="2880475" y="53233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Reaction 1 </a:t>
            </a:r>
          </a:p>
        </p:txBody>
      </p:sp>
      <p:pic>
        <p:nvPicPr>
          <p:cNvPr id="51" name="Picture 50" descr="A diagram of dna sequence&#10;&#10;AI-generated content may be incorrect.">
            <a:extLst>
              <a:ext uri="{FF2B5EF4-FFF2-40B4-BE49-F238E27FC236}">
                <a16:creationId xmlns:a16="http://schemas.microsoft.com/office/drawing/2014/main" id="{A0ED6B0A-41D7-23DF-FB14-C4465E4E596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0761" y="1606269"/>
            <a:ext cx="2916786" cy="3091475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50EB439C-EAB6-7789-92FC-64AE859620AC}"/>
              </a:ext>
            </a:extLst>
          </p:cNvPr>
          <p:cNvSpPr txBox="1"/>
          <p:nvPr/>
        </p:nvSpPr>
        <p:spPr>
          <a:xfrm>
            <a:off x="6969059" y="0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Reaction 2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9A963E-FFCD-5C8D-6835-0AB284DDCE29}"/>
              </a:ext>
            </a:extLst>
          </p:cNvPr>
          <p:cNvSpPr txBox="1"/>
          <p:nvPr/>
        </p:nvSpPr>
        <p:spPr>
          <a:xfrm>
            <a:off x="4280350" y="635072"/>
            <a:ext cx="1694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effectLst/>
                <a:latin typeface="Menlo"/>
                <a:hlinkClick r:id="rId13"/>
              </a:rPr>
              <a:t>YPL214C (THI6)</a:t>
            </a:r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02CB41-0232-245B-CA26-2987E2366761}"/>
              </a:ext>
            </a:extLst>
          </p:cNvPr>
          <p:cNvSpPr txBox="1"/>
          <p:nvPr/>
        </p:nvSpPr>
        <p:spPr>
          <a:xfrm>
            <a:off x="8204752" y="573356"/>
            <a:ext cx="1825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effectLst/>
                <a:latin typeface="Menlo"/>
                <a:hlinkClick r:id="rId14"/>
              </a:rPr>
              <a:t>YGR144W (THI4)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23123-73EA-33DB-90F1-8CBA4153D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9" y="59081"/>
            <a:ext cx="3139911" cy="755065"/>
          </a:xfrm>
        </p:spPr>
        <p:txBody>
          <a:bodyPr>
            <a:normAutofit/>
          </a:bodyPr>
          <a:lstStyle/>
          <a:p>
            <a:r>
              <a:rPr lang="en-US" sz="3600" dirty="0"/>
              <a:t>Enzymes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B3561-0988-0221-FEAD-D3304EC6023B}"/>
              </a:ext>
            </a:extLst>
          </p:cNvPr>
          <p:cNvSpPr txBox="1"/>
          <p:nvPr/>
        </p:nvSpPr>
        <p:spPr>
          <a:xfrm>
            <a:off x="3373028" y="635072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D5721-8CD6-9079-9756-C0FD953E1571}"/>
              </a:ext>
            </a:extLst>
          </p:cNvPr>
          <p:cNvSpPr txBox="1"/>
          <p:nvPr/>
        </p:nvSpPr>
        <p:spPr>
          <a:xfrm>
            <a:off x="2951834" y="1121859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Enzymes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0021DB-4F7E-7960-BE12-FEBF74107A8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53594" y="1113849"/>
            <a:ext cx="2990850" cy="153352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F1AEDEE-7DEE-F0D7-D9E5-2A9702B06649}"/>
              </a:ext>
            </a:extLst>
          </p:cNvPr>
          <p:cNvSpPr txBox="1"/>
          <p:nvPr/>
        </p:nvSpPr>
        <p:spPr>
          <a:xfrm>
            <a:off x="4617561" y="1119436"/>
            <a:ext cx="848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16"/>
              </a:rPr>
              <a:t>THI2</a:t>
            </a:r>
            <a:endParaRPr lang="en-US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AE9DED2-07A1-4109-EB50-A406630B479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3594" y="2688742"/>
            <a:ext cx="1408718" cy="213508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9F65830-6D78-7426-A2BF-EA7DBD05EB6A}"/>
              </a:ext>
            </a:extLst>
          </p:cNvPr>
          <p:cNvSpPr txBox="1"/>
          <p:nvPr/>
        </p:nvSpPr>
        <p:spPr>
          <a:xfrm>
            <a:off x="3968501" y="2692151"/>
            <a:ext cx="689065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dirty="0">
                <a:hlinkClick r:id="rId18"/>
              </a:rPr>
              <a:t>THI3</a:t>
            </a:r>
            <a:endParaRPr lang="en-US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BD8FE98-34DC-08E1-D0A4-64A89B2F238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34108" y="2699143"/>
            <a:ext cx="2460017" cy="211428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3742EBDA-B6E1-320F-978E-447F499FC2D1}"/>
              </a:ext>
            </a:extLst>
          </p:cNvPr>
          <p:cNvSpPr txBox="1"/>
          <p:nvPr/>
        </p:nvSpPr>
        <p:spPr>
          <a:xfrm>
            <a:off x="5527373" y="2709545"/>
            <a:ext cx="894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0"/>
              </a:rPr>
              <a:t>PDC2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60448E-52D5-72D1-8F24-C803CA718873}"/>
              </a:ext>
            </a:extLst>
          </p:cNvPr>
          <p:cNvSpPr txBox="1"/>
          <p:nvPr/>
        </p:nvSpPr>
        <p:spPr>
          <a:xfrm>
            <a:off x="7412661" y="573356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4DE34FA-2FC0-6731-1D69-9E01AC817A94}"/>
              </a:ext>
            </a:extLst>
          </p:cNvPr>
          <p:cNvSpPr txBox="1"/>
          <p:nvPr/>
        </p:nvSpPr>
        <p:spPr>
          <a:xfrm>
            <a:off x="7146384" y="1126228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Enzymes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C11B94-76A0-6DEB-0C81-453A9B5641E0}"/>
              </a:ext>
            </a:extLst>
          </p:cNvPr>
          <p:cNvSpPr txBox="1"/>
          <p:nvPr/>
        </p:nvSpPr>
        <p:spPr>
          <a:xfrm>
            <a:off x="8220974" y="1113849"/>
            <a:ext cx="707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1"/>
              </a:rPr>
              <a:t>HST1</a:t>
            </a:r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BB22A07-1EF7-796C-1976-EC7E63331085}"/>
              </a:ext>
            </a:extLst>
          </p:cNvPr>
          <p:cNvSpPr txBox="1"/>
          <p:nvPr/>
        </p:nvSpPr>
        <p:spPr>
          <a:xfrm>
            <a:off x="8340747" y="3558233"/>
            <a:ext cx="96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2"/>
              </a:rPr>
              <a:t>Sir2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1053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6ED07-B438-DA2A-9475-7CD2E7604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98" y="149682"/>
            <a:ext cx="4124417" cy="602541"/>
          </a:xfrm>
        </p:spPr>
        <p:txBody>
          <a:bodyPr>
            <a:normAutofit/>
          </a:bodyPr>
          <a:lstStyle/>
          <a:p>
            <a:r>
              <a:rPr lang="es-ES" sz="2000" dirty="0"/>
              <a:t>THz-</a:t>
            </a:r>
            <a:r>
              <a:rPr lang="es-ES" sz="2000" dirty="0" err="1"/>
              <a:t>Induced</a:t>
            </a:r>
            <a:r>
              <a:rPr lang="es-ES" sz="2000" dirty="0"/>
              <a:t> </a:t>
            </a:r>
            <a:r>
              <a:rPr lang="es-ES" sz="2000" dirty="0" err="1"/>
              <a:t>Enzyme</a:t>
            </a:r>
            <a:r>
              <a:rPr lang="es-ES" sz="2000" dirty="0"/>
              <a:t> </a:t>
            </a:r>
            <a:r>
              <a:rPr lang="es-ES" sz="2000" dirty="0" err="1"/>
              <a:t>Unfolding</a:t>
            </a:r>
            <a:r>
              <a:rPr lang="es-ES" sz="2000" dirty="0"/>
              <a:t> </a:t>
            </a:r>
            <a:r>
              <a:rPr lang="es-ES" sz="2000" dirty="0" err="1"/>
              <a:t>Model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9D6A3-59F7-3469-F596-F9D7D21583FA}"/>
              </a:ext>
            </a:extLst>
          </p:cNvPr>
          <p:cNvSpPr txBox="1"/>
          <p:nvPr/>
        </p:nvSpPr>
        <p:spPr>
          <a:xfrm>
            <a:off x="111483" y="6376036"/>
            <a:ext cx="1174351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[1] Hadeel Elayan, Andrew W. Eckford, and Raviraj S. Adve. 2023. Terahertz Induced Protein Interactions in a Random Medium. IEEE Transactions on Molecular, Biological and Multi-Scale Communications 9, 4 (Dec. 2023), 435–446. https: //doi.org/10.1109/tmbmc.2023.3327302</a:t>
            </a:r>
          </a:p>
          <a:p>
            <a:endParaRPr lang="en-US" sz="9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A5A38E-152E-2D88-FF83-2BD41CDDC078}"/>
                  </a:ext>
                </a:extLst>
              </p:cNvPr>
              <p:cNvSpPr txBox="1"/>
              <p:nvPr/>
            </p:nvSpPr>
            <p:spPr>
              <a:xfrm>
                <a:off x="366192" y="734535"/>
                <a:ext cx="2716567" cy="8068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i="0" dirty="0" smtClean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⟨"/>
                                              <m:endChr m:val="⟩"/>
                                              <m:ctrlPr>
                                                <a:rPr lang="en-US" i="1" dirty="0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𝐸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𝑡𝑜𝑡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𝑠𝑠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sub>
                                      </m:s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A5A38E-152E-2D88-FF83-2BD41CDDC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92" y="734535"/>
                <a:ext cx="2716567" cy="8068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8FCC9F-6F72-EA63-42AE-107091808056}"/>
                  </a:ext>
                </a:extLst>
              </p:cNvPr>
              <p:cNvSpPr txBox="1"/>
              <p:nvPr/>
            </p:nvSpPr>
            <p:spPr>
              <a:xfrm>
                <a:off x="518522" y="1751460"/>
                <a:ext cx="3264763" cy="391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de-DE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: free energy</a:t>
                </a:r>
                <a:r>
                  <a:rPr lang="en-US" i="1" dirty="0"/>
                  <a:t> 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8FCC9F-6F72-EA63-42AE-107091808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522" y="1751460"/>
                <a:ext cx="3264763" cy="391582"/>
              </a:xfrm>
              <a:prstGeom prst="rect">
                <a:avLst/>
              </a:prstGeom>
              <a:blipFill>
                <a:blip r:embed="rId3"/>
                <a:stretch>
                  <a:fillRect t="-4615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CF8BB0-8B3B-ACD6-63F4-2F98484E9D53}"/>
                  </a:ext>
                </a:extLst>
              </p:cNvPr>
              <p:cNvSpPr txBox="1"/>
              <p:nvPr/>
            </p:nvSpPr>
            <p:spPr>
              <a:xfrm>
                <a:off x="83598" y="2330532"/>
                <a:ext cx="5552161" cy="5311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𝑚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i="1" dirty="0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  <m:sup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  <m:sup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 dirty="0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CF8BB0-8B3B-ACD6-63F4-2F98484E9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8" y="2330532"/>
                <a:ext cx="5552161" cy="531107"/>
              </a:xfrm>
              <a:prstGeom prst="rect">
                <a:avLst/>
              </a:prstGeom>
              <a:blipFill>
                <a:blip r:embed="rId4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50A18F-AA7B-CC05-AC43-0821909B161A}"/>
                  </a:ext>
                </a:extLst>
              </p:cNvPr>
              <p:cNvSpPr txBox="1"/>
              <p:nvPr/>
            </p:nvSpPr>
            <p:spPr>
              <a:xfrm>
                <a:off x="454159" y="3172361"/>
                <a:ext cx="5098383" cy="491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i="1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is the natural frequency of the protein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50A18F-AA7B-CC05-AC43-0821909B1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159" y="3172361"/>
                <a:ext cx="5098383" cy="491288"/>
              </a:xfrm>
              <a:prstGeom prst="rect">
                <a:avLst/>
              </a:prstGeom>
              <a:blipFill>
                <a:blip r:embed="rId5"/>
                <a:stretch>
                  <a:fillRect r="-239" b="-86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8140D9-A5BB-2CDD-16C8-EE8CE49E9893}"/>
                  </a:ext>
                </a:extLst>
              </p:cNvPr>
              <p:cNvSpPr txBox="1"/>
              <p:nvPr/>
            </p:nvSpPr>
            <p:spPr>
              <a:xfrm>
                <a:off x="454159" y="3673423"/>
                <a:ext cx="1112258" cy="6815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acc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̈"/>
                              <m:ctrlPr>
                                <a:rPr lang="de-DE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num>
                        <m:den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8140D9-A5BB-2CDD-16C8-EE8CE49E9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159" y="3673423"/>
                <a:ext cx="1112258" cy="6815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87FEDF-92AA-8B90-0A98-D4BECAEB1333}"/>
                  </a:ext>
                </a:extLst>
              </p:cNvPr>
              <p:cNvSpPr txBox="1"/>
              <p:nvPr/>
            </p:nvSpPr>
            <p:spPr>
              <a:xfrm>
                <a:off x="560370" y="4397154"/>
                <a:ext cx="3870985" cy="385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n-US" dirty="0"/>
                  <a:t>: Damping coefficient of the protein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87FEDF-92AA-8B90-0A98-D4BECAEB1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370" y="4397154"/>
                <a:ext cx="3870985" cy="385427"/>
              </a:xfrm>
              <a:prstGeom prst="rect">
                <a:avLst/>
              </a:prstGeom>
              <a:blipFill>
                <a:blip r:embed="rId7"/>
                <a:stretch>
                  <a:fillRect l="-472" t="-15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4F89C1-9FCA-84B5-953A-9404443B3B8F}"/>
                  </a:ext>
                </a:extLst>
              </p:cNvPr>
              <p:cNvSpPr txBox="1"/>
              <p:nvPr/>
            </p:nvSpPr>
            <p:spPr>
              <a:xfrm>
                <a:off x="558472" y="4947309"/>
                <a:ext cx="26473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: </a:t>
                </a:r>
                <a:r>
                  <a:rPr lang="en-US" dirty="0"/>
                  <a:t>Protein mass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4F89C1-9FCA-84B5-953A-9404443B3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72" y="4947309"/>
                <a:ext cx="2647384" cy="369332"/>
              </a:xfrm>
              <a:prstGeom prst="rect">
                <a:avLst/>
              </a:prstGeom>
              <a:blipFill>
                <a:blip r:embed="rId8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1E805A-C64D-599C-F4C7-E2F65E153468}"/>
                  </a:ext>
                </a:extLst>
              </p:cNvPr>
              <p:cNvSpPr txBox="1"/>
              <p:nvPr/>
            </p:nvSpPr>
            <p:spPr>
              <a:xfrm>
                <a:off x="567189" y="5442786"/>
                <a:ext cx="32160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:</a:t>
                </a:r>
                <a:r>
                  <a:rPr lang="en-US" dirty="0"/>
                  <a:t> Protein spring constant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1E805A-C64D-599C-F4C7-E2F65E153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9" y="5442786"/>
                <a:ext cx="3216096" cy="369332"/>
              </a:xfrm>
              <a:prstGeom prst="rect">
                <a:avLst/>
              </a:prstGeom>
              <a:blipFill>
                <a:blip r:embed="rId9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514ED2-1CD7-E15E-1BB0-9225DFE8855E}"/>
                  </a:ext>
                </a:extLst>
              </p:cNvPr>
              <p:cNvSpPr txBox="1"/>
              <p:nvPr/>
            </p:nvSpPr>
            <p:spPr>
              <a:xfrm>
                <a:off x="481533" y="5812118"/>
                <a:ext cx="45079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dirty="0"/>
                  <a:t>: Antenna radiation angular frequency 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514ED2-1CD7-E15E-1BB0-9225DFE88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33" y="5812118"/>
                <a:ext cx="4507958" cy="369332"/>
              </a:xfrm>
              <a:prstGeom prst="rect">
                <a:avLst/>
              </a:prstGeom>
              <a:blipFill>
                <a:blip r:embed="rId10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BF064904-313D-4876-FF49-2B7188FBDA4F}"/>
              </a:ext>
            </a:extLst>
          </p:cNvPr>
          <p:cNvSpPr txBox="1"/>
          <p:nvPr/>
        </p:nvSpPr>
        <p:spPr>
          <a:xfrm>
            <a:off x="3065421" y="85033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(1)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76E999-D418-5C4C-0604-7C20145C94A1}"/>
              </a:ext>
            </a:extLst>
          </p:cNvPr>
          <p:cNvSpPr txBox="1"/>
          <p:nvPr/>
        </p:nvSpPr>
        <p:spPr>
          <a:xfrm>
            <a:off x="5775490" y="2442196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(3)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86BB83-1865-C31D-4307-87CA6E106E24}"/>
              </a:ext>
            </a:extLst>
          </p:cNvPr>
          <p:cNvSpPr txBox="1"/>
          <p:nvPr/>
        </p:nvSpPr>
        <p:spPr>
          <a:xfrm>
            <a:off x="5582168" y="322164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(4)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763AD4-BAAE-9453-6AFB-A1A7F9DBD2EA}"/>
              </a:ext>
            </a:extLst>
          </p:cNvPr>
          <p:cNvSpPr txBox="1"/>
          <p:nvPr/>
        </p:nvSpPr>
        <p:spPr>
          <a:xfrm>
            <a:off x="3396641" y="1692652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B4445D-060C-5310-A139-74A343F8E18E}"/>
              </a:ext>
            </a:extLst>
          </p:cNvPr>
          <p:cNvSpPr txBox="1"/>
          <p:nvPr/>
        </p:nvSpPr>
        <p:spPr>
          <a:xfrm>
            <a:off x="1566417" y="3872308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(5)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0A81EA-525C-CDAC-4316-AB6600D4982E}"/>
              </a:ext>
            </a:extLst>
          </p:cNvPr>
          <p:cNvSpPr txBox="1"/>
          <p:nvPr/>
        </p:nvSpPr>
        <p:spPr>
          <a:xfrm>
            <a:off x="2320014" y="4939504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(7)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F51B2F-2D3C-0908-2732-66CC3C47C5CA}"/>
              </a:ext>
            </a:extLst>
          </p:cNvPr>
          <p:cNvSpPr txBox="1"/>
          <p:nvPr/>
        </p:nvSpPr>
        <p:spPr>
          <a:xfrm>
            <a:off x="3273170" y="5442786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(8)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7FA41C-D511-593F-6DFA-391B4101C9E5}"/>
              </a:ext>
            </a:extLst>
          </p:cNvPr>
          <p:cNvSpPr txBox="1"/>
          <p:nvPr/>
        </p:nvSpPr>
        <p:spPr>
          <a:xfrm>
            <a:off x="4431355" y="4420590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(6)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EBE6D2-9003-73BC-31AF-F94FF69D9C7F}"/>
              </a:ext>
            </a:extLst>
          </p:cNvPr>
          <p:cNvSpPr txBox="1"/>
          <p:nvPr/>
        </p:nvSpPr>
        <p:spPr>
          <a:xfrm>
            <a:off x="4659649" y="582750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(9)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77BBBBD-1B7C-A47A-8D34-06B5F6A7A0B7}"/>
              </a:ext>
            </a:extLst>
          </p:cNvPr>
          <p:cNvGrpSpPr>
            <a:grpSpLocks noChangeAspect="1"/>
          </p:cNvGrpSpPr>
          <p:nvPr/>
        </p:nvGrpSpPr>
        <p:grpSpPr>
          <a:xfrm>
            <a:off x="9109243" y="14338"/>
            <a:ext cx="3073558" cy="1475770"/>
            <a:chOff x="7813777" y="-1763"/>
            <a:chExt cx="4378223" cy="210220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B1D3EAA-D070-A64C-DF3E-4BDBBB3DCE6D}"/>
                </a:ext>
              </a:extLst>
            </p:cNvPr>
            <p:cNvSpPr/>
            <p:nvPr/>
          </p:nvSpPr>
          <p:spPr>
            <a:xfrm>
              <a:off x="7813777" y="-1763"/>
              <a:ext cx="4378223" cy="2102209"/>
            </a:xfrm>
            <a:prstGeom prst="rect">
              <a:avLst/>
            </a:prstGeom>
            <a:solidFill>
              <a:srgbClr val="1212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B9E6F3F-2C84-098F-BFB9-27507633C99F}"/>
                </a:ext>
              </a:extLst>
            </p:cNvPr>
            <p:cNvGrpSpPr/>
            <p:nvPr/>
          </p:nvGrpSpPr>
          <p:grpSpPr>
            <a:xfrm>
              <a:off x="8130932" y="61972"/>
              <a:ext cx="3616284" cy="1993796"/>
              <a:chOff x="431855" y="1391826"/>
              <a:chExt cx="3616284" cy="19937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624EB6EA-4B3D-D2D3-20CA-77543FB5FCC6}"/>
                      </a:ext>
                    </a:extLst>
                  </p:cNvPr>
                  <p:cNvSpPr txBox="1"/>
                  <p:nvPr/>
                </p:nvSpPr>
                <p:spPr>
                  <a:xfrm>
                    <a:off x="3419061" y="1887881"/>
                    <a:ext cx="629078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624EB6EA-4B3D-D2D3-20CA-77543FB5FC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9061" y="1887881"/>
                    <a:ext cx="629078" cy="48226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3914E01C-6104-D8E9-C4A5-BC80C9ADB85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15417" y="1484012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A16E04D-3A2C-2BD5-EA08-5D4B34730D9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26847" y="2951311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26C1C76-B230-13AE-3FDA-323059D79A9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58467" y="2257891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ECE2C46-7A43-F992-8135-3A3356A0365D}"/>
                  </a:ext>
                </a:extLst>
              </p:cNvPr>
              <p:cNvCxnSpPr>
                <a:cxnSpLocks/>
                <a:stCxn id="36" idx="6"/>
                <a:endCxn id="37" idx="3"/>
              </p:cNvCxnSpPr>
              <p:nvPr/>
            </p:nvCxnSpPr>
            <p:spPr>
              <a:xfrm flipV="1">
                <a:off x="1692607" y="2570087"/>
                <a:ext cx="1219424" cy="564104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FC822B04-030B-DAA1-C576-E97A31A120C5}"/>
                  </a:ext>
                </a:extLst>
              </p:cNvPr>
              <p:cNvCxnSpPr>
                <a:stCxn id="35" idx="6"/>
                <a:endCxn id="37" idx="1"/>
              </p:cNvCxnSpPr>
              <p:nvPr/>
            </p:nvCxnSpPr>
            <p:spPr>
              <a:xfrm>
                <a:off x="1681177" y="1666892"/>
                <a:ext cx="1230854" cy="644563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551A1C3D-720F-D8F8-BE25-FEEADFE3FF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5317" y="1666892"/>
                <a:ext cx="80010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C81BE78A-5E62-D17E-820D-06E542FF096B}"/>
                  </a:ext>
                </a:extLst>
              </p:cNvPr>
              <p:cNvCxnSpPr>
                <a:cxnSpLocks/>
                <a:endCxn id="36" idx="2"/>
              </p:cNvCxnSpPr>
              <p:nvPr/>
            </p:nvCxnSpPr>
            <p:spPr>
              <a:xfrm>
                <a:off x="515317" y="3134191"/>
                <a:ext cx="81153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7D69B1E-8245-D68D-A611-4956451BF8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4227" y="2425082"/>
                <a:ext cx="80010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7258D15-695B-1B83-793D-1D64480E173A}"/>
                      </a:ext>
                    </a:extLst>
                  </p:cNvPr>
                  <p:cNvSpPr txBox="1"/>
                  <p:nvPr/>
                </p:nvSpPr>
                <p:spPr>
                  <a:xfrm>
                    <a:off x="431855" y="1666892"/>
                    <a:ext cx="675668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7258D15-695B-1B83-793D-1D64480E17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855" y="1666892"/>
                    <a:ext cx="675668" cy="48226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BA6145B7-9CA7-88DF-C697-A6EDC227B8C6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433" y="2903358"/>
                    <a:ext cx="641032" cy="482264"/>
                  </a:xfrm>
                  <a:prstGeom prst="rect">
                    <a:avLst/>
                  </a:prstGeom>
                  <a:noFill/>
                  <a:ln w="19050">
                    <a:solidFill>
                      <a:srgbClr val="C00000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de-DE" sz="1600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𝐳</m:t>
                              </m:r>
                            </m:sub>
                          </m:sSub>
                        </m:oMath>
                      </m:oMathPara>
                    </a14:m>
                    <a:endParaRPr lang="en-US" sz="1600" b="1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BA6145B7-9CA7-88DF-C697-A6EDC227B8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433" y="2903358"/>
                    <a:ext cx="641032" cy="48226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19050">
                    <a:solidFill>
                      <a:srgbClr val="C00000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52DF143-C11C-397F-520C-BBA7B9736405}"/>
                      </a:ext>
                    </a:extLst>
                  </p:cNvPr>
                  <p:cNvSpPr txBox="1"/>
                  <p:nvPr/>
                </p:nvSpPr>
                <p:spPr>
                  <a:xfrm>
                    <a:off x="465983" y="2632489"/>
                    <a:ext cx="740342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52DF143-C11C-397F-520C-BBA7B97364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983" y="2632489"/>
                    <a:ext cx="740342" cy="48226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685EDC62-C621-4C4A-A761-09C988AB3144}"/>
                      </a:ext>
                    </a:extLst>
                  </p:cNvPr>
                  <p:cNvSpPr txBox="1"/>
                  <p:nvPr/>
                </p:nvSpPr>
                <p:spPr>
                  <a:xfrm>
                    <a:off x="2121068" y="1391826"/>
                    <a:ext cx="651146" cy="482264"/>
                  </a:xfrm>
                  <a:prstGeom prst="rect">
                    <a:avLst/>
                  </a:prstGeom>
                  <a:noFill/>
                  <a:ln w="19050">
                    <a:solidFill>
                      <a:srgbClr val="C00000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sub>
                          </m:sSub>
                        </m:oMath>
                      </m:oMathPara>
                    </a14:m>
                    <a:endParaRPr lang="en-US" sz="1600" b="1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685EDC62-C621-4C4A-A761-09C988AB31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1068" y="1391826"/>
                    <a:ext cx="651146" cy="48226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 w="19050">
                    <a:solidFill>
                      <a:srgbClr val="C00000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463F6075-0787-199F-3C53-E5FD284C3852}"/>
                      </a:ext>
                    </a:extLst>
                  </p:cNvPr>
                  <p:cNvSpPr txBox="1"/>
                  <p:nvPr/>
                </p:nvSpPr>
                <p:spPr>
                  <a:xfrm>
                    <a:off x="1057861" y="1831144"/>
                    <a:ext cx="970607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463F6075-0787-199F-3C53-E5FD284C38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7861" y="1831144"/>
                    <a:ext cx="970607" cy="48226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25905CC1-6247-176A-FD43-8E6517564CB7}"/>
                      </a:ext>
                    </a:extLst>
                  </p:cNvPr>
                  <p:cNvSpPr txBox="1"/>
                  <p:nvPr/>
                </p:nvSpPr>
                <p:spPr>
                  <a:xfrm>
                    <a:off x="1086781" y="2439570"/>
                    <a:ext cx="970607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25905CC1-6247-176A-FD43-8E6517564C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6781" y="2439570"/>
                    <a:ext cx="970607" cy="48226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6435DA52-6F0D-84AF-740B-0733052D31CE}"/>
                      </a:ext>
                    </a:extLst>
                  </p:cNvPr>
                  <p:cNvSpPr txBox="1"/>
                  <p:nvPr/>
                </p:nvSpPr>
                <p:spPr>
                  <a:xfrm>
                    <a:off x="2871649" y="1730967"/>
                    <a:ext cx="480274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6435DA52-6F0D-84AF-740B-0733052D31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71649" y="1730967"/>
                    <a:ext cx="480274" cy="48226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pic>
        <p:nvPicPr>
          <p:cNvPr id="58" name="Picture 57">
            <a:extLst>
              <a:ext uri="{FF2B5EF4-FFF2-40B4-BE49-F238E27FC236}">
                <a16:creationId xmlns:a16="http://schemas.microsoft.com/office/drawing/2014/main" id="{9666714F-C084-6C34-A7FD-C1982C53D86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69333" y="1990193"/>
            <a:ext cx="2990850" cy="153352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176F00EA-2BF8-AC26-052B-E1712B05FCB0}"/>
              </a:ext>
            </a:extLst>
          </p:cNvPr>
          <p:cNvSpPr txBox="1"/>
          <p:nvPr/>
        </p:nvSpPr>
        <p:spPr>
          <a:xfrm>
            <a:off x="7633300" y="1995780"/>
            <a:ext cx="848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0"/>
              </a:rPr>
              <a:t>THI2</a:t>
            </a:r>
            <a:endParaRPr lang="en-US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D539B949-CA00-A240-362B-6BF455610EB2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29258" y="3608385"/>
            <a:ext cx="4363059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6162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517</Words>
  <Application>Microsoft Office PowerPoint</Application>
  <PresentationFormat>Widescreen</PresentationFormat>
  <Paragraphs>115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Menlo</vt:lpstr>
      <vt:lpstr>Office Theme</vt:lpstr>
      <vt:lpstr>Associating Metabolic reactions with NN coefficients</vt:lpstr>
      <vt:lpstr>Fundamentals of Flux Balance Analysis (FBA)</vt:lpstr>
      <vt:lpstr>Looking for 2-neuron NNs</vt:lpstr>
      <vt:lpstr>Looking for 2-neuron NNs</vt:lpstr>
      <vt:lpstr>Enzymes</vt:lpstr>
      <vt:lpstr>THz-Induced Enzyme Unfolding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11</cp:revision>
  <dcterms:created xsi:type="dcterms:W3CDTF">2025-12-24T00:00:45Z</dcterms:created>
  <dcterms:modified xsi:type="dcterms:W3CDTF">2026-02-13T14:39:38Z</dcterms:modified>
</cp:coreProperties>
</file>